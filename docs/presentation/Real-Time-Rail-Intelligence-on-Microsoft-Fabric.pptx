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1264" r:id="rId3"/>
    <p:sldId id="1466" r:id="rId4"/>
    <p:sldId id="457" r:id="rId5"/>
    <p:sldId id="659" r:id="rId6"/>
    <p:sldId id="862" r:id="rId7"/>
    <p:sldId id="1669" r:id="rId8"/>
    <p:sldId id="1873" r:id="rId9"/>
    <p:sldId id="2078" r:id="rId10"/>
    <p:sldId id="2284" r:id="rId11"/>
    <p:sldId id="2491" r:id="rId12"/>
    <p:sldId id="2699" r:id="rId13"/>
    <p:sldId id="2908" r:id="rId14"/>
    <p:sldId id="3118" r:id="rId15"/>
    <p:sldId id="3329" r:id="rId16"/>
    <p:sldId id="3541" r:id="rId17"/>
    <p:sldId id="1063" r:id="rId18"/>
    <p:sldId id="3754" r:id="rId19"/>
    <p:sldId id="3968" r:id="rId20"/>
    <p:sldId id="4183" r:id="rId21"/>
    <p:sldId id="4399" r:id="rId22"/>
    <p:sldId id="4616" r:id="rId23"/>
    <p:sldId id="4834" r:id="rId24"/>
    <p:sldId id="5053" r:id="rId25"/>
    <p:sldId id="5273" r:id="rId26"/>
    <p:sldId id="5494" r:id="rId27"/>
    <p:sldId id="571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20592-A1C4-4B3E-B132-2DF1389E7609}" v="12" dt="2026-10-27T14:02:58.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6B2ED-C319-4D7D-8BC7-B8A1648E6A50}" type="datetimeFigureOut">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62A372-0D26-418F-B4B4-85ED6D2A271C}" type="slidenum">
              <a:t>‹#›</a:t>
            </a:fld>
            <a:endParaRPr lang="en-US"/>
          </a:p>
        </p:txBody>
      </p:sp>
    </p:spTree>
    <p:extLst>
      <p:ext uri="{BB962C8B-B14F-4D97-AF65-F5344CB8AC3E}">
        <p14:creationId xmlns:p14="http://schemas.microsoft.com/office/powerpoint/2010/main" val="4288249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Real-Time Dashboard from Lab 08, running on live TRUST data: network map, trains 15+ minutes late, cancellations in the last hour, movements reported on time, national PPM, delay by operator and the most delayed trains. Auto-refresh every minute. Contains data from Network Rail Open Data / Rail Data Marketplace.</a:t>
            </a:r>
          </a:p>
        </p:txBody>
      </p:sp>
      <p:sp>
        <p:nvSpPr>
          <p:cNvPr id="4" name="Slide Number Placeholder 3"/>
          <p:cNvSpPr>
            <a:spLocks noGrp="1"/>
          </p:cNvSpPr>
          <p:nvPr>
            <p:ph type="sldNum" sz="quarter" idx="5"/>
          </p:nvPr>
        </p:nvSpPr>
        <p:spPr/>
        <p:txBody>
          <a:bodyPr/>
          <a:lstStyle/>
          <a:p>
            <a:fld id="{8662A372-0D26-418F-B4B4-85ED6D2A271C}" type="slidenum">
              <a:rPr lang="en-US"/>
              <a:t>6</a:t>
            </a:fld>
            <a:endParaRPr lang="en-US"/>
          </a:p>
        </p:txBody>
      </p:sp>
    </p:spTree>
    <p:extLst>
      <p:ext uri="{BB962C8B-B14F-4D97-AF65-F5344CB8AC3E}">
        <p14:creationId xmlns:p14="http://schemas.microsoft.com/office/powerpoint/2010/main" val="1392120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RailPulse: the Rayfin (Fabric Apps) app from Labs 11 and 11b. KPIs and the map come from the RailLiveMap semantic model (Lab 10b) through the railmap connector; the chat calls the Foundry agent (Lab 10) through a Rayfin function. Basemap © Microsoft Azure Maps; railway lines contain OS data © Crown copyright and database right. Not an official service.</a:t>
            </a:r>
          </a:p>
        </p:txBody>
      </p:sp>
      <p:sp>
        <p:nvSpPr>
          <p:cNvPr id="4" name="Slide Number Placeholder 3"/>
          <p:cNvSpPr>
            <a:spLocks noGrp="1"/>
          </p:cNvSpPr>
          <p:nvPr>
            <p:ph type="sldNum" sz="quarter" idx="5"/>
          </p:nvPr>
        </p:nvSpPr>
        <p:spPr/>
        <p:txBody>
          <a:bodyPr/>
          <a:lstStyle/>
          <a:p>
            <a:fld id="{8662A372-0D26-418F-B4B4-85ED6D2A271C}" type="slidenum">
              <a:rPr lang="en-US"/>
              <a:t>7</a:t>
            </a:fld>
            <a:endParaRPr lang="en-US"/>
          </a:p>
        </p:txBody>
      </p:sp>
    </p:spTree>
    <p:extLst>
      <p:ext uri="{BB962C8B-B14F-4D97-AF65-F5344CB8AC3E}">
        <p14:creationId xmlns:p14="http://schemas.microsoft.com/office/powerpoint/2010/main" val="2677069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Flows: RDM Kafka → Eventstream (native Kafka source); NR ActiveMQ → Container App STOMP bridge → Eventstream custom endpoint; static reference → daily pipeline/Function → Lakehouse; Eventstream → Eventhouse and Activator; Eventhouse + Lakehouse → semantic model; Eventhouse/semantic model → Fabric Data Agent → Azure AI Foundry agent; Eventhouse → Real-Time Dashboard; semantic model → Power BI report; Eventhouse + Foundry agent → Rayfin app. Line styles: solid = streaming, dashed = batch/reference, dotted = AI/query calls.</a:t>
            </a:r>
          </a:p>
        </p:txBody>
      </p:sp>
      <p:sp>
        <p:nvSpPr>
          <p:cNvPr id="4" name="Slide Number Placeholder 3"/>
          <p:cNvSpPr>
            <a:spLocks noGrp="1"/>
          </p:cNvSpPr>
          <p:nvPr>
            <p:ph type="sldNum" sz="quarter" idx="5"/>
          </p:nvPr>
        </p:nvSpPr>
        <p:spPr/>
        <p:txBody>
          <a:bodyPr/>
          <a:lstStyle/>
          <a:p>
            <a:fld id="{8662A372-0D26-418F-B4B4-85ED6D2A271C}" type="slidenum">
              <a:t>2</a:t>
            </a:fld>
            <a:endParaRPr lang="en-US"/>
          </a:p>
        </p:txBody>
      </p:sp>
    </p:spTree>
    <p:extLst>
      <p:ext uri="{BB962C8B-B14F-4D97-AF65-F5344CB8AC3E}">
        <p14:creationId xmlns:p14="http://schemas.microsoft.com/office/powerpoint/2010/main" val="3830352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figures are list-price estimates as stated in the PoC brief (Container App ~$14/month at 0.25 vCPU / 0.5 GiB after free grant; Functions Premium/Flex always-ready ~$80–150+/month). Verify against current Azure pricing for the customer's region before quoting.</a:t>
            </a:r>
          </a:p>
        </p:txBody>
      </p:sp>
      <p:sp>
        <p:nvSpPr>
          <p:cNvPr id="4" name="Slide Number Placeholder 3"/>
          <p:cNvSpPr>
            <a:spLocks noGrp="1"/>
          </p:cNvSpPr>
          <p:nvPr>
            <p:ph type="sldNum" sz="quarter" idx="5"/>
          </p:nvPr>
        </p:nvSpPr>
        <p:spPr/>
        <p:txBody>
          <a:bodyPr/>
          <a:lstStyle/>
          <a:p>
            <a:fld id="{8662A372-0D26-418F-B4B4-85ED6D2A271C}" type="slidenum">
              <a:t>4</a:t>
            </a:fld>
            <a:endParaRPr lang="en-US"/>
          </a:p>
        </p:txBody>
      </p:sp>
    </p:spTree>
    <p:extLst>
      <p:ext uri="{BB962C8B-B14F-4D97-AF65-F5344CB8AC3E}">
        <p14:creationId xmlns:p14="http://schemas.microsoft.com/office/powerpoint/2010/main" val="1128361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Week 1: land RDM Train Movements via the native Eventstream Kafka source into Eventhouse, plus CORPUS for station lookup. Week 2: Real-Time Dashboard, Power BI report and Activator alerts. Week 3: Fabric Data Agent with instructions and example KQL, then the Azure AI Foundry agent. Week 4: Rayfin map + chat app; add Darwin and the TD bridge.</a:t>
            </a:r>
          </a:p>
        </p:txBody>
      </p:sp>
      <p:sp>
        <p:nvSpPr>
          <p:cNvPr id="4" name="Slide Number Placeholder 3"/>
          <p:cNvSpPr>
            <a:spLocks noGrp="1"/>
          </p:cNvSpPr>
          <p:nvPr>
            <p:ph type="sldNum" sz="quarter" idx="5"/>
          </p:nvPr>
        </p:nvSpPr>
        <p:spPr/>
        <p:txBody>
          <a:bodyPr/>
          <a:lstStyle/>
          <a:p>
            <a:fld id="{8662A372-0D26-418F-B4B4-85ED6D2A271C}" type="slidenum">
              <a:t>5</a:t>
            </a:fld>
            <a:endParaRPr lang="en-US"/>
          </a:p>
        </p:txBody>
      </p:sp>
    </p:spTree>
    <p:extLst>
      <p:ext uri="{BB962C8B-B14F-4D97-AF65-F5344CB8AC3E}">
        <p14:creationId xmlns:p14="http://schemas.microsoft.com/office/powerpoint/2010/main" val="4009193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repo README starts with a 'Choose your path' table. Each lab page opens with a Path line saying whether and how it applies to solo builders, instructors and classroom students.</a:t>
            </a:r>
          </a:p>
        </p:txBody>
      </p:sp>
      <p:sp>
        <p:nvSpPr>
          <p:cNvPr id="4" name="Slide Number Placeholder 3"/>
          <p:cNvSpPr>
            <a:spLocks noGrp="1"/>
          </p:cNvSpPr>
          <p:nvPr>
            <p:ph type="sldNum" sz="quarter" idx="5"/>
          </p:nvPr>
        </p:nvSpPr>
        <p:spPr/>
        <p:txBody>
          <a:bodyPr/>
          <a:lstStyle/>
          <a:p>
            <a:fld id="{8662A372-0D26-418F-B4B4-85ED6D2A271C}" type="slidenum">
              <a:rPr lang="en-US"/>
              <a:t>8</a:t>
            </a:fld>
            <a:endParaRPr lang="en-US"/>
          </a:p>
        </p:txBody>
      </p:sp>
    </p:spTree>
    <p:extLst>
      <p:ext uri="{BB962C8B-B14F-4D97-AF65-F5344CB8AC3E}">
        <p14:creationId xmlns:p14="http://schemas.microsoft.com/office/powerpoint/2010/main" val="1753994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Times are per lab, from each lab page. Optional labs: 04b (Darwin), 05c (shared Event Hub for classes and paused capacities) and 11b (Azure Maps). Most labs have Option A (scripts) and Option B (portal, step by step).</a:t>
            </a:r>
          </a:p>
        </p:txBody>
      </p:sp>
      <p:sp>
        <p:nvSpPr>
          <p:cNvPr id="4" name="Slide Number Placeholder 3"/>
          <p:cNvSpPr>
            <a:spLocks noGrp="1"/>
          </p:cNvSpPr>
          <p:nvPr>
            <p:ph type="sldNum" sz="quarter" idx="5"/>
          </p:nvPr>
        </p:nvSpPr>
        <p:spPr/>
        <p:txBody>
          <a:bodyPr/>
          <a:lstStyle/>
          <a:p>
            <a:fld id="{8662A372-0D26-418F-B4B4-85ED6D2A271C}" type="slidenum">
              <a:rPr lang="en-US"/>
              <a:t>9</a:t>
            </a:fld>
            <a:endParaRPr lang="en-US"/>
          </a:p>
        </p:txBody>
      </p:sp>
    </p:spTree>
    <p:extLst>
      <p:ext uri="{BB962C8B-B14F-4D97-AF65-F5344CB8AC3E}">
        <p14:creationId xmlns:p14="http://schemas.microsoft.com/office/powerpoint/2010/main" val="3317540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Capacity figures are estimates from Microsoft's published rates, from docs/capacity-planning.md: about 0.83 CU per Eventstream with an Apache Kafka source. Validate with the Capacity Metrics app.</a:t>
            </a:r>
          </a:p>
        </p:txBody>
      </p:sp>
      <p:sp>
        <p:nvSpPr>
          <p:cNvPr id="4" name="Slide Number Placeholder 3"/>
          <p:cNvSpPr>
            <a:spLocks noGrp="1"/>
          </p:cNvSpPr>
          <p:nvPr>
            <p:ph type="sldNum" sz="quarter" idx="5"/>
          </p:nvPr>
        </p:nvSpPr>
        <p:spPr/>
        <p:txBody>
          <a:bodyPr/>
          <a:lstStyle/>
          <a:p>
            <a:fld id="{8662A372-0D26-418F-B4B4-85ED6D2A271C}" type="slidenum">
              <a:rPr lang="en-US"/>
              <a:t>10</a:t>
            </a:fld>
            <a:endParaRPr lang="en-US"/>
          </a:p>
        </p:txBody>
      </p:sp>
    </p:spTree>
    <p:extLst>
      <p:ext uri="{BB962C8B-B14F-4D97-AF65-F5344CB8AC3E}">
        <p14:creationId xmlns:p14="http://schemas.microsoft.com/office/powerpoint/2010/main" val="918268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Worked example for Leeds: STANOX 17132, TIPLOC LEEDS, CRS LDS, NaPTAN ATCO code 9100LEEDS. NaPTAN rail stations have ATCO codes of 9100 followed by the TIPLOC. CORPUS and SMART need the NROD 'All Reference Data' subscription; NaPTAN is open (OGL v3.0).</a:t>
            </a:r>
          </a:p>
        </p:txBody>
      </p:sp>
      <p:sp>
        <p:nvSpPr>
          <p:cNvPr id="4" name="Slide Number Placeholder 3"/>
          <p:cNvSpPr>
            <a:spLocks noGrp="1"/>
          </p:cNvSpPr>
          <p:nvPr>
            <p:ph type="sldNum" sz="quarter" idx="5"/>
          </p:nvPr>
        </p:nvSpPr>
        <p:spPr/>
        <p:txBody>
          <a:bodyPr/>
          <a:lstStyle/>
          <a:p>
            <a:fld id="{8662A372-0D26-418F-B4B4-85ED6D2A271C}" type="slidenum">
              <a:rPr lang="en-US"/>
              <a:t>12</a:t>
            </a:fld>
            <a:endParaRPr lang="en-US"/>
          </a:p>
        </p:txBody>
      </p:sp>
    </p:spTree>
    <p:extLst>
      <p:ext uri="{BB962C8B-B14F-4D97-AF65-F5344CB8AC3E}">
        <p14:creationId xmlns:p14="http://schemas.microsoft.com/office/powerpoint/2010/main" val="512393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Mappings from fabric/kql/01_tables.kql. RdmDarwinRaw uses the same pattern (Lab 04b). RawFeed, used by the NROD bridge, maps named fields (source, topic, feed, msg_type, message_id, batch_index, received_utc, payload) because the bridge wraps each message in its own envelope.</a:t>
            </a:r>
          </a:p>
        </p:txBody>
      </p:sp>
      <p:sp>
        <p:nvSpPr>
          <p:cNvPr id="4" name="Slide Number Placeholder 3"/>
          <p:cNvSpPr>
            <a:spLocks noGrp="1"/>
          </p:cNvSpPr>
          <p:nvPr>
            <p:ph type="sldNum" sz="quarter" idx="5"/>
          </p:nvPr>
        </p:nvSpPr>
        <p:spPr/>
        <p:txBody>
          <a:bodyPr/>
          <a:lstStyle/>
          <a:p>
            <a:fld id="{8662A372-0D26-418F-B4B4-85ED6D2A271C}" type="slidenum">
              <a:rPr lang="en-US"/>
              <a:t>14</a:t>
            </a:fld>
            <a:endParaRPr lang="en-US"/>
          </a:p>
        </p:txBody>
      </p:sp>
    </p:spTree>
    <p:extLst>
      <p:ext uri="{BB962C8B-B14F-4D97-AF65-F5344CB8AC3E}">
        <p14:creationId xmlns:p14="http://schemas.microsoft.com/office/powerpoint/2010/main" val="3058074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Update policies from fabric/kql/02_update_policies.kql: ExpandTrustRdm() unwraps and expands RdmTrustRaw; ParseActivations, ParseCancellations, ParseMovements and ParseOtherTrust write the typed tables. The NROD path does the same from RawFeed with ExpandTrustNr().</a:t>
            </a:r>
          </a:p>
        </p:txBody>
      </p:sp>
      <p:sp>
        <p:nvSpPr>
          <p:cNvPr id="4" name="Slide Number Placeholder 3"/>
          <p:cNvSpPr>
            <a:spLocks noGrp="1"/>
          </p:cNvSpPr>
          <p:nvPr>
            <p:ph type="sldNum" sz="quarter" idx="5"/>
          </p:nvPr>
        </p:nvSpPr>
        <p:spPr/>
        <p:txBody>
          <a:bodyPr/>
          <a:lstStyle/>
          <a:p>
            <a:fld id="{8662A372-0D26-418F-B4B4-85ED6D2A271C}" type="slidenum">
              <a:rPr lang="en-US"/>
              <a:t>15</a:t>
            </a:fld>
            <a:endParaRPr lang="en-US"/>
          </a:p>
        </p:txBody>
      </p:sp>
    </p:spTree>
    <p:extLst>
      <p:ext uri="{BB962C8B-B14F-4D97-AF65-F5344CB8AC3E}">
        <p14:creationId xmlns:p14="http://schemas.microsoft.com/office/powerpoint/2010/main" val="2154647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Optional shared-ingest mode for multi-student labs and overnight capacity pause. Flows: (1) Network Rail Open Data (ActiveMQ / STOMP :61618) streams into the STOMP bridge Container App (1 replica), which sends to the nrod-feed hub. (2) Rail Data Marketplace (Kafka – NWR Train Movements) streams into the RDM relay Container App (same image, BRIDGE_SOURCE=kafka, 1 replica), which sends to the rdm-trust hub. (3) Key Vault holds the send / listen connection strings and the NROD &amp; RDM credentials; both container apps read them from Key Vault (dotted links). (4) Azure Event Hubs Standard, 1 TU, 7-day retention, runs 24×7 in the instructor subscription. Each hub exposes consumer groups: $Default for the instructor, then student01, student02, up to 20 per hub. (5) Each student workspace has its own Eventstream with an Azure Event Hubs source using its own consumer group and a listen key; it streams into an Eventhouse (RawFeed / RdmTrustRaw), which feeds dashboards, the Data Agent and Rayfin. (6) When the Fabric capacity is paused overnight, Event Hubs keeps buffering for up to 7 days; on resume the Eventstream continues from 'when streaming was last stopped' (or a Custom time). (7) The default single-user path still exists: RDM Kafka goes straight into the Eventstream Kafka source, and the bridge sends to the Eventstream custom endpoint — the custom endpoint cannot pause/resume. Limits: Standard allows 20 consumer groups per hub and 5 readers per group, so one group per student; more than 20 students needs a second hub or Premium. Cost (list-price estimate): Event Hubs Standard 1 TU ≈ $22/month + ingress ≈ $1–4/month; RDM relay container ≈ $14/month. To validate: post-pause catch-up behaviour should be validated in Lab 05c (checkpoint + Custom time fallback).</a:t>
            </a:r>
          </a:p>
        </p:txBody>
      </p:sp>
      <p:sp>
        <p:nvSpPr>
          <p:cNvPr id="4" name="Slide Number Placeholder 3"/>
          <p:cNvSpPr>
            <a:spLocks noGrp="1"/>
          </p:cNvSpPr>
          <p:nvPr>
            <p:ph type="sldNum" sz="quarter" idx="5"/>
          </p:nvPr>
        </p:nvSpPr>
        <p:spPr/>
        <p:txBody>
          <a:bodyPr/>
          <a:lstStyle/>
          <a:p>
            <a:fld id="{8662A372-0D26-418F-B4B4-85ED6D2A271C}" type="slidenum">
              <a:rPr lang="en-US"/>
              <a:t>3</a:t>
            </a:fld>
            <a:endParaRPr lang="en-US"/>
          </a:p>
        </p:txBody>
      </p:sp>
    </p:spTree>
    <p:extLst>
      <p:ext uri="{BB962C8B-B14F-4D97-AF65-F5344CB8AC3E}">
        <p14:creationId xmlns:p14="http://schemas.microsoft.com/office/powerpoint/2010/main" val="4201000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Microsoft Learn 'Connect agents to Microsoft Fabric with Fabric IQ (preview)' and the Fabric blog post on retiring the Fabric data agent custom tool (support ends 6 November 2026). Check model availability per region at model-availability.azurewebsites.net before creating the Foundry project.</a:t>
            </a:r>
          </a:p>
        </p:txBody>
      </p:sp>
      <p:sp>
        <p:nvSpPr>
          <p:cNvPr id="4" name="Slide Number Placeholder 3"/>
          <p:cNvSpPr>
            <a:spLocks noGrp="1"/>
          </p:cNvSpPr>
          <p:nvPr>
            <p:ph type="sldNum" sz="quarter" idx="5"/>
          </p:nvPr>
        </p:nvSpPr>
        <p:spPr/>
        <p:txBody>
          <a:bodyPr/>
          <a:lstStyle/>
          <a:p>
            <a:fld id="{8662A372-0D26-418F-B4B4-85ED6D2A271C}" type="slidenum">
              <a:rPr lang="en-US"/>
              <a:t>22</a:t>
            </a:fld>
            <a:endParaRPr lang="en-US"/>
          </a:p>
        </p:txBody>
      </p:sp>
    </p:spTree>
    <p:extLst>
      <p:ext uri="{BB962C8B-B14F-4D97-AF65-F5344CB8AC3E}">
        <p14:creationId xmlns:p14="http://schemas.microsoft.com/office/powerpoint/2010/main" val="940790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cover-eyebrow">
            <a:extLst>
              <a:ext uri="{FF2B5EF4-FFF2-40B4-BE49-F238E27FC236}">
                <a16:creationId xmlns:a16="http://schemas.microsoft.com/office/drawing/2014/main" id="{94EAB7F7-31F8-5290-CA7F-0D206EFD9C15}"/>
              </a:ext>
            </a:extLst>
          </p:cNvPr>
          <p:cNvSpPr/>
          <p:nvPr/>
        </p:nvSpPr>
        <p:spPr>
          <a:xfrm>
            <a:off x="640080" y="1480000"/>
            <a:ext cx="54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5FD3C0"/>
                </a:solidFill>
                <a:effectLst/>
                <a:latin typeface="Calibri" panose="020F0502020204030204" pitchFamily="34" charset="0"/>
              </a:rPr>
              <a:t>MICROSOFT FABRIC  ·  PROOF OF CONCEPT</a:t>
            </a:r>
          </a:p>
          <a:p>
            <a:pPr algn="l">
              <a:buNone/>
            </a:pPr>
            <a:r>
              <a:rPr lang="en-US" sz="100">
                <a:effectLst/>
              </a:rPr>
              <a:t> </a:t>
            </a:r>
            <a:endParaRPr lang="en-US"/>
          </a:p>
        </p:txBody>
      </p:sp>
      <p:sp>
        <p:nvSpPr>
          <p:cNvPr id="4" name="cover-title">
            <a:extLst>
              <a:ext uri="{FF2B5EF4-FFF2-40B4-BE49-F238E27FC236}">
                <a16:creationId xmlns:a16="http://schemas.microsoft.com/office/drawing/2014/main" id="{686D08A9-4010-0DF5-8B67-7641C171DD2B}"/>
              </a:ext>
            </a:extLst>
          </p:cNvPr>
          <p:cNvSpPr/>
          <p:nvPr/>
        </p:nvSpPr>
        <p:spPr>
          <a:xfrm>
            <a:off x="640080" y="1950000"/>
            <a:ext cx="5500000" cy="20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000" b="1">
                <a:solidFill>
                  <a:srgbClr val="FFFFFF"/>
                </a:solidFill>
                <a:effectLst/>
                <a:latin typeface="Calibri" panose="020F0502020204030204" pitchFamily="34" charset="0"/>
              </a:rPr>
              <a:t>Real-Time Rail Intelligence on Microsoft Fabric</a:t>
            </a:r>
          </a:p>
          <a:p>
            <a:pPr algn="l">
              <a:buNone/>
            </a:pPr>
            <a:r>
              <a:rPr lang="en-US" sz="100">
                <a:effectLst/>
              </a:rPr>
              <a:t> </a:t>
            </a:r>
            <a:endParaRPr lang="en-US"/>
          </a:p>
        </p:txBody>
      </p:sp>
      <p:sp>
        <p:nvSpPr>
          <p:cNvPr id="7" name="cover-sub">
            <a:extLst>
              <a:ext uri="{FF2B5EF4-FFF2-40B4-BE49-F238E27FC236}">
                <a16:creationId xmlns:a16="http://schemas.microsoft.com/office/drawing/2014/main" id="{BBF4768A-F281-27DC-389A-A42E54999C4A}"/>
              </a:ext>
            </a:extLst>
          </p:cNvPr>
          <p:cNvSpPr/>
          <p:nvPr/>
        </p:nvSpPr>
        <p:spPr>
          <a:xfrm>
            <a:off x="640080" y="4150000"/>
            <a:ext cx="5400000"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C9D6E3"/>
                </a:solidFill>
                <a:effectLst/>
                <a:latin typeface="Calibri" panose="020F0502020204030204" pitchFamily="34" charset="0"/>
              </a:rPr>
              <a:t>Hands-on labs: Network Rail open data → Fabric Real-Time Intelligence → Fabric IQ and Foundry agents → Power BI and a Rayfin app</a:t>
            </a:r>
            <a:endParaRPr lang="en-US"/>
          </a:p>
        </p:txBody>
      </p:sp>
      <p:pic>
        <p:nvPicPr>
          <p:cNvPr id="8" name="Picture 7" descr="Railway tracks at dusk with teal light trails suggesting real-time data">
            <a:extLst>
              <a:ext uri="{FF2B5EF4-FFF2-40B4-BE49-F238E27FC236}">
                <a16:creationId xmlns:a16="http://schemas.microsoft.com/office/drawing/2014/main" id="{00613CDF-43CB-EF7C-3705-BFD6079A2689}"/>
              </a:ext>
            </a:extLst>
          </p:cNvPr>
          <p:cNvPicPr>
            <a:picLocks noChangeAspect="1"/>
          </p:cNvPicPr>
          <p:nvPr/>
        </p:nvPicPr>
        <p:blipFill>
          <a:blip r:embed="rId2"/>
          <a:stretch>
            <a:fillRect/>
          </a:stretch>
        </p:blipFill>
        <p:spPr>
          <a:xfrm>
            <a:off x="6550682" y="0"/>
            <a:ext cx="5640636"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3571" name="Rectangle 23570">
            <a:extLst>
              <a:ext uri="{FF2B5EF4-FFF2-40B4-BE49-F238E27FC236}">
                <a16:creationId xmlns:a16="http://schemas.microsoft.com/office/drawing/2014/main" id="{CA5EE968-E8E0-9D04-4898-3F0F9085F3CE}"/>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YOU'LL BUILD · 1 OF 2</a:t>
            </a:r>
          </a:p>
          <a:p>
            <a:pPr algn="l">
              <a:buNone/>
            </a:pPr>
            <a:r>
              <a:rPr lang="en-US" sz="100">
                <a:effectLst/>
              </a:rPr>
              <a:t> </a:t>
            </a:r>
            <a:endParaRPr lang="en-US"/>
          </a:p>
        </p:txBody>
      </p:sp>
      <p:sp>
        <p:nvSpPr>
          <p:cNvPr id="23577" name="Rectangle 23576">
            <a:extLst>
              <a:ext uri="{FF2B5EF4-FFF2-40B4-BE49-F238E27FC236}">
                <a16:creationId xmlns:a16="http://schemas.microsoft.com/office/drawing/2014/main" id="{CCEABE56-ACD1-7642-3F02-DE9B2A248BC9}"/>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Lab 08: a live operations dashboard</a:t>
            </a:r>
          </a:p>
          <a:p>
            <a:pPr algn="l">
              <a:buNone/>
            </a:pPr>
            <a:r>
              <a:rPr lang="en-US" sz="100">
                <a:effectLst/>
              </a:rPr>
              <a:t> </a:t>
            </a:r>
            <a:endParaRPr lang="en-US"/>
          </a:p>
        </p:txBody>
      </p:sp>
      <p:pic>
        <p:nvPicPr>
          <p:cNvPr id="26042" name="Picture 26041" descr="Real-Time Dashboard in Microsoft Fabric showing a network map of trains across Great Britain, KPI tiles for late trains, cancellations and on-time percentage, an average-delay-by-operator chart and a table of the most delayed trains.">
            <a:extLst>
              <a:ext uri="{FF2B5EF4-FFF2-40B4-BE49-F238E27FC236}">
                <a16:creationId xmlns:a16="http://schemas.microsoft.com/office/drawing/2014/main" id="{4BF36313-1FC1-D1DF-0D0F-538878F33289}"/>
              </a:ext>
            </a:extLst>
          </p:cNvPr>
          <p:cNvPicPr>
            <a:picLocks noChangeAspect="1"/>
          </p:cNvPicPr>
          <p:nvPr/>
        </p:nvPicPr>
        <p:blipFill>
          <a:blip r:embed="rId3"/>
          <a:stretch>
            <a:fillRect/>
          </a:stretch>
        </p:blipFill>
        <p:spPr>
          <a:xfrm>
            <a:off x="896000" y="1320000"/>
            <a:ext cx="10399999" cy="4969190"/>
          </a:xfrm>
          <a:prstGeom prst="rect">
            <a:avLst/>
          </a:prstGeom>
        </p:spPr>
      </p:pic>
    </p:spTree>
    <p:extLst>
      <p:ext uri="{BB962C8B-B14F-4D97-AF65-F5344CB8AC3E}">
        <p14:creationId xmlns:p14="http://schemas.microsoft.com/office/powerpoint/2010/main" val="2421267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3584" name="Rectangle 23583">
            <a:extLst>
              <a:ext uri="{FF2B5EF4-FFF2-40B4-BE49-F238E27FC236}">
                <a16:creationId xmlns:a16="http://schemas.microsoft.com/office/drawing/2014/main" id="{EDA54FED-2EB7-44BF-46C6-936FC4DCF169}"/>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YOU'LL BUILD · 2 OF 2</a:t>
            </a:r>
          </a:p>
          <a:p>
            <a:pPr algn="l">
              <a:buNone/>
            </a:pPr>
            <a:r>
              <a:rPr lang="en-US" sz="100">
                <a:effectLst/>
              </a:rPr>
              <a:t> </a:t>
            </a:r>
            <a:endParaRPr lang="en-US"/>
          </a:p>
        </p:txBody>
      </p:sp>
      <p:sp>
        <p:nvSpPr>
          <p:cNvPr id="23592" name="Rectangle 23591">
            <a:extLst>
              <a:ext uri="{FF2B5EF4-FFF2-40B4-BE49-F238E27FC236}">
                <a16:creationId xmlns:a16="http://schemas.microsoft.com/office/drawing/2014/main" id="{AA33255C-E9B9-8E50-D87C-C79BA1342D6D}"/>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Labs 10–11b: RailPulse, map and chat in one app</a:t>
            </a:r>
          </a:p>
          <a:p>
            <a:pPr algn="l">
              <a:buNone/>
            </a:pPr>
            <a:r>
              <a:rPr lang="en-US" sz="100">
                <a:effectLst/>
              </a:rPr>
              <a:t> </a:t>
            </a:r>
            <a:endParaRPr lang="en-US"/>
          </a:p>
        </p:txBody>
      </p:sp>
      <p:pic>
        <p:nvPicPr>
          <p:cNvPr id="26043" name="Picture 26042" descr="RailPulse app built on Fabric Apps: KPI cards for active, on-time, late and very late trains, an Azure Maps map of Great Britain with railway lines and coloured train dots, and an Ask the network chat panel answering a question about cancellations.">
            <a:extLst>
              <a:ext uri="{FF2B5EF4-FFF2-40B4-BE49-F238E27FC236}">
                <a16:creationId xmlns:a16="http://schemas.microsoft.com/office/drawing/2014/main" id="{E81F74CF-39B9-13DC-26B9-734783C194E1}"/>
              </a:ext>
            </a:extLst>
          </p:cNvPr>
          <p:cNvPicPr>
            <a:picLocks noChangeAspect="1"/>
          </p:cNvPicPr>
          <p:nvPr/>
        </p:nvPicPr>
        <p:blipFill>
          <a:blip r:embed="rId3"/>
          <a:stretch>
            <a:fillRect/>
          </a:stretch>
        </p:blipFill>
        <p:spPr>
          <a:xfrm>
            <a:off x="896000" y="1320000"/>
            <a:ext cx="10400000" cy="5001775"/>
          </a:xfrm>
          <a:prstGeom prst="rect">
            <a:avLst/>
          </a:prstGeom>
        </p:spPr>
      </p:pic>
    </p:spTree>
    <p:extLst>
      <p:ext uri="{BB962C8B-B14F-4D97-AF65-F5344CB8AC3E}">
        <p14:creationId xmlns:p14="http://schemas.microsoft.com/office/powerpoint/2010/main" val="3795660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1A24586-C58E-7CEA-F59B-9213DF239518}"/>
              </a:ext>
            </a:extLst>
          </p:cNvPr>
          <p:cNvSpPr/>
          <p:nvPr/>
        </p:nvSpPr>
        <p:spPr>
          <a:xfrm>
            <a:off x="400000" y="250000"/>
            <a:ext cx="900000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0B1F3A"/>
                </a:solidFill>
                <a:effectLst/>
                <a:latin typeface="Calibri" panose="020F0502020204030204" pitchFamily="34" charset="0"/>
              </a:rPr>
              <a:t>Network Rail to Fabric: PoC architecture</a:t>
            </a:r>
          </a:p>
          <a:p>
            <a:pPr algn="l">
              <a:buNone/>
            </a:pPr>
            <a:r>
              <a:rPr lang="en-US" sz="100">
                <a:effectLst/>
              </a:rPr>
              <a:t> </a:t>
            </a:r>
            <a:endParaRPr lang="en-US"/>
          </a:p>
        </p:txBody>
      </p:sp>
      <p:sp>
        <p:nvSpPr>
          <p:cNvPr id="11" name="lane-S">
            <a:extLst>
              <a:ext uri="{FF2B5EF4-FFF2-40B4-BE49-F238E27FC236}">
                <a16:creationId xmlns:a16="http://schemas.microsoft.com/office/drawing/2014/main" id="{AE2FEC3A-7E36-E3AF-9F15-6CAFF0EF53CE}"/>
              </a:ext>
            </a:extLst>
          </p:cNvPr>
          <p:cNvSpPr/>
          <p:nvPr/>
        </p:nvSpPr>
        <p:spPr>
          <a:xfrm>
            <a:off x="400000" y="790000"/>
            <a:ext cx="2200000" cy="529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lane-B">
            <a:extLst>
              <a:ext uri="{FF2B5EF4-FFF2-40B4-BE49-F238E27FC236}">
                <a16:creationId xmlns:a16="http://schemas.microsoft.com/office/drawing/2014/main" id="{8632FC0B-F1CB-73CF-607F-5F183C715454}"/>
              </a:ext>
            </a:extLst>
          </p:cNvPr>
          <p:cNvSpPr/>
          <p:nvPr/>
        </p:nvSpPr>
        <p:spPr>
          <a:xfrm>
            <a:off x="2860000" y="790000"/>
            <a:ext cx="2050000" cy="529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lane-St">
            <a:extLst>
              <a:ext uri="{FF2B5EF4-FFF2-40B4-BE49-F238E27FC236}">
                <a16:creationId xmlns:a16="http://schemas.microsoft.com/office/drawing/2014/main" id="{339F2539-29F5-0DDA-6A6D-A7BA5118A96B}"/>
              </a:ext>
            </a:extLst>
          </p:cNvPr>
          <p:cNvSpPr/>
          <p:nvPr/>
        </p:nvSpPr>
        <p:spPr>
          <a:xfrm>
            <a:off x="5170000" y="790000"/>
            <a:ext cx="2100000" cy="529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lane-AI">
            <a:extLst>
              <a:ext uri="{FF2B5EF4-FFF2-40B4-BE49-F238E27FC236}">
                <a16:creationId xmlns:a16="http://schemas.microsoft.com/office/drawing/2014/main" id="{CDDABF65-9CC3-8388-6369-263176BCA308}"/>
              </a:ext>
            </a:extLst>
          </p:cNvPr>
          <p:cNvSpPr/>
          <p:nvPr/>
        </p:nvSpPr>
        <p:spPr>
          <a:xfrm>
            <a:off x="7530000" y="790000"/>
            <a:ext cx="1900000" cy="529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lane-E">
            <a:extLst>
              <a:ext uri="{FF2B5EF4-FFF2-40B4-BE49-F238E27FC236}">
                <a16:creationId xmlns:a16="http://schemas.microsoft.com/office/drawing/2014/main" id="{D5B1D1C3-27FF-B112-0F77-4DD748ED2A21}"/>
              </a:ext>
            </a:extLst>
          </p:cNvPr>
          <p:cNvSpPr/>
          <p:nvPr/>
        </p:nvSpPr>
        <p:spPr>
          <a:xfrm>
            <a:off x="9690000" y="790000"/>
            <a:ext cx="2142000" cy="529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fabric-boundary">
            <a:extLst>
              <a:ext uri="{FF2B5EF4-FFF2-40B4-BE49-F238E27FC236}">
                <a16:creationId xmlns:a16="http://schemas.microsoft.com/office/drawing/2014/main" id="{74BA7DD3-7B1D-D629-D765-562F9D055C5B}"/>
              </a:ext>
            </a:extLst>
          </p:cNvPr>
          <p:cNvSpPr/>
          <p:nvPr/>
        </p:nvSpPr>
        <p:spPr>
          <a:xfrm>
            <a:off x="2780000" y="2440000"/>
            <a:ext cx="9110000" cy="3610000"/>
          </a:xfrm>
          <a:prstGeom prst="rect">
            <a:avLst/>
          </a:prstGeom>
          <a:solidFill>
            <a:srgbClr val="117865">
              <a:alpha val="7000"/>
            </a:srgbClr>
          </a:solidFill>
          <a:ln w="19050">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src-nrod">
            <a:extLst>
              <a:ext uri="{FF2B5EF4-FFF2-40B4-BE49-F238E27FC236}">
                <a16:creationId xmlns:a16="http://schemas.microsoft.com/office/drawing/2014/main" id="{743E64DA-FED6-4E1B-E781-0D33C17AFF75}"/>
              </a:ext>
            </a:extLst>
          </p:cNvPr>
          <p:cNvSpPr/>
          <p:nvPr/>
        </p:nvSpPr>
        <p:spPr>
          <a:xfrm>
            <a:off x="400000" y="1160000"/>
            <a:ext cx="2200000" cy="117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Network Rail Open Data</a:t>
            </a:r>
          </a:p>
          <a:p>
            <a:pPr algn="l">
              <a:buNone/>
            </a:pPr>
            <a:r>
              <a:rPr lang="en-US" sz="1000">
                <a:solidFill>
                  <a:srgbClr val="3D4F66"/>
                </a:solidFill>
                <a:effectLst/>
                <a:latin typeface="Calibri" panose="020F0502020204030204" pitchFamily="34" charset="0"/>
              </a:rPr>
              <a:t>ActiveMQ – STOMP :61618 / OpenWire</a:t>
            </a:r>
          </a:p>
          <a:p>
            <a:pPr algn="l">
              <a:buNone/>
            </a:pPr>
            <a:r>
              <a:rPr lang="en-US" sz="1000">
                <a:solidFill>
                  <a:srgbClr val="3D4F66"/>
                </a:solidFill>
                <a:effectLst/>
                <a:latin typeface="Calibri" panose="020F0502020204030204" pitchFamily="34" charset="0"/>
              </a:rPr>
              <a:t>• Train Describer (TD)</a:t>
            </a:r>
          </a:p>
          <a:p>
            <a:pPr algn="l">
              <a:buNone/>
            </a:pPr>
            <a:r>
              <a:rPr lang="en-US" sz="1000">
                <a:solidFill>
                  <a:srgbClr val="3D4F66"/>
                </a:solidFill>
                <a:effectLst/>
                <a:latin typeface="Calibri" panose="020F0502020204030204" pitchFamily="34" charset="0"/>
              </a:rPr>
              <a:t>• RTPPM   • VSTP   • TSR</a:t>
            </a:r>
            <a:endParaRPr lang="en-US"/>
          </a:p>
        </p:txBody>
      </p:sp>
      <p:sp>
        <p:nvSpPr>
          <p:cNvPr id="128" name="src-rdm">
            <a:extLst>
              <a:ext uri="{FF2B5EF4-FFF2-40B4-BE49-F238E27FC236}">
                <a16:creationId xmlns:a16="http://schemas.microsoft.com/office/drawing/2014/main" id="{5D9EDADC-2078-0910-05C7-592F01C930BC}"/>
              </a:ext>
            </a:extLst>
          </p:cNvPr>
          <p:cNvSpPr/>
          <p:nvPr/>
        </p:nvSpPr>
        <p:spPr>
          <a:xfrm>
            <a:off x="400000" y="2800000"/>
            <a:ext cx="2200000" cy="140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Rail Data Marketplace</a:t>
            </a:r>
          </a:p>
          <a:p>
            <a:pPr algn="l">
              <a:buNone/>
            </a:pPr>
            <a:r>
              <a:rPr lang="en-US" sz="1000">
                <a:solidFill>
                  <a:srgbClr val="3D4F66"/>
                </a:solidFill>
                <a:effectLst/>
                <a:latin typeface="Calibri" panose="020F0502020204030204" pitchFamily="34" charset="0"/>
              </a:rPr>
              <a:t>Kafka pub/sub</a:t>
            </a:r>
          </a:p>
          <a:p>
            <a:pPr algn="l">
              <a:buNone/>
            </a:pPr>
            <a:r>
              <a:rPr lang="en-US" sz="1000">
                <a:solidFill>
                  <a:srgbClr val="3D4F66"/>
                </a:solidFill>
                <a:effectLst/>
                <a:latin typeface="Calibri" panose="020F0502020204030204" pitchFamily="34" charset="0"/>
              </a:rPr>
              <a:t>• NWR Train Movements (TRUST) – beta</a:t>
            </a:r>
          </a:p>
          <a:p>
            <a:pPr algn="l">
              <a:buNone/>
            </a:pPr>
            <a:r>
              <a:rPr lang="en-US" sz="1000">
                <a:solidFill>
                  <a:srgbClr val="3D4F66"/>
                </a:solidFill>
                <a:effectLst/>
                <a:latin typeface="Calibri" panose="020F0502020204030204" pitchFamily="34" charset="0"/>
              </a:rPr>
              <a:t>• Darwin Push Port (predictions, delay/cancel reasons, platforms)</a:t>
            </a:r>
            <a:endParaRPr lang="en-US"/>
          </a:p>
        </p:txBody>
      </p:sp>
      <p:sp>
        <p:nvSpPr>
          <p:cNvPr id="144" name="src-static">
            <a:extLst>
              <a:ext uri="{FF2B5EF4-FFF2-40B4-BE49-F238E27FC236}">
                <a16:creationId xmlns:a16="http://schemas.microsoft.com/office/drawing/2014/main" id="{561E04A8-6902-E385-F7E2-686BD66E33FF}"/>
              </a:ext>
            </a:extLst>
          </p:cNvPr>
          <p:cNvSpPr/>
          <p:nvPr/>
        </p:nvSpPr>
        <p:spPr>
          <a:xfrm>
            <a:off x="400000" y="5150000"/>
            <a:ext cx="2200000" cy="80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Static reference data (HTTP)</a:t>
            </a:r>
          </a:p>
          <a:p>
            <a:pPr algn="l">
              <a:buNone/>
            </a:pPr>
            <a:r>
              <a:rPr lang="en-US" sz="1000">
                <a:solidFill>
                  <a:srgbClr val="3D4F66"/>
                </a:solidFill>
                <a:effectLst/>
                <a:latin typeface="Calibri" panose="020F0502020204030204" pitchFamily="34" charset="0"/>
              </a:rPr>
              <a:t>SCHEDULE, CORPUS, SMART, BPLAN</a:t>
            </a:r>
            <a:endParaRPr lang="en-US"/>
          </a:p>
        </p:txBody>
      </p:sp>
      <p:sp>
        <p:nvSpPr>
          <p:cNvPr id="161" name="bridge-aca">
            <a:extLst>
              <a:ext uri="{FF2B5EF4-FFF2-40B4-BE49-F238E27FC236}">
                <a16:creationId xmlns:a16="http://schemas.microsoft.com/office/drawing/2014/main" id="{912CFB20-EB37-49F1-5A06-A06DF52EAFE4}"/>
              </a:ext>
            </a:extLst>
          </p:cNvPr>
          <p:cNvSpPr/>
          <p:nvPr/>
        </p:nvSpPr>
        <p:spPr>
          <a:xfrm>
            <a:off x="2860000" y="1160000"/>
            <a:ext cx="2050000" cy="117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Azure Container App</a:t>
            </a:r>
          </a:p>
          <a:p>
            <a:pPr algn="l">
              <a:buNone/>
            </a:pPr>
            <a:r>
              <a:rPr lang="en-US" sz="1000" b="1">
                <a:solidFill>
                  <a:srgbClr val="0B1F3A"/>
                </a:solidFill>
                <a:effectLst/>
                <a:latin typeface="Calibri" panose="020F0502020204030204" pitchFamily="34" charset="0"/>
              </a:rPr>
              <a:t>STOMP bridge</a:t>
            </a:r>
          </a:p>
          <a:p>
            <a:pPr algn="l">
              <a:buNone/>
            </a:pPr>
            <a:r>
              <a:rPr lang="en-US" sz="1000">
                <a:solidFill>
                  <a:srgbClr val="3D4F66"/>
                </a:solidFill>
                <a:effectLst/>
                <a:latin typeface="Calibri" panose="020F0502020204030204" pitchFamily="34" charset="0"/>
              </a:rPr>
              <a:t>1 replica, always on, durable subscription, heartbeats, backoff; secrets in Key Vault</a:t>
            </a:r>
            <a:endParaRPr lang="en-US"/>
          </a:p>
        </p:txBody>
      </p:sp>
      <p:sp>
        <p:nvSpPr>
          <p:cNvPr id="179" name="eventstream">
            <a:extLst>
              <a:ext uri="{FF2B5EF4-FFF2-40B4-BE49-F238E27FC236}">
                <a16:creationId xmlns:a16="http://schemas.microsoft.com/office/drawing/2014/main" id="{C5DE9BF4-4F65-18BD-280D-002900276EA7}"/>
              </a:ext>
            </a:extLst>
          </p:cNvPr>
          <p:cNvSpPr/>
          <p:nvPr/>
        </p:nvSpPr>
        <p:spPr>
          <a:xfrm>
            <a:off x="2860000" y="2800000"/>
            <a:ext cx="2050000" cy="110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Fabric Eventstream</a:t>
            </a:r>
          </a:p>
          <a:p>
            <a:pPr algn="l">
              <a:buNone/>
            </a:pPr>
            <a:r>
              <a:rPr lang="en-US" sz="1000">
                <a:solidFill>
                  <a:srgbClr val="3D4F66"/>
                </a:solidFill>
                <a:effectLst/>
                <a:latin typeface="Calibri" panose="020F0502020204030204" pitchFamily="34" charset="0"/>
              </a:rPr>
              <a:t>Input 1: Apache Kafka source (SASL_SSL, no code)</a:t>
            </a:r>
          </a:p>
          <a:p>
            <a:pPr algn="l">
              <a:buNone/>
            </a:pPr>
            <a:r>
              <a:rPr lang="en-US" sz="1000">
                <a:solidFill>
                  <a:srgbClr val="3D4F66"/>
                </a:solidFill>
                <a:effectLst/>
                <a:latin typeface="Calibri" panose="020F0502020204030204" pitchFamily="34" charset="0"/>
              </a:rPr>
              <a:t>Input 2: Custom endpoint (Kafka protocol)</a:t>
            </a:r>
            <a:endParaRPr lang="en-US"/>
          </a:p>
        </p:txBody>
      </p:sp>
      <p:sp>
        <p:nvSpPr>
          <p:cNvPr id="198" name="activator">
            <a:extLst>
              <a:ext uri="{FF2B5EF4-FFF2-40B4-BE49-F238E27FC236}">
                <a16:creationId xmlns:a16="http://schemas.microsoft.com/office/drawing/2014/main" id="{67E1EA22-D316-5243-675F-E29B8FE62D7E}"/>
              </a:ext>
            </a:extLst>
          </p:cNvPr>
          <p:cNvSpPr/>
          <p:nvPr/>
        </p:nvSpPr>
        <p:spPr>
          <a:xfrm>
            <a:off x="2860000" y="4100000"/>
            <a:ext cx="2050000" cy="76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Activator</a:t>
            </a:r>
          </a:p>
          <a:p>
            <a:pPr algn="l">
              <a:buNone/>
            </a:pPr>
            <a:r>
              <a:rPr lang="en-US" sz="1000">
                <a:solidFill>
                  <a:srgbClr val="3D4F66"/>
                </a:solidFill>
                <a:effectLst/>
                <a:latin typeface="Calibri" panose="020F0502020204030204" pitchFamily="34" charset="0"/>
              </a:rPr>
              <a:t>Alerts, e.g. &gt;15 min late, cancellation spikes</a:t>
            </a:r>
            <a:endParaRPr lang="en-US"/>
          </a:p>
        </p:txBody>
      </p:sp>
      <p:sp>
        <p:nvSpPr>
          <p:cNvPr id="218" name="pipeline">
            <a:extLst>
              <a:ext uri="{FF2B5EF4-FFF2-40B4-BE49-F238E27FC236}">
                <a16:creationId xmlns:a16="http://schemas.microsoft.com/office/drawing/2014/main" id="{2BB9C110-8262-BF38-F1E9-890736302775}"/>
              </a:ext>
            </a:extLst>
          </p:cNvPr>
          <p:cNvSpPr/>
          <p:nvPr/>
        </p:nvSpPr>
        <p:spPr>
          <a:xfrm>
            <a:off x="2860000" y="5150000"/>
            <a:ext cx="2050000" cy="80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Data pipeline / scheduled Function (daily)</a:t>
            </a:r>
          </a:p>
          <a:p>
            <a:pPr algn="l">
              <a:buNone/>
            </a:pPr>
            <a:r>
              <a:rPr lang="en-US" sz="1000">
                <a:solidFill>
                  <a:srgbClr val="3D4F66"/>
                </a:solidFill>
                <a:effectLst/>
                <a:latin typeface="Calibri" panose="020F0502020204030204" pitchFamily="34" charset="0"/>
              </a:rPr>
              <a:t>Pulls static reference data</a:t>
            </a:r>
            <a:endParaRPr lang="en-US"/>
          </a:p>
        </p:txBody>
      </p:sp>
      <p:sp>
        <p:nvSpPr>
          <p:cNvPr id="239" name="eventhouse">
            <a:extLst>
              <a:ext uri="{FF2B5EF4-FFF2-40B4-BE49-F238E27FC236}">
                <a16:creationId xmlns:a16="http://schemas.microsoft.com/office/drawing/2014/main" id="{F261F257-9C89-7397-648B-9BA9AA412D56}"/>
              </a:ext>
            </a:extLst>
          </p:cNvPr>
          <p:cNvSpPr/>
          <p:nvPr/>
        </p:nvSpPr>
        <p:spPr>
          <a:xfrm>
            <a:off x="5170000" y="2800000"/>
            <a:ext cx="2100000" cy="145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Eventhouse (KQL DB)</a:t>
            </a:r>
          </a:p>
          <a:p>
            <a:pPr algn="l">
              <a:buNone/>
            </a:pPr>
            <a:r>
              <a:rPr lang="en-US" sz="1000">
                <a:solidFill>
                  <a:srgbClr val="3D4F66"/>
                </a:solidFill>
                <a:effectLst/>
                <a:latin typeface="Calibri" panose="020F0502020204030204" pitchFamily="34" charset="0"/>
              </a:rPr>
              <a:t>Raw tables</a:t>
            </a:r>
          </a:p>
          <a:p>
            <a:pPr algn="l">
              <a:buNone/>
            </a:pPr>
            <a:r>
              <a:rPr lang="en-US" sz="1000">
                <a:solidFill>
                  <a:srgbClr val="3D4F66"/>
                </a:solidFill>
                <a:effectLst/>
                <a:latin typeface="Calibri" panose="020F0502020204030204" pitchFamily="34" charset="0"/>
              </a:rPr>
              <a:t>→ Update policies (parse batched TRUST msgs 0001–0008)</a:t>
            </a:r>
          </a:p>
          <a:p>
            <a:pPr algn="l">
              <a:buNone/>
            </a:pPr>
            <a:r>
              <a:rPr lang="en-US" sz="1000">
                <a:solidFill>
                  <a:srgbClr val="3D4F66"/>
                </a:solidFill>
                <a:effectLst/>
                <a:latin typeface="Calibri" panose="020F0502020204030204" pitchFamily="34" charset="0"/>
              </a:rPr>
              <a:t>→ Materialised views (latest train state, delays)</a:t>
            </a:r>
            <a:endParaRPr lang="en-US"/>
          </a:p>
        </p:txBody>
      </p:sp>
      <p:sp>
        <p:nvSpPr>
          <p:cNvPr id="284" name="lakehouse">
            <a:extLst>
              <a:ext uri="{FF2B5EF4-FFF2-40B4-BE49-F238E27FC236}">
                <a16:creationId xmlns:a16="http://schemas.microsoft.com/office/drawing/2014/main" id="{15EFAF75-2CD6-985E-A22B-37755CA352A4}"/>
              </a:ext>
            </a:extLst>
          </p:cNvPr>
          <p:cNvSpPr/>
          <p:nvPr/>
        </p:nvSpPr>
        <p:spPr>
          <a:xfrm>
            <a:off x="5170000" y="5080000"/>
            <a:ext cx="2100000" cy="90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Lakehouse</a:t>
            </a:r>
          </a:p>
          <a:p>
            <a:pPr algn="l">
              <a:buNone/>
            </a:pPr>
            <a:r>
              <a:rPr lang="en-US" sz="1000">
                <a:solidFill>
                  <a:srgbClr val="3D4F66"/>
                </a:solidFill>
                <a:effectLst/>
                <a:latin typeface="Calibri" panose="020F0502020204030204" pitchFamily="34" charset="0"/>
              </a:rPr>
              <a:t>Reference data (CORPUS / SMART / SCHEDULE)</a:t>
            </a:r>
          </a:p>
          <a:p>
            <a:pPr algn="l">
              <a:buNone/>
            </a:pPr>
            <a:r>
              <a:rPr lang="en-US" sz="1000">
                <a:solidFill>
                  <a:srgbClr val="3D4F66"/>
                </a:solidFill>
                <a:effectLst/>
                <a:latin typeface="Calibri" panose="020F0502020204030204" pitchFamily="34" charset="0"/>
              </a:rPr>
              <a:t>STANOX / TIPLOC → station lookup</a:t>
            </a:r>
            <a:endParaRPr lang="en-US"/>
          </a:p>
        </p:txBody>
      </p:sp>
      <p:sp>
        <p:nvSpPr>
          <p:cNvPr id="386" name="rtd">
            <a:extLst>
              <a:ext uri="{FF2B5EF4-FFF2-40B4-BE49-F238E27FC236}">
                <a16:creationId xmlns:a16="http://schemas.microsoft.com/office/drawing/2014/main" id="{F5FCEFAB-2F35-9E40-E713-CAC887E9F76D}"/>
              </a:ext>
            </a:extLst>
          </p:cNvPr>
          <p:cNvSpPr/>
          <p:nvPr/>
        </p:nvSpPr>
        <p:spPr>
          <a:xfrm>
            <a:off x="9690000" y="4120000"/>
            <a:ext cx="2142000" cy="46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Real-Time Dashboard</a:t>
            </a:r>
          </a:p>
          <a:p>
            <a:pPr algn="l">
              <a:buNone/>
            </a:pPr>
            <a:r>
              <a:rPr lang="en-US" sz="1000">
                <a:solidFill>
                  <a:srgbClr val="3D4F66"/>
                </a:solidFill>
                <a:effectLst/>
                <a:latin typeface="Calibri" panose="020F0502020204030204" pitchFamily="34" charset="0"/>
              </a:rPr>
              <a:t>Live ops view</a:t>
            </a:r>
            <a:endParaRPr lang="en-US"/>
          </a:p>
        </p:txBody>
      </p:sp>
      <p:sp>
        <p:nvSpPr>
          <p:cNvPr id="414" name="pbi-report">
            <a:extLst>
              <a:ext uri="{FF2B5EF4-FFF2-40B4-BE49-F238E27FC236}">
                <a16:creationId xmlns:a16="http://schemas.microsoft.com/office/drawing/2014/main" id="{52B1DA02-57B1-42CE-4D16-97483609C570}"/>
              </a:ext>
            </a:extLst>
          </p:cNvPr>
          <p:cNvSpPr/>
          <p:nvPr/>
        </p:nvSpPr>
        <p:spPr>
          <a:xfrm>
            <a:off x="9690000" y="4740000"/>
            <a:ext cx="2142000" cy="90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Power BI report</a:t>
            </a:r>
          </a:p>
          <a:p>
            <a:pPr algn="l">
              <a:buNone/>
            </a:pPr>
            <a:r>
              <a:rPr lang="en-US" sz="1000">
                <a:solidFill>
                  <a:srgbClr val="3D4F66"/>
                </a:solidFill>
                <a:effectLst/>
                <a:latin typeface="Calibri" panose="020F0502020204030204" pitchFamily="34" charset="0"/>
              </a:rPr>
              <a:t>DirectQuery + auto page refresh (for now)</a:t>
            </a:r>
          </a:p>
          <a:p>
            <a:pPr algn="l">
              <a:buNone/>
            </a:pPr>
            <a:r>
              <a:rPr lang="en-US" sz="1000">
                <a:solidFill>
                  <a:srgbClr val="3D4F66"/>
                </a:solidFill>
                <a:effectLst/>
                <a:latin typeface="Calibri" panose="020F0502020204030204" pitchFamily="34" charset="0"/>
              </a:rPr>
              <a:t>Direct Lake for history</a:t>
            </a:r>
            <a:endParaRPr lang="en-US"/>
          </a:p>
        </p:txBody>
      </p:sp>
      <p:sp>
        <p:nvSpPr>
          <p:cNvPr id="443" name="Rectangle 442">
            <a:extLst>
              <a:ext uri="{FF2B5EF4-FFF2-40B4-BE49-F238E27FC236}">
                <a16:creationId xmlns:a16="http://schemas.microsoft.com/office/drawing/2014/main" id="{5F0A0130-3405-D8A1-0BD3-45D6B6A27477}"/>
              </a:ext>
            </a:extLst>
          </p:cNvPr>
          <p:cNvSpPr/>
          <p:nvPr/>
        </p:nvSpPr>
        <p:spPr>
          <a:xfrm>
            <a:off x="2600000" y="1734000"/>
            <a:ext cx="16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F7300DBF-C57B-C74B-7D37-97303FD85D65}"/>
              </a:ext>
            </a:extLst>
          </p:cNvPr>
          <p:cNvSpPr/>
          <p:nvPr/>
        </p:nvSpPr>
        <p:spPr>
          <a:xfrm rot="5400000">
            <a:off x="2750000" y="1690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DE45CBAB-26DD-1B71-049B-C3387005739A}"/>
              </a:ext>
            </a:extLst>
          </p:cNvPr>
          <p:cNvSpPr/>
          <p:nvPr/>
        </p:nvSpPr>
        <p:spPr>
          <a:xfrm>
            <a:off x="3874000" y="2330000"/>
            <a:ext cx="22000" cy="370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 name="Isosceles Triangle 535">
            <a:extLst>
              <a:ext uri="{FF2B5EF4-FFF2-40B4-BE49-F238E27FC236}">
                <a16:creationId xmlns:a16="http://schemas.microsoft.com/office/drawing/2014/main" id="{D703AE35-4711-E245-2410-DCC4CDBA93A5}"/>
              </a:ext>
            </a:extLst>
          </p:cNvPr>
          <p:cNvSpPr/>
          <p:nvPr/>
        </p:nvSpPr>
        <p:spPr>
          <a:xfrm rot="10800000">
            <a:off x="3830000" y="2690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8E04F5B6-FE71-C3F9-096D-88CDE9EF358E}"/>
              </a:ext>
            </a:extLst>
          </p:cNvPr>
          <p:cNvSpPr/>
          <p:nvPr/>
        </p:nvSpPr>
        <p:spPr>
          <a:xfrm>
            <a:off x="2600000" y="3139000"/>
            <a:ext cx="16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3" name="Isosceles Triangle 602">
            <a:extLst>
              <a:ext uri="{FF2B5EF4-FFF2-40B4-BE49-F238E27FC236}">
                <a16:creationId xmlns:a16="http://schemas.microsoft.com/office/drawing/2014/main" id="{2DC2E360-83EF-1890-924E-2D1FFD37D6FA}"/>
              </a:ext>
            </a:extLst>
          </p:cNvPr>
          <p:cNvSpPr/>
          <p:nvPr/>
        </p:nvSpPr>
        <p:spPr>
          <a:xfrm rot="5400000">
            <a:off x="2750000" y="30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 name="Rectangle 637">
            <a:extLst>
              <a:ext uri="{FF2B5EF4-FFF2-40B4-BE49-F238E27FC236}">
                <a16:creationId xmlns:a16="http://schemas.microsoft.com/office/drawing/2014/main" id="{464B125E-EF9D-553F-0889-8900E7F0952D}"/>
              </a:ext>
            </a:extLst>
          </p:cNvPr>
          <p:cNvSpPr/>
          <p:nvPr/>
        </p:nvSpPr>
        <p:spPr>
          <a:xfrm>
            <a:off x="2600000" y="553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0936273C-C1AF-94C4-753C-3F619F0C4F5D}"/>
              </a:ext>
            </a:extLst>
          </p:cNvPr>
          <p:cNvSpPr/>
          <p:nvPr/>
        </p:nvSpPr>
        <p:spPr>
          <a:xfrm>
            <a:off x="2735000" y="5539000"/>
            <a:ext cx="25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1" name="Isosceles Triangle 710">
            <a:extLst>
              <a:ext uri="{FF2B5EF4-FFF2-40B4-BE49-F238E27FC236}">
                <a16:creationId xmlns:a16="http://schemas.microsoft.com/office/drawing/2014/main" id="{BA96F437-F585-115C-1798-77585A95B8B3}"/>
              </a:ext>
            </a:extLst>
          </p:cNvPr>
          <p:cNvSpPr/>
          <p:nvPr/>
        </p:nvSpPr>
        <p:spPr>
          <a:xfrm rot="5400000">
            <a:off x="2750000" y="5495000"/>
            <a:ext cx="110000" cy="110000"/>
          </a:xfrm>
          <a:prstGeom prst="triangle">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BB15F23F-8DB9-B5DD-3C94-3F40F1034543}"/>
              </a:ext>
            </a:extLst>
          </p:cNvPr>
          <p:cNvSpPr/>
          <p:nvPr/>
        </p:nvSpPr>
        <p:spPr>
          <a:xfrm>
            <a:off x="4910000" y="553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74636073-3AB2-2AAB-78BA-22290909E566}"/>
              </a:ext>
            </a:extLst>
          </p:cNvPr>
          <p:cNvSpPr/>
          <p:nvPr/>
        </p:nvSpPr>
        <p:spPr>
          <a:xfrm>
            <a:off x="5045000" y="5539000"/>
            <a:ext cx="25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8" name="Isosceles Triangle 827">
            <a:extLst>
              <a:ext uri="{FF2B5EF4-FFF2-40B4-BE49-F238E27FC236}">
                <a16:creationId xmlns:a16="http://schemas.microsoft.com/office/drawing/2014/main" id="{87E04D1A-4892-475A-28C4-5F2C4B719AAC}"/>
              </a:ext>
            </a:extLst>
          </p:cNvPr>
          <p:cNvSpPr/>
          <p:nvPr/>
        </p:nvSpPr>
        <p:spPr>
          <a:xfrm rot="5400000">
            <a:off x="5060000" y="5495000"/>
            <a:ext cx="110000" cy="110000"/>
          </a:xfrm>
          <a:prstGeom prst="triangle">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769A1ACA-87EB-FA73-A8A4-7403A9D7AE83}"/>
              </a:ext>
            </a:extLst>
          </p:cNvPr>
          <p:cNvSpPr/>
          <p:nvPr/>
        </p:nvSpPr>
        <p:spPr>
          <a:xfrm>
            <a:off x="4910000" y="3339000"/>
            <a:ext cx="16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1" name="Isosceles Triangle 910">
            <a:extLst>
              <a:ext uri="{FF2B5EF4-FFF2-40B4-BE49-F238E27FC236}">
                <a16:creationId xmlns:a16="http://schemas.microsoft.com/office/drawing/2014/main" id="{9D7928C5-4EE0-1C27-4F04-C5F5665F6765}"/>
              </a:ext>
            </a:extLst>
          </p:cNvPr>
          <p:cNvSpPr/>
          <p:nvPr/>
        </p:nvSpPr>
        <p:spPr>
          <a:xfrm rot="5400000">
            <a:off x="5060000" y="32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4" name="Rectangle 953">
            <a:extLst>
              <a:ext uri="{FF2B5EF4-FFF2-40B4-BE49-F238E27FC236}">
                <a16:creationId xmlns:a16="http://schemas.microsoft.com/office/drawing/2014/main" id="{3F644B31-01CF-F282-F001-AE81DB7A537F}"/>
              </a:ext>
            </a:extLst>
          </p:cNvPr>
          <p:cNvSpPr/>
          <p:nvPr/>
        </p:nvSpPr>
        <p:spPr>
          <a:xfrm>
            <a:off x="3874000" y="3900000"/>
            <a:ext cx="22000" cy="100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8" name="Isosceles Triangle 997">
            <a:extLst>
              <a:ext uri="{FF2B5EF4-FFF2-40B4-BE49-F238E27FC236}">
                <a16:creationId xmlns:a16="http://schemas.microsoft.com/office/drawing/2014/main" id="{4EC9966C-5EC9-C2A4-3CC4-5EAE457942A2}"/>
              </a:ext>
            </a:extLst>
          </p:cNvPr>
          <p:cNvSpPr/>
          <p:nvPr/>
        </p:nvSpPr>
        <p:spPr>
          <a:xfrm rot="10800000">
            <a:off x="3830000" y="3990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3BA7894E-36E5-8BEC-72C5-D3AE9B9E75F9}"/>
              </a:ext>
            </a:extLst>
          </p:cNvPr>
          <p:cNvSpPr/>
          <p:nvPr/>
        </p:nvSpPr>
        <p:spPr>
          <a:xfrm>
            <a:off x="5789000" y="4250000"/>
            <a:ext cx="22000" cy="130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9" name="Isosceles Triangle 1088">
            <a:extLst>
              <a:ext uri="{FF2B5EF4-FFF2-40B4-BE49-F238E27FC236}">
                <a16:creationId xmlns:a16="http://schemas.microsoft.com/office/drawing/2014/main" id="{E0F9F546-553B-3A82-E428-36EE48CE08B9}"/>
              </a:ext>
            </a:extLst>
          </p:cNvPr>
          <p:cNvSpPr/>
          <p:nvPr/>
        </p:nvSpPr>
        <p:spPr>
          <a:xfrm rot="10800000">
            <a:off x="5745000" y="4370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161AB22C-6D64-32EF-E872-AD0BB10BE868}"/>
              </a:ext>
            </a:extLst>
          </p:cNvPr>
          <p:cNvSpPr/>
          <p:nvPr/>
        </p:nvSpPr>
        <p:spPr>
          <a:xfrm>
            <a:off x="6629000" y="4970000"/>
            <a:ext cx="22000" cy="80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4" name="Isosceles Triangle 1183">
            <a:extLst>
              <a:ext uri="{FF2B5EF4-FFF2-40B4-BE49-F238E27FC236}">
                <a16:creationId xmlns:a16="http://schemas.microsoft.com/office/drawing/2014/main" id="{83963D04-47A6-E7EC-C669-3269A914127F}"/>
              </a:ext>
            </a:extLst>
          </p:cNvPr>
          <p:cNvSpPr/>
          <p:nvPr/>
        </p:nvSpPr>
        <p:spPr>
          <a:xfrm>
            <a:off x="6585000" y="4870000"/>
            <a:ext cx="110000" cy="110000"/>
          </a:xfrm>
          <a:prstGeom prst="triangle">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3" name="Rectangle 1232">
            <a:extLst>
              <a:ext uri="{FF2B5EF4-FFF2-40B4-BE49-F238E27FC236}">
                <a16:creationId xmlns:a16="http://schemas.microsoft.com/office/drawing/2014/main" id="{1AAF7BFC-19D1-2D78-4F9B-84187015173C}"/>
              </a:ext>
            </a:extLst>
          </p:cNvPr>
          <p:cNvSpPr/>
          <p:nvPr/>
        </p:nvSpPr>
        <p:spPr>
          <a:xfrm>
            <a:off x="7270000" y="308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3" name="Rectangle 1282">
            <a:extLst>
              <a:ext uri="{FF2B5EF4-FFF2-40B4-BE49-F238E27FC236}">
                <a16:creationId xmlns:a16="http://schemas.microsoft.com/office/drawing/2014/main" id="{7D621D70-55EA-2AB3-4DCE-D207C918F7A2}"/>
              </a:ext>
            </a:extLst>
          </p:cNvPr>
          <p:cNvSpPr/>
          <p:nvPr/>
        </p:nvSpPr>
        <p:spPr>
          <a:xfrm>
            <a:off x="7340000" y="308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4" name="Rectangle 1333">
            <a:extLst>
              <a:ext uri="{FF2B5EF4-FFF2-40B4-BE49-F238E27FC236}">
                <a16:creationId xmlns:a16="http://schemas.microsoft.com/office/drawing/2014/main" id="{8BB34866-6122-9E67-C3E1-2622F5DA5861}"/>
              </a:ext>
            </a:extLst>
          </p:cNvPr>
          <p:cNvSpPr/>
          <p:nvPr/>
        </p:nvSpPr>
        <p:spPr>
          <a:xfrm>
            <a:off x="7410000" y="3089000"/>
            <a:ext cx="2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6" name="Isosceles Triangle 1385">
            <a:extLst>
              <a:ext uri="{FF2B5EF4-FFF2-40B4-BE49-F238E27FC236}">
                <a16:creationId xmlns:a16="http://schemas.microsoft.com/office/drawing/2014/main" id="{9AAB8DC3-E7EE-8434-DC4A-57C1FCC31447}"/>
              </a:ext>
            </a:extLst>
          </p:cNvPr>
          <p:cNvSpPr/>
          <p:nvPr/>
        </p:nvSpPr>
        <p:spPr>
          <a:xfrm rot="5400000">
            <a:off x="7420000" y="3045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9" name="Rectangle 1438">
            <a:extLst>
              <a:ext uri="{FF2B5EF4-FFF2-40B4-BE49-F238E27FC236}">
                <a16:creationId xmlns:a16="http://schemas.microsoft.com/office/drawing/2014/main" id="{4955A7E9-01EE-D172-F1FA-EFAEA2AE798F}"/>
              </a:ext>
            </a:extLst>
          </p:cNvPr>
          <p:cNvSpPr/>
          <p:nvPr/>
        </p:nvSpPr>
        <p:spPr>
          <a:xfrm>
            <a:off x="727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3" name="Rectangle 1492">
            <a:extLst>
              <a:ext uri="{FF2B5EF4-FFF2-40B4-BE49-F238E27FC236}">
                <a16:creationId xmlns:a16="http://schemas.microsoft.com/office/drawing/2014/main" id="{D72C14BD-DE7A-B66B-A768-FDA34AC4357D}"/>
              </a:ext>
            </a:extLst>
          </p:cNvPr>
          <p:cNvSpPr/>
          <p:nvPr/>
        </p:nvSpPr>
        <p:spPr>
          <a:xfrm>
            <a:off x="734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8" name="Rectangle 1547">
            <a:extLst>
              <a:ext uri="{FF2B5EF4-FFF2-40B4-BE49-F238E27FC236}">
                <a16:creationId xmlns:a16="http://schemas.microsoft.com/office/drawing/2014/main" id="{B9082B7D-6135-6C36-AECB-AEB6B3D29704}"/>
              </a:ext>
            </a:extLst>
          </p:cNvPr>
          <p:cNvSpPr/>
          <p:nvPr/>
        </p:nvSpPr>
        <p:spPr>
          <a:xfrm>
            <a:off x="741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4" name="Rectangle 1603">
            <a:extLst>
              <a:ext uri="{FF2B5EF4-FFF2-40B4-BE49-F238E27FC236}">
                <a16:creationId xmlns:a16="http://schemas.microsoft.com/office/drawing/2014/main" id="{CD6E5399-6419-89F6-3882-400FE1C7886C}"/>
              </a:ext>
            </a:extLst>
          </p:cNvPr>
          <p:cNvSpPr/>
          <p:nvPr/>
        </p:nvSpPr>
        <p:spPr>
          <a:xfrm>
            <a:off x="748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1" name="Rectangle 1660">
            <a:extLst>
              <a:ext uri="{FF2B5EF4-FFF2-40B4-BE49-F238E27FC236}">
                <a16:creationId xmlns:a16="http://schemas.microsoft.com/office/drawing/2014/main" id="{612F534D-7957-F62D-E021-CF7EEEEE7BE4}"/>
              </a:ext>
            </a:extLst>
          </p:cNvPr>
          <p:cNvSpPr/>
          <p:nvPr/>
        </p:nvSpPr>
        <p:spPr>
          <a:xfrm>
            <a:off x="755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9" name="Rectangle 1718">
            <a:extLst>
              <a:ext uri="{FF2B5EF4-FFF2-40B4-BE49-F238E27FC236}">
                <a16:creationId xmlns:a16="http://schemas.microsoft.com/office/drawing/2014/main" id="{1C3832EC-761E-41F2-09BE-61D551AAB02E}"/>
              </a:ext>
            </a:extLst>
          </p:cNvPr>
          <p:cNvSpPr/>
          <p:nvPr/>
        </p:nvSpPr>
        <p:spPr>
          <a:xfrm>
            <a:off x="762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78" name="Rectangle 1777">
            <a:extLst>
              <a:ext uri="{FF2B5EF4-FFF2-40B4-BE49-F238E27FC236}">
                <a16:creationId xmlns:a16="http://schemas.microsoft.com/office/drawing/2014/main" id="{8FA88875-F7BB-CEA7-8636-EDDA0D925DFF}"/>
              </a:ext>
            </a:extLst>
          </p:cNvPr>
          <p:cNvSpPr/>
          <p:nvPr/>
        </p:nvSpPr>
        <p:spPr>
          <a:xfrm>
            <a:off x="769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8" name="Rectangle 1837">
            <a:extLst>
              <a:ext uri="{FF2B5EF4-FFF2-40B4-BE49-F238E27FC236}">
                <a16:creationId xmlns:a16="http://schemas.microsoft.com/office/drawing/2014/main" id="{2D20844F-1998-5773-0406-27B257D922BE}"/>
              </a:ext>
            </a:extLst>
          </p:cNvPr>
          <p:cNvSpPr/>
          <p:nvPr/>
        </p:nvSpPr>
        <p:spPr>
          <a:xfrm>
            <a:off x="7760000" y="456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99" name="Rectangle 1898">
            <a:extLst>
              <a:ext uri="{FF2B5EF4-FFF2-40B4-BE49-F238E27FC236}">
                <a16:creationId xmlns:a16="http://schemas.microsoft.com/office/drawing/2014/main" id="{CD821D73-23B5-1C55-4D17-139E5A2E9D7C}"/>
              </a:ext>
            </a:extLst>
          </p:cNvPr>
          <p:cNvSpPr/>
          <p:nvPr/>
        </p:nvSpPr>
        <p:spPr>
          <a:xfrm>
            <a:off x="7789000" y="375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61" name="Rectangle 1960">
            <a:extLst>
              <a:ext uri="{FF2B5EF4-FFF2-40B4-BE49-F238E27FC236}">
                <a16:creationId xmlns:a16="http://schemas.microsoft.com/office/drawing/2014/main" id="{68317999-AA1F-B4F0-1283-DB0C23B821C2}"/>
              </a:ext>
            </a:extLst>
          </p:cNvPr>
          <p:cNvSpPr/>
          <p:nvPr/>
        </p:nvSpPr>
        <p:spPr>
          <a:xfrm>
            <a:off x="7789000" y="396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4" name="Rectangle 2023">
            <a:extLst>
              <a:ext uri="{FF2B5EF4-FFF2-40B4-BE49-F238E27FC236}">
                <a16:creationId xmlns:a16="http://schemas.microsoft.com/office/drawing/2014/main" id="{0875F32E-CACC-9B06-92F3-25B21EE2DC88}"/>
              </a:ext>
            </a:extLst>
          </p:cNvPr>
          <p:cNvSpPr/>
          <p:nvPr/>
        </p:nvSpPr>
        <p:spPr>
          <a:xfrm>
            <a:off x="7789000" y="403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88" name="Rectangle 2087">
            <a:extLst>
              <a:ext uri="{FF2B5EF4-FFF2-40B4-BE49-F238E27FC236}">
                <a16:creationId xmlns:a16="http://schemas.microsoft.com/office/drawing/2014/main" id="{79C4A386-4924-6618-A5DA-17FA6AA2F071}"/>
              </a:ext>
            </a:extLst>
          </p:cNvPr>
          <p:cNvSpPr/>
          <p:nvPr/>
        </p:nvSpPr>
        <p:spPr>
          <a:xfrm>
            <a:off x="7789000" y="410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3" name="Rectangle 2152">
            <a:extLst>
              <a:ext uri="{FF2B5EF4-FFF2-40B4-BE49-F238E27FC236}">
                <a16:creationId xmlns:a16="http://schemas.microsoft.com/office/drawing/2014/main" id="{47FE2354-1325-C3F6-0DA9-80E91C4A0C60}"/>
              </a:ext>
            </a:extLst>
          </p:cNvPr>
          <p:cNvSpPr/>
          <p:nvPr/>
        </p:nvSpPr>
        <p:spPr>
          <a:xfrm>
            <a:off x="7789000" y="417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9" name="Rectangle 2218">
            <a:extLst>
              <a:ext uri="{FF2B5EF4-FFF2-40B4-BE49-F238E27FC236}">
                <a16:creationId xmlns:a16="http://schemas.microsoft.com/office/drawing/2014/main" id="{942472B0-11E0-9171-C6E2-3A41D8BA5813}"/>
              </a:ext>
            </a:extLst>
          </p:cNvPr>
          <p:cNvSpPr/>
          <p:nvPr/>
        </p:nvSpPr>
        <p:spPr>
          <a:xfrm>
            <a:off x="7789000" y="424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6" name="Rectangle 2285">
            <a:extLst>
              <a:ext uri="{FF2B5EF4-FFF2-40B4-BE49-F238E27FC236}">
                <a16:creationId xmlns:a16="http://schemas.microsoft.com/office/drawing/2014/main" id="{FA0CDD08-51A8-4DFC-825E-CEA61A770DF8}"/>
              </a:ext>
            </a:extLst>
          </p:cNvPr>
          <p:cNvSpPr/>
          <p:nvPr/>
        </p:nvSpPr>
        <p:spPr>
          <a:xfrm>
            <a:off x="7789000" y="431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4" name="Rectangle 2353">
            <a:extLst>
              <a:ext uri="{FF2B5EF4-FFF2-40B4-BE49-F238E27FC236}">
                <a16:creationId xmlns:a16="http://schemas.microsoft.com/office/drawing/2014/main" id="{8D5100CB-9F67-6671-9B2B-BB9A1E59CC87}"/>
              </a:ext>
            </a:extLst>
          </p:cNvPr>
          <p:cNvSpPr/>
          <p:nvPr/>
        </p:nvSpPr>
        <p:spPr>
          <a:xfrm>
            <a:off x="7789000" y="438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3" name="Rectangle 2422">
            <a:extLst>
              <a:ext uri="{FF2B5EF4-FFF2-40B4-BE49-F238E27FC236}">
                <a16:creationId xmlns:a16="http://schemas.microsoft.com/office/drawing/2014/main" id="{11E853A9-2607-E34F-CDFF-67DA2353764D}"/>
              </a:ext>
            </a:extLst>
          </p:cNvPr>
          <p:cNvSpPr/>
          <p:nvPr/>
        </p:nvSpPr>
        <p:spPr>
          <a:xfrm>
            <a:off x="7789000" y="445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3" name="Rectangle 2492">
            <a:extLst>
              <a:ext uri="{FF2B5EF4-FFF2-40B4-BE49-F238E27FC236}">
                <a16:creationId xmlns:a16="http://schemas.microsoft.com/office/drawing/2014/main" id="{ADBEA7AD-F2B8-F58E-850F-DE60E38D74AD}"/>
              </a:ext>
            </a:extLst>
          </p:cNvPr>
          <p:cNvSpPr/>
          <p:nvPr/>
        </p:nvSpPr>
        <p:spPr>
          <a:xfrm>
            <a:off x="7789000" y="452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64" name="Isosceles Triangle 2563">
            <a:extLst>
              <a:ext uri="{FF2B5EF4-FFF2-40B4-BE49-F238E27FC236}">
                <a16:creationId xmlns:a16="http://schemas.microsoft.com/office/drawing/2014/main" id="{92314AFC-3EDB-0364-DCA5-C12DB86A66D6}"/>
              </a:ext>
            </a:extLst>
          </p:cNvPr>
          <p:cNvSpPr/>
          <p:nvPr/>
        </p:nvSpPr>
        <p:spPr>
          <a:xfrm>
            <a:off x="7745000" y="3650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36" name="Rectangle 2635">
            <a:extLst>
              <a:ext uri="{FF2B5EF4-FFF2-40B4-BE49-F238E27FC236}">
                <a16:creationId xmlns:a16="http://schemas.microsoft.com/office/drawing/2014/main" id="{414B9B3C-DAAB-11E5-5803-FECE11DF5BE5}"/>
              </a:ext>
            </a:extLst>
          </p:cNvPr>
          <p:cNvSpPr/>
          <p:nvPr/>
        </p:nvSpPr>
        <p:spPr>
          <a:xfrm>
            <a:off x="8469000" y="243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9" name="Rectangle 2708">
            <a:extLst>
              <a:ext uri="{FF2B5EF4-FFF2-40B4-BE49-F238E27FC236}">
                <a16:creationId xmlns:a16="http://schemas.microsoft.com/office/drawing/2014/main" id="{396CFFB7-D2B2-E3E5-5F26-A1C022BB6AF1}"/>
              </a:ext>
            </a:extLst>
          </p:cNvPr>
          <p:cNvSpPr/>
          <p:nvPr/>
        </p:nvSpPr>
        <p:spPr>
          <a:xfrm>
            <a:off x="8469000" y="250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3" name="Rectangle 2782">
            <a:extLst>
              <a:ext uri="{FF2B5EF4-FFF2-40B4-BE49-F238E27FC236}">
                <a16:creationId xmlns:a16="http://schemas.microsoft.com/office/drawing/2014/main" id="{029810DD-5C9F-DE48-AE42-2A1A6EDA2E3F}"/>
              </a:ext>
            </a:extLst>
          </p:cNvPr>
          <p:cNvSpPr/>
          <p:nvPr/>
        </p:nvSpPr>
        <p:spPr>
          <a:xfrm>
            <a:off x="8469000" y="257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58" name="Rectangle 2857">
            <a:extLst>
              <a:ext uri="{FF2B5EF4-FFF2-40B4-BE49-F238E27FC236}">
                <a16:creationId xmlns:a16="http://schemas.microsoft.com/office/drawing/2014/main" id="{23F8E540-4A46-48FD-C950-43AE4AA87C20}"/>
              </a:ext>
            </a:extLst>
          </p:cNvPr>
          <p:cNvSpPr/>
          <p:nvPr/>
        </p:nvSpPr>
        <p:spPr>
          <a:xfrm>
            <a:off x="8469000" y="264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4" name="Rectangle 2933">
            <a:extLst>
              <a:ext uri="{FF2B5EF4-FFF2-40B4-BE49-F238E27FC236}">
                <a16:creationId xmlns:a16="http://schemas.microsoft.com/office/drawing/2014/main" id="{C12CA137-44D3-3C13-88D9-85C8B5C04694}"/>
              </a:ext>
            </a:extLst>
          </p:cNvPr>
          <p:cNvSpPr/>
          <p:nvPr/>
        </p:nvSpPr>
        <p:spPr>
          <a:xfrm>
            <a:off x="8469000" y="271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11" name="Rectangle 3010">
            <a:extLst>
              <a:ext uri="{FF2B5EF4-FFF2-40B4-BE49-F238E27FC236}">
                <a16:creationId xmlns:a16="http://schemas.microsoft.com/office/drawing/2014/main" id="{5B5429C2-5898-13C2-6A8B-7BA27CBF8F4B}"/>
              </a:ext>
            </a:extLst>
          </p:cNvPr>
          <p:cNvSpPr/>
          <p:nvPr/>
        </p:nvSpPr>
        <p:spPr>
          <a:xfrm>
            <a:off x="8469000" y="2780000"/>
            <a:ext cx="22000" cy="2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89" name="Isosceles Triangle 3088">
            <a:extLst>
              <a:ext uri="{FF2B5EF4-FFF2-40B4-BE49-F238E27FC236}">
                <a16:creationId xmlns:a16="http://schemas.microsoft.com/office/drawing/2014/main" id="{F5B7F70B-A611-1B8F-ABD9-04311592496E}"/>
              </a:ext>
            </a:extLst>
          </p:cNvPr>
          <p:cNvSpPr/>
          <p:nvPr/>
        </p:nvSpPr>
        <p:spPr>
          <a:xfrm>
            <a:off x="8425000" y="2330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8" name="Rectangle 3167">
            <a:extLst>
              <a:ext uri="{FF2B5EF4-FFF2-40B4-BE49-F238E27FC236}">
                <a16:creationId xmlns:a16="http://schemas.microsoft.com/office/drawing/2014/main" id="{D11872B5-BA07-4FC0-7258-23795BE490FC}"/>
              </a:ext>
            </a:extLst>
          </p:cNvPr>
          <p:cNvSpPr/>
          <p:nvPr/>
        </p:nvSpPr>
        <p:spPr>
          <a:xfrm>
            <a:off x="7270000" y="3839000"/>
            <a:ext cx="23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8" name="Isosceles Triangle 3247">
            <a:extLst>
              <a:ext uri="{FF2B5EF4-FFF2-40B4-BE49-F238E27FC236}">
                <a16:creationId xmlns:a16="http://schemas.microsoft.com/office/drawing/2014/main" id="{C5C8301D-F792-E5C8-8487-F31DFF8F4D2C}"/>
              </a:ext>
            </a:extLst>
          </p:cNvPr>
          <p:cNvSpPr/>
          <p:nvPr/>
        </p:nvSpPr>
        <p:spPr>
          <a:xfrm rot="5400000">
            <a:off x="9580000" y="37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29" name="Rectangle 3328">
            <a:extLst>
              <a:ext uri="{FF2B5EF4-FFF2-40B4-BE49-F238E27FC236}">
                <a16:creationId xmlns:a16="http://schemas.microsoft.com/office/drawing/2014/main" id="{15F3AC60-1794-6F4F-C475-BD378F50223E}"/>
              </a:ext>
            </a:extLst>
          </p:cNvPr>
          <p:cNvSpPr/>
          <p:nvPr/>
        </p:nvSpPr>
        <p:spPr>
          <a:xfrm>
            <a:off x="9549000" y="3850000"/>
            <a:ext cx="22000" cy="500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1" name="Rectangle 3410">
            <a:extLst>
              <a:ext uri="{FF2B5EF4-FFF2-40B4-BE49-F238E27FC236}">
                <a16:creationId xmlns:a16="http://schemas.microsoft.com/office/drawing/2014/main" id="{72134342-9AA5-E78E-8711-5390967AAAAF}"/>
              </a:ext>
            </a:extLst>
          </p:cNvPr>
          <p:cNvSpPr/>
          <p:nvPr/>
        </p:nvSpPr>
        <p:spPr>
          <a:xfrm>
            <a:off x="9560000" y="4339000"/>
            <a:ext cx="3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94" name="Isosceles Triangle 3493">
            <a:extLst>
              <a:ext uri="{FF2B5EF4-FFF2-40B4-BE49-F238E27FC236}">
                <a16:creationId xmlns:a16="http://schemas.microsoft.com/office/drawing/2014/main" id="{3E99D8C1-ACD2-1B94-C040-B5D82AFF642A}"/>
              </a:ext>
            </a:extLst>
          </p:cNvPr>
          <p:cNvSpPr/>
          <p:nvPr/>
        </p:nvSpPr>
        <p:spPr>
          <a:xfrm rot="5400000">
            <a:off x="9580000" y="42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78" name="Rectangle 3577">
            <a:extLst>
              <a:ext uri="{FF2B5EF4-FFF2-40B4-BE49-F238E27FC236}">
                <a16:creationId xmlns:a16="http://schemas.microsoft.com/office/drawing/2014/main" id="{40AC73A4-A8EA-CEA9-624C-3AC0B7CAA6CF}"/>
              </a:ext>
            </a:extLst>
          </p:cNvPr>
          <p:cNvSpPr/>
          <p:nvPr/>
        </p:nvSpPr>
        <p:spPr>
          <a:xfrm>
            <a:off x="7270000" y="4789000"/>
            <a:ext cx="23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3" name="Isosceles Triangle 3662">
            <a:extLst>
              <a:ext uri="{FF2B5EF4-FFF2-40B4-BE49-F238E27FC236}">
                <a16:creationId xmlns:a16="http://schemas.microsoft.com/office/drawing/2014/main" id="{9ADAFBA8-65CA-DF92-AA88-6A41301B848D}"/>
              </a:ext>
            </a:extLst>
          </p:cNvPr>
          <p:cNvSpPr/>
          <p:nvPr/>
        </p:nvSpPr>
        <p:spPr>
          <a:xfrm rot="5400000">
            <a:off x="9580000" y="474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9" name="Rectangle 3748">
            <a:extLst>
              <a:ext uri="{FF2B5EF4-FFF2-40B4-BE49-F238E27FC236}">
                <a16:creationId xmlns:a16="http://schemas.microsoft.com/office/drawing/2014/main" id="{D0C63E34-F79C-6058-226A-E528F4FADC27}"/>
              </a:ext>
            </a:extLst>
          </p:cNvPr>
          <p:cNvSpPr/>
          <p:nvPr/>
        </p:nvSpPr>
        <p:spPr>
          <a:xfrm>
            <a:off x="943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6" name="Rectangle 3835">
            <a:extLst>
              <a:ext uri="{FF2B5EF4-FFF2-40B4-BE49-F238E27FC236}">
                <a16:creationId xmlns:a16="http://schemas.microsoft.com/office/drawing/2014/main" id="{7FD7C62E-CB43-686D-9F81-F262DDA43EA8}"/>
              </a:ext>
            </a:extLst>
          </p:cNvPr>
          <p:cNvSpPr/>
          <p:nvPr/>
        </p:nvSpPr>
        <p:spPr>
          <a:xfrm>
            <a:off x="950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4" name="Rectangle 3923">
            <a:extLst>
              <a:ext uri="{FF2B5EF4-FFF2-40B4-BE49-F238E27FC236}">
                <a16:creationId xmlns:a16="http://schemas.microsoft.com/office/drawing/2014/main" id="{9B681EDC-B456-9E38-D044-7A918C5957A7}"/>
              </a:ext>
            </a:extLst>
          </p:cNvPr>
          <p:cNvSpPr/>
          <p:nvPr/>
        </p:nvSpPr>
        <p:spPr>
          <a:xfrm>
            <a:off x="957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13" name="Rectangle 4012">
            <a:extLst>
              <a:ext uri="{FF2B5EF4-FFF2-40B4-BE49-F238E27FC236}">
                <a16:creationId xmlns:a16="http://schemas.microsoft.com/office/drawing/2014/main" id="{76CF02A4-D15F-D6C8-1151-531B03C0B52C}"/>
              </a:ext>
            </a:extLst>
          </p:cNvPr>
          <p:cNvSpPr/>
          <p:nvPr/>
        </p:nvSpPr>
        <p:spPr>
          <a:xfrm>
            <a:off x="964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03" name="Rectangle 4102">
            <a:extLst>
              <a:ext uri="{FF2B5EF4-FFF2-40B4-BE49-F238E27FC236}">
                <a16:creationId xmlns:a16="http://schemas.microsoft.com/office/drawing/2014/main" id="{2A2435DF-1FD0-DB02-C083-EF40303165F5}"/>
              </a:ext>
            </a:extLst>
          </p:cNvPr>
          <p:cNvSpPr/>
          <p:nvPr/>
        </p:nvSpPr>
        <p:spPr>
          <a:xfrm>
            <a:off x="971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94" name="Rectangle 4193">
            <a:extLst>
              <a:ext uri="{FF2B5EF4-FFF2-40B4-BE49-F238E27FC236}">
                <a16:creationId xmlns:a16="http://schemas.microsoft.com/office/drawing/2014/main" id="{597B5CDC-93CB-A6A7-7E54-36220D07AC7A}"/>
              </a:ext>
            </a:extLst>
          </p:cNvPr>
          <p:cNvSpPr/>
          <p:nvPr/>
        </p:nvSpPr>
        <p:spPr>
          <a:xfrm>
            <a:off x="978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86" name="Rectangle 4285">
            <a:extLst>
              <a:ext uri="{FF2B5EF4-FFF2-40B4-BE49-F238E27FC236}">
                <a16:creationId xmlns:a16="http://schemas.microsoft.com/office/drawing/2014/main" id="{04579F1B-1964-B9ED-6896-F7AD57D93252}"/>
              </a:ext>
            </a:extLst>
          </p:cNvPr>
          <p:cNvSpPr/>
          <p:nvPr/>
        </p:nvSpPr>
        <p:spPr>
          <a:xfrm>
            <a:off x="985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9" name="Rectangle 4378">
            <a:extLst>
              <a:ext uri="{FF2B5EF4-FFF2-40B4-BE49-F238E27FC236}">
                <a16:creationId xmlns:a16="http://schemas.microsoft.com/office/drawing/2014/main" id="{BADEBFEE-064F-86D9-CA85-7F02A62C2781}"/>
              </a:ext>
            </a:extLst>
          </p:cNvPr>
          <p:cNvSpPr/>
          <p:nvPr/>
        </p:nvSpPr>
        <p:spPr>
          <a:xfrm>
            <a:off x="992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3" name="Rectangle 4472">
            <a:extLst>
              <a:ext uri="{FF2B5EF4-FFF2-40B4-BE49-F238E27FC236}">
                <a16:creationId xmlns:a16="http://schemas.microsoft.com/office/drawing/2014/main" id="{4637E100-F1E3-8DC5-80B7-2F91C31E523C}"/>
              </a:ext>
            </a:extLst>
          </p:cNvPr>
          <p:cNvSpPr/>
          <p:nvPr/>
        </p:nvSpPr>
        <p:spPr>
          <a:xfrm>
            <a:off x="999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68" name="Rectangle 4567">
            <a:extLst>
              <a:ext uri="{FF2B5EF4-FFF2-40B4-BE49-F238E27FC236}">
                <a16:creationId xmlns:a16="http://schemas.microsoft.com/office/drawing/2014/main" id="{1EB67BF0-C848-0C43-2183-2DB0DA5FC148}"/>
              </a:ext>
            </a:extLst>
          </p:cNvPr>
          <p:cNvSpPr/>
          <p:nvPr/>
        </p:nvSpPr>
        <p:spPr>
          <a:xfrm>
            <a:off x="1006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64" name="Rectangle 4663">
            <a:extLst>
              <a:ext uri="{FF2B5EF4-FFF2-40B4-BE49-F238E27FC236}">
                <a16:creationId xmlns:a16="http://schemas.microsoft.com/office/drawing/2014/main" id="{8692E6D7-0787-B18F-526C-8A68AE2AC2E1}"/>
              </a:ext>
            </a:extLst>
          </p:cNvPr>
          <p:cNvSpPr/>
          <p:nvPr/>
        </p:nvSpPr>
        <p:spPr>
          <a:xfrm>
            <a:off x="1013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61" name="Rectangle 4760">
            <a:extLst>
              <a:ext uri="{FF2B5EF4-FFF2-40B4-BE49-F238E27FC236}">
                <a16:creationId xmlns:a16="http://schemas.microsoft.com/office/drawing/2014/main" id="{23B8F4CC-BDBE-C0A9-7BB2-3B5585577D0F}"/>
              </a:ext>
            </a:extLst>
          </p:cNvPr>
          <p:cNvSpPr/>
          <p:nvPr/>
        </p:nvSpPr>
        <p:spPr>
          <a:xfrm>
            <a:off x="1020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59" name="Rectangle 4858">
            <a:extLst>
              <a:ext uri="{FF2B5EF4-FFF2-40B4-BE49-F238E27FC236}">
                <a16:creationId xmlns:a16="http://schemas.microsoft.com/office/drawing/2014/main" id="{D8758E01-F7BC-AF2D-37B9-3D8920CF83E4}"/>
              </a:ext>
            </a:extLst>
          </p:cNvPr>
          <p:cNvSpPr/>
          <p:nvPr/>
        </p:nvSpPr>
        <p:spPr>
          <a:xfrm>
            <a:off x="1027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58" name="Rectangle 4957">
            <a:extLst>
              <a:ext uri="{FF2B5EF4-FFF2-40B4-BE49-F238E27FC236}">
                <a16:creationId xmlns:a16="http://schemas.microsoft.com/office/drawing/2014/main" id="{2D2BA669-DE05-91A3-AA77-4BF052F09BDC}"/>
              </a:ext>
            </a:extLst>
          </p:cNvPr>
          <p:cNvSpPr/>
          <p:nvPr/>
        </p:nvSpPr>
        <p:spPr>
          <a:xfrm>
            <a:off x="1034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58" name="Rectangle 5057">
            <a:extLst>
              <a:ext uri="{FF2B5EF4-FFF2-40B4-BE49-F238E27FC236}">
                <a16:creationId xmlns:a16="http://schemas.microsoft.com/office/drawing/2014/main" id="{CED2929F-A660-1475-EA97-4304C96CB076}"/>
              </a:ext>
            </a:extLst>
          </p:cNvPr>
          <p:cNvSpPr/>
          <p:nvPr/>
        </p:nvSpPr>
        <p:spPr>
          <a:xfrm>
            <a:off x="1041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59" name="Rectangle 5158">
            <a:extLst>
              <a:ext uri="{FF2B5EF4-FFF2-40B4-BE49-F238E27FC236}">
                <a16:creationId xmlns:a16="http://schemas.microsoft.com/office/drawing/2014/main" id="{1E8DE15B-28B5-DB44-229A-C2C15AC70A38}"/>
              </a:ext>
            </a:extLst>
          </p:cNvPr>
          <p:cNvSpPr/>
          <p:nvPr/>
        </p:nvSpPr>
        <p:spPr>
          <a:xfrm>
            <a:off x="1048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1" name="Rectangle 5260">
            <a:extLst>
              <a:ext uri="{FF2B5EF4-FFF2-40B4-BE49-F238E27FC236}">
                <a16:creationId xmlns:a16="http://schemas.microsoft.com/office/drawing/2014/main" id="{2BAB3126-38F9-800D-77B3-E3705D9A6C4C}"/>
              </a:ext>
            </a:extLst>
          </p:cNvPr>
          <p:cNvSpPr/>
          <p:nvPr/>
        </p:nvSpPr>
        <p:spPr>
          <a:xfrm>
            <a:off x="1055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4" name="Rectangle 5363">
            <a:extLst>
              <a:ext uri="{FF2B5EF4-FFF2-40B4-BE49-F238E27FC236}">
                <a16:creationId xmlns:a16="http://schemas.microsoft.com/office/drawing/2014/main" id="{50305443-882C-2360-4225-0780C2B44E95}"/>
              </a:ext>
            </a:extLst>
          </p:cNvPr>
          <p:cNvSpPr/>
          <p:nvPr/>
        </p:nvSpPr>
        <p:spPr>
          <a:xfrm>
            <a:off x="1062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68" name="Rectangle 5467">
            <a:extLst>
              <a:ext uri="{FF2B5EF4-FFF2-40B4-BE49-F238E27FC236}">
                <a16:creationId xmlns:a16="http://schemas.microsoft.com/office/drawing/2014/main" id="{D3FF5243-6782-08DE-A581-6F7DD8C926A0}"/>
              </a:ext>
            </a:extLst>
          </p:cNvPr>
          <p:cNvSpPr/>
          <p:nvPr/>
        </p:nvSpPr>
        <p:spPr>
          <a:xfrm>
            <a:off x="10690000" y="1734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73" name="Rectangle 5572">
            <a:extLst>
              <a:ext uri="{FF2B5EF4-FFF2-40B4-BE49-F238E27FC236}">
                <a16:creationId xmlns:a16="http://schemas.microsoft.com/office/drawing/2014/main" id="{EF4572A0-EA88-B912-54DC-4D86D5A47687}"/>
              </a:ext>
            </a:extLst>
          </p:cNvPr>
          <p:cNvSpPr/>
          <p:nvPr/>
        </p:nvSpPr>
        <p:spPr>
          <a:xfrm>
            <a:off x="10750000" y="174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9" name="Rectangle 5678">
            <a:extLst>
              <a:ext uri="{FF2B5EF4-FFF2-40B4-BE49-F238E27FC236}">
                <a16:creationId xmlns:a16="http://schemas.microsoft.com/office/drawing/2014/main" id="{5D0DA91F-6BE1-B080-0D9A-BED7F902D707}"/>
              </a:ext>
            </a:extLst>
          </p:cNvPr>
          <p:cNvSpPr/>
          <p:nvPr/>
        </p:nvSpPr>
        <p:spPr>
          <a:xfrm>
            <a:off x="10750000" y="181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86" name="Rectangle 5785">
            <a:extLst>
              <a:ext uri="{FF2B5EF4-FFF2-40B4-BE49-F238E27FC236}">
                <a16:creationId xmlns:a16="http://schemas.microsoft.com/office/drawing/2014/main" id="{DD891B13-1607-969E-82E1-0F5A1D73380A}"/>
              </a:ext>
            </a:extLst>
          </p:cNvPr>
          <p:cNvSpPr/>
          <p:nvPr/>
        </p:nvSpPr>
        <p:spPr>
          <a:xfrm>
            <a:off x="10750000" y="188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4" name="Rectangle 5893">
            <a:extLst>
              <a:ext uri="{FF2B5EF4-FFF2-40B4-BE49-F238E27FC236}">
                <a16:creationId xmlns:a16="http://schemas.microsoft.com/office/drawing/2014/main" id="{C48DB6FE-BFE7-1F06-5451-45709BD7A82A}"/>
              </a:ext>
            </a:extLst>
          </p:cNvPr>
          <p:cNvSpPr/>
          <p:nvPr/>
        </p:nvSpPr>
        <p:spPr>
          <a:xfrm>
            <a:off x="10750000" y="195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03" name="Rectangle 6002">
            <a:extLst>
              <a:ext uri="{FF2B5EF4-FFF2-40B4-BE49-F238E27FC236}">
                <a16:creationId xmlns:a16="http://schemas.microsoft.com/office/drawing/2014/main" id="{820654D7-E1DF-7F6C-384E-402AE2790B98}"/>
              </a:ext>
            </a:extLst>
          </p:cNvPr>
          <p:cNvSpPr/>
          <p:nvPr/>
        </p:nvSpPr>
        <p:spPr>
          <a:xfrm>
            <a:off x="10750000" y="202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13" name="Rectangle 6112">
            <a:extLst>
              <a:ext uri="{FF2B5EF4-FFF2-40B4-BE49-F238E27FC236}">
                <a16:creationId xmlns:a16="http://schemas.microsoft.com/office/drawing/2014/main" id="{47C508F6-B4B9-29F9-EC28-7855EE64A145}"/>
              </a:ext>
            </a:extLst>
          </p:cNvPr>
          <p:cNvSpPr/>
          <p:nvPr/>
        </p:nvSpPr>
        <p:spPr>
          <a:xfrm>
            <a:off x="10750000" y="209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24" name="Rectangle 6223">
            <a:extLst>
              <a:ext uri="{FF2B5EF4-FFF2-40B4-BE49-F238E27FC236}">
                <a16:creationId xmlns:a16="http://schemas.microsoft.com/office/drawing/2014/main" id="{8FA90C9D-22D0-41AD-2970-0E5A4F6FDBDD}"/>
              </a:ext>
            </a:extLst>
          </p:cNvPr>
          <p:cNvSpPr/>
          <p:nvPr/>
        </p:nvSpPr>
        <p:spPr>
          <a:xfrm>
            <a:off x="10750000" y="216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6" name="Rectangle 6335">
            <a:extLst>
              <a:ext uri="{FF2B5EF4-FFF2-40B4-BE49-F238E27FC236}">
                <a16:creationId xmlns:a16="http://schemas.microsoft.com/office/drawing/2014/main" id="{74F6419E-3D3E-5D47-1C1D-F1527ECFF1DD}"/>
              </a:ext>
            </a:extLst>
          </p:cNvPr>
          <p:cNvSpPr/>
          <p:nvPr/>
        </p:nvSpPr>
        <p:spPr>
          <a:xfrm>
            <a:off x="10750000" y="223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49" name="Rectangle 6448">
            <a:extLst>
              <a:ext uri="{FF2B5EF4-FFF2-40B4-BE49-F238E27FC236}">
                <a16:creationId xmlns:a16="http://schemas.microsoft.com/office/drawing/2014/main" id="{FFA820F4-0A61-6969-565D-97AEBD0AC093}"/>
              </a:ext>
            </a:extLst>
          </p:cNvPr>
          <p:cNvSpPr/>
          <p:nvPr/>
        </p:nvSpPr>
        <p:spPr>
          <a:xfrm>
            <a:off x="10750000" y="230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63" name="Rectangle 6562">
            <a:extLst>
              <a:ext uri="{FF2B5EF4-FFF2-40B4-BE49-F238E27FC236}">
                <a16:creationId xmlns:a16="http://schemas.microsoft.com/office/drawing/2014/main" id="{FA9436AC-6DE9-4509-86E4-E22F9DF4B953}"/>
              </a:ext>
            </a:extLst>
          </p:cNvPr>
          <p:cNvSpPr/>
          <p:nvPr/>
        </p:nvSpPr>
        <p:spPr>
          <a:xfrm>
            <a:off x="10750000" y="237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78" name="Rectangle 6677">
            <a:extLst>
              <a:ext uri="{FF2B5EF4-FFF2-40B4-BE49-F238E27FC236}">
                <a16:creationId xmlns:a16="http://schemas.microsoft.com/office/drawing/2014/main" id="{215238DE-9870-F05C-54D2-99BB1354DAAC}"/>
              </a:ext>
            </a:extLst>
          </p:cNvPr>
          <p:cNvSpPr/>
          <p:nvPr/>
        </p:nvSpPr>
        <p:spPr>
          <a:xfrm>
            <a:off x="10750000" y="244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94" name="Rectangle 6793">
            <a:extLst>
              <a:ext uri="{FF2B5EF4-FFF2-40B4-BE49-F238E27FC236}">
                <a16:creationId xmlns:a16="http://schemas.microsoft.com/office/drawing/2014/main" id="{38FFBF24-311F-5F04-3A10-062B3AE0DB5B}"/>
              </a:ext>
            </a:extLst>
          </p:cNvPr>
          <p:cNvSpPr/>
          <p:nvPr/>
        </p:nvSpPr>
        <p:spPr>
          <a:xfrm>
            <a:off x="10750000" y="251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11" name="Rectangle 6910">
            <a:extLst>
              <a:ext uri="{FF2B5EF4-FFF2-40B4-BE49-F238E27FC236}">
                <a16:creationId xmlns:a16="http://schemas.microsoft.com/office/drawing/2014/main" id="{F14F3F57-D5AA-F658-07EF-EE7EC0532839}"/>
              </a:ext>
            </a:extLst>
          </p:cNvPr>
          <p:cNvSpPr/>
          <p:nvPr/>
        </p:nvSpPr>
        <p:spPr>
          <a:xfrm>
            <a:off x="10750000" y="258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29" name="Rectangle 7028">
            <a:extLst>
              <a:ext uri="{FF2B5EF4-FFF2-40B4-BE49-F238E27FC236}">
                <a16:creationId xmlns:a16="http://schemas.microsoft.com/office/drawing/2014/main" id="{9157CCA7-2FBC-10CD-ABFA-BD10CD046EEC}"/>
              </a:ext>
            </a:extLst>
          </p:cNvPr>
          <p:cNvSpPr/>
          <p:nvPr/>
        </p:nvSpPr>
        <p:spPr>
          <a:xfrm>
            <a:off x="10750000" y="2655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48" name="Isosceles Triangle 7147">
            <a:extLst>
              <a:ext uri="{FF2B5EF4-FFF2-40B4-BE49-F238E27FC236}">
                <a16:creationId xmlns:a16="http://schemas.microsoft.com/office/drawing/2014/main" id="{62F750BB-14B5-6BEC-E64B-85499FEE4F39}"/>
              </a:ext>
            </a:extLst>
          </p:cNvPr>
          <p:cNvSpPr/>
          <p:nvPr/>
        </p:nvSpPr>
        <p:spPr>
          <a:xfrm rot="10800000">
            <a:off x="10706000" y="2690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68" name="Oval 7267">
            <a:extLst>
              <a:ext uri="{FF2B5EF4-FFF2-40B4-BE49-F238E27FC236}">
                <a16:creationId xmlns:a16="http://schemas.microsoft.com/office/drawing/2014/main" id="{A2670DA8-E23C-C1B1-B363-7DBE20DDCD91}"/>
              </a:ext>
            </a:extLst>
          </p:cNvPr>
          <p:cNvSpPr/>
          <p:nvPr/>
        </p:nvSpPr>
        <p:spPr>
          <a:xfrm>
            <a:off x="9522000" y="3812000"/>
            <a:ext cx="76000" cy="76000"/>
          </a:xfrm>
          <a:prstGeom prst="ellips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89" name="Rectangle 7388">
            <a:extLst>
              <a:ext uri="{FF2B5EF4-FFF2-40B4-BE49-F238E27FC236}">
                <a16:creationId xmlns:a16="http://schemas.microsoft.com/office/drawing/2014/main" id="{BF08E2C0-551E-CD86-AAF2-5F62858F7BC6}"/>
              </a:ext>
            </a:extLst>
          </p:cNvPr>
          <p:cNvSpPr/>
          <p:nvPr/>
        </p:nvSpPr>
        <p:spPr>
          <a:xfrm>
            <a:off x="400000" y="6180000"/>
            <a:ext cx="10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Legend</a:t>
            </a:r>
          </a:p>
          <a:p>
            <a:pPr algn="l">
              <a:buNone/>
            </a:pPr>
            <a:r>
              <a:rPr lang="en-US" sz="100">
                <a:effectLst/>
              </a:rPr>
              <a:t> </a:t>
            </a:r>
            <a:endParaRPr lang="en-US"/>
          </a:p>
        </p:txBody>
      </p:sp>
      <p:sp>
        <p:nvSpPr>
          <p:cNvPr id="7511" name="Rectangle 7510">
            <a:extLst>
              <a:ext uri="{FF2B5EF4-FFF2-40B4-BE49-F238E27FC236}">
                <a16:creationId xmlns:a16="http://schemas.microsoft.com/office/drawing/2014/main" id="{B45DE873-C6B3-0B01-8F9B-837E8B3105A7}"/>
              </a:ext>
            </a:extLst>
          </p:cNvPr>
          <p:cNvSpPr/>
          <p:nvPr/>
        </p:nvSpPr>
        <p:spPr>
          <a:xfrm>
            <a:off x="1350000" y="6319000"/>
            <a:ext cx="4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34" name="Isosceles Triangle 7633">
            <a:extLst>
              <a:ext uri="{FF2B5EF4-FFF2-40B4-BE49-F238E27FC236}">
                <a16:creationId xmlns:a16="http://schemas.microsoft.com/office/drawing/2014/main" id="{EB727952-2F81-1908-ED6B-68B3590570DF}"/>
              </a:ext>
            </a:extLst>
          </p:cNvPr>
          <p:cNvSpPr/>
          <p:nvPr/>
        </p:nvSpPr>
        <p:spPr>
          <a:xfrm rot="5400000">
            <a:off x="1760000" y="627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58" name="Rectangle 7757">
            <a:extLst>
              <a:ext uri="{FF2B5EF4-FFF2-40B4-BE49-F238E27FC236}">
                <a16:creationId xmlns:a16="http://schemas.microsoft.com/office/drawing/2014/main" id="{CCA7BD23-ACE5-08C1-519D-36294F4DFAC5}"/>
              </a:ext>
            </a:extLst>
          </p:cNvPr>
          <p:cNvSpPr/>
          <p:nvPr/>
        </p:nvSpPr>
        <p:spPr>
          <a:xfrm>
            <a:off x="1930000" y="6180000"/>
            <a:ext cx="15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Streaming</a:t>
            </a:r>
          </a:p>
          <a:p>
            <a:pPr algn="l">
              <a:buNone/>
            </a:pPr>
            <a:r>
              <a:rPr lang="en-US" sz="100">
                <a:effectLst/>
              </a:rPr>
              <a:t> </a:t>
            </a:r>
            <a:endParaRPr lang="en-US"/>
          </a:p>
        </p:txBody>
      </p:sp>
      <p:sp>
        <p:nvSpPr>
          <p:cNvPr id="7883" name="Rectangle 7882">
            <a:extLst>
              <a:ext uri="{FF2B5EF4-FFF2-40B4-BE49-F238E27FC236}">
                <a16:creationId xmlns:a16="http://schemas.microsoft.com/office/drawing/2014/main" id="{8AC9247F-4F03-CB4A-1837-79BC3DF12D74}"/>
              </a:ext>
            </a:extLst>
          </p:cNvPr>
          <p:cNvSpPr/>
          <p:nvPr/>
        </p:nvSpPr>
        <p:spPr>
          <a:xfrm>
            <a:off x="3250000" y="631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09" name="Rectangle 8008">
            <a:extLst>
              <a:ext uri="{FF2B5EF4-FFF2-40B4-BE49-F238E27FC236}">
                <a16:creationId xmlns:a16="http://schemas.microsoft.com/office/drawing/2014/main" id="{589CDFB0-2144-C3F1-5D02-6D836E2C2F7F}"/>
              </a:ext>
            </a:extLst>
          </p:cNvPr>
          <p:cNvSpPr/>
          <p:nvPr/>
        </p:nvSpPr>
        <p:spPr>
          <a:xfrm>
            <a:off x="3385000" y="631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36" name="Rectangle 8135">
            <a:extLst>
              <a:ext uri="{FF2B5EF4-FFF2-40B4-BE49-F238E27FC236}">
                <a16:creationId xmlns:a16="http://schemas.microsoft.com/office/drawing/2014/main" id="{CCC02E54-941E-DEC0-6C07-0F174AC35BA6}"/>
              </a:ext>
            </a:extLst>
          </p:cNvPr>
          <p:cNvSpPr/>
          <p:nvPr/>
        </p:nvSpPr>
        <p:spPr>
          <a:xfrm>
            <a:off x="3520000" y="631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64" name="Rectangle 8263">
            <a:extLst>
              <a:ext uri="{FF2B5EF4-FFF2-40B4-BE49-F238E27FC236}">
                <a16:creationId xmlns:a16="http://schemas.microsoft.com/office/drawing/2014/main" id="{43F60889-19BB-CECD-58A1-53B6582B1E21}"/>
              </a:ext>
            </a:extLst>
          </p:cNvPr>
          <p:cNvSpPr/>
          <p:nvPr/>
        </p:nvSpPr>
        <p:spPr>
          <a:xfrm>
            <a:off x="3655000" y="6319000"/>
            <a:ext cx="15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93" name="Isosceles Triangle 8392">
            <a:extLst>
              <a:ext uri="{FF2B5EF4-FFF2-40B4-BE49-F238E27FC236}">
                <a16:creationId xmlns:a16="http://schemas.microsoft.com/office/drawing/2014/main" id="{0B5D2C77-308A-4057-0268-B39BFDEEA801}"/>
              </a:ext>
            </a:extLst>
          </p:cNvPr>
          <p:cNvSpPr/>
          <p:nvPr/>
        </p:nvSpPr>
        <p:spPr>
          <a:xfrm rot="5400000">
            <a:off x="3660000" y="6275000"/>
            <a:ext cx="110000" cy="110000"/>
          </a:xfrm>
          <a:prstGeom prst="triangle">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23" name="Rectangle 8522">
            <a:extLst>
              <a:ext uri="{FF2B5EF4-FFF2-40B4-BE49-F238E27FC236}">
                <a16:creationId xmlns:a16="http://schemas.microsoft.com/office/drawing/2014/main" id="{D2FC13E1-9799-415A-B3FF-A0F287F47754}"/>
              </a:ext>
            </a:extLst>
          </p:cNvPr>
          <p:cNvSpPr/>
          <p:nvPr/>
        </p:nvSpPr>
        <p:spPr>
          <a:xfrm>
            <a:off x="3830000" y="6180000"/>
            <a:ext cx="15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Batch / reference</a:t>
            </a:r>
          </a:p>
          <a:p>
            <a:pPr algn="l">
              <a:buNone/>
            </a:pPr>
            <a:r>
              <a:rPr lang="en-US" sz="100">
                <a:effectLst/>
              </a:rPr>
              <a:t> </a:t>
            </a:r>
            <a:endParaRPr lang="en-US"/>
          </a:p>
        </p:txBody>
      </p:sp>
      <p:sp>
        <p:nvSpPr>
          <p:cNvPr id="8654" name="Rectangle 8653">
            <a:extLst>
              <a:ext uri="{FF2B5EF4-FFF2-40B4-BE49-F238E27FC236}">
                <a16:creationId xmlns:a16="http://schemas.microsoft.com/office/drawing/2014/main" id="{A32D4FE2-A974-E31A-7194-0D05B29A8FB1}"/>
              </a:ext>
            </a:extLst>
          </p:cNvPr>
          <p:cNvSpPr/>
          <p:nvPr/>
        </p:nvSpPr>
        <p:spPr>
          <a:xfrm>
            <a:off x="5150000" y="631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86" name="Rectangle 8785">
            <a:extLst>
              <a:ext uri="{FF2B5EF4-FFF2-40B4-BE49-F238E27FC236}">
                <a16:creationId xmlns:a16="http://schemas.microsoft.com/office/drawing/2014/main" id="{2C3481A0-0DB2-BE3D-3EFD-A9898B5D4F20}"/>
              </a:ext>
            </a:extLst>
          </p:cNvPr>
          <p:cNvSpPr/>
          <p:nvPr/>
        </p:nvSpPr>
        <p:spPr>
          <a:xfrm>
            <a:off x="5220000" y="631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19" name="Rectangle 8918">
            <a:extLst>
              <a:ext uri="{FF2B5EF4-FFF2-40B4-BE49-F238E27FC236}">
                <a16:creationId xmlns:a16="http://schemas.microsoft.com/office/drawing/2014/main" id="{24D0A3A0-F78A-72AD-0375-163B8B5C7181}"/>
              </a:ext>
            </a:extLst>
          </p:cNvPr>
          <p:cNvSpPr/>
          <p:nvPr/>
        </p:nvSpPr>
        <p:spPr>
          <a:xfrm>
            <a:off x="5290000" y="631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53" name="Rectangle 9052">
            <a:extLst>
              <a:ext uri="{FF2B5EF4-FFF2-40B4-BE49-F238E27FC236}">
                <a16:creationId xmlns:a16="http://schemas.microsoft.com/office/drawing/2014/main" id="{3B9FC61F-7286-73AE-73DA-F2B0A63ED9E7}"/>
              </a:ext>
            </a:extLst>
          </p:cNvPr>
          <p:cNvSpPr/>
          <p:nvPr/>
        </p:nvSpPr>
        <p:spPr>
          <a:xfrm>
            <a:off x="5360000" y="631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88" name="Rectangle 9187">
            <a:extLst>
              <a:ext uri="{FF2B5EF4-FFF2-40B4-BE49-F238E27FC236}">
                <a16:creationId xmlns:a16="http://schemas.microsoft.com/office/drawing/2014/main" id="{36028AF8-08AB-9FD2-C7E6-5FEEAA5CBF65}"/>
              </a:ext>
            </a:extLst>
          </p:cNvPr>
          <p:cNvSpPr/>
          <p:nvPr/>
        </p:nvSpPr>
        <p:spPr>
          <a:xfrm>
            <a:off x="5430000" y="631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24" name="Rectangle 9323">
            <a:extLst>
              <a:ext uri="{FF2B5EF4-FFF2-40B4-BE49-F238E27FC236}">
                <a16:creationId xmlns:a16="http://schemas.microsoft.com/office/drawing/2014/main" id="{17D80E8A-1465-BEE2-1EDF-33602360EA78}"/>
              </a:ext>
            </a:extLst>
          </p:cNvPr>
          <p:cNvSpPr/>
          <p:nvPr/>
        </p:nvSpPr>
        <p:spPr>
          <a:xfrm>
            <a:off x="5500000" y="631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61" name="Isosceles Triangle 9460">
            <a:extLst>
              <a:ext uri="{FF2B5EF4-FFF2-40B4-BE49-F238E27FC236}">
                <a16:creationId xmlns:a16="http://schemas.microsoft.com/office/drawing/2014/main" id="{9715EDB2-CF03-8F09-78E0-1834DDDC4930}"/>
              </a:ext>
            </a:extLst>
          </p:cNvPr>
          <p:cNvSpPr/>
          <p:nvPr/>
        </p:nvSpPr>
        <p:spPr>
          <a:xfrm rot="5400000">
            <a:off x="5560000" y="6275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99" name="Rectangle 9598">
            <a:extLst>
              <a:ext uri="{FF2B5EF4-FFF2-40B4-BE49-F238E27FC236}">
                <a16:creationId xmlns:a16="http://schemas.microsoft.com/office/drawing/2014/main" id="{66FD2146-9E67-FA60-23FA-0957D465ECFC}"/>
              </a:ext>
            </a:extLst>
          </p:cNvPr>
          <p:cNvSpPr/>
          <p:nvPr/>
        </p:nvSpPr>
        <p:spPr>
          <a:xfrm>
            <a:off x="5730000" y="6180000"/>
            <a:ext cx="15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AI / query calls</a:t>
            </a:r>
          </a:p>
          <a:p>
            <a:pPr algn="l">
              <a:buNone/>
            </a:pPr>
            <a:r>
              <a:rPr lang="en-US" sz="100">
                <a:effectLst/>
              </a:rPr>
              <a:t> </a:t>
            </a:r>
            <a:endParaRPr lang="en-US"/>
          </a:p>
        </p:txBody>
      </p:sp>
      <p:sp>
        <p:nvSpPr>
          <p:cNvPr id="9738" name="Rectangle 9737">
            <a:extLst>
              <a:ext uri="{FF2B5EF4-FFF2-40B4-BE49-F238E27FC236}">
                <a16:creationId xmlns:a16="http://schemas.microsoft.com/office/drawing/2014/main" id="{E0FB0CA5-9EC3-98B8-C20F-271E61127471}"/>
              </a:ext>
            </a:extLst>
          </p:cNvPr>
          <p:cNvSpPr/>
          <p:nvPr/>
        </p:nvSpPr>
        <p:spPr>
          <a:xfrm>
            <a:off x="7050000" y="6240000"/>
            <a:ext cx="260000" cy="18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78" name="Rectangle 9877">
            <a:extLst>
              <a:ext uri="{FF2B5EF4-FFF2-40B4-BE49-F238E27FC236}">
                <a16:creationId xmlns:a16="http://schemas.microsoft.com/office/drawing/2014/main" id="{DBC84DDA-0F59-03F1-5B0D-84055E1398F2}"/>
              </a:ext>
            </a:extLst>
          </p:cNvPr>
          <p:cNvSpPr/>
          <p:nvPr/>
        </p:nvSpPr>
        <p:spPr>
          <a:xfrm>
            <a:off x="7350000" y="6180000"/>
            <a:ext cx="13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External source</a:t>
            </a:r>
          </a:p>
          <a:p>
            <a:pPr algn="l">
              <a:buNone/>
            </a:pPr>
            <a:r>
              <a:rPr lang="en-US" sz="100">
                <a:effectLst/>
              </a:rPr>
              <a:t> </a:t>
            </a:r>
            <a:endParaRPr lang="en-US"/>
          </a:p>
        </p:txBody>
      </p:sp>
      <p:sp>
        <p:nvSpPr>
          <p:cNvPr id="10019" name="Rectangle 10018">
            <a:extLst>
              <a:ext uri="{FF2B5EF4-FFF2-40B4-BE49-F238E27FC236}">
                <a16:creationId xmlns:a16="http://schemas.microsoft.com/office/drawing/2014/main" id="{3991F02E-1394-A8FB-E4C3-6B47F5C17C1C}"/>
              </a:ext>
            </a:extLst>
          </p:cNvPr>
          <p:cNvSpPr/>
          <p:nvPr/>
        </p:nvSpPr>
        <p:spPr>
          <a:xfrm>
            <a:off x="8550000" y="6240000"/>
            <a:ext cx="260000" cy="18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61" name="Rectangle 10160">
            <a:extLst>
              <a:ext uri="{FF2B5EF4-FFF2-40B4-BE49-F238E27FC236}">
                <a16:creationId xmlns:a16="http://schemas.microsoft.com/office/drawing/2014/main" id="{F0EED7BC-9DC3-D10F-8407-E84DEB35182D}"/>
              </a:ext>
            </a:extLst>
          </p:cNvPr>
          <p:cNvSpPr/>
          <p:nvPr/>
        </p:nvSpPr>
        <p:spPr>
          <a:xfrm>
            <a:off x="8850000" y="6180000"/>
            <a:ext cx="13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Azure service</a:t>
            </a:r>
          </a:p>
          <a:p>
            <a:pPr algn="l">
              <a:buNone/>
            </a:pPr>
            <a:r>
              <a:rPr lang="en-US" sz="100">
                <a:effectLst/>
              </a:rPr>
              <a:t> </a:t>
            </a:r>
            <a:endParaRPr lang="en-US"/>
          </a:p>
        </p:txBody>
      </p:sp>
      <p:sp>
        <p:nvSpPr>
          <p:cNvPr id="10304" name="Rectangle 10303">
            <a:extLst>
              <a:ext uri="{FF2B5EF4-FFF2-40B4-BE49-F238E27FC236}">
                <a16:creationId xmlns:a16="http://schemas.microsoft.com/office/drawing/2014/main" id="{6B61F947-84DB-60A7-98D7-EF8E1154A1A7}"/>
              </a:ext>
            </a:extLst>
          </p:cNvPr>
          <p:cNvSpPr/>
          <p:nvPr/>
        </p:nvSpPr>
        <p:spPr>
          <a:xfrm>
            <a:off x="10050000" y="6240000"/>
            <a:ext cx="260000" cy="18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48" name="Rectangle 10447">
            <a:extLst>
              <a:ext uri="{FF2B5EF4-FFF2-40B4-BE49-F238E27FC236}">
                <a16:creationId xmlns:a16="http://schemas.microsoft.com/office/drawing/2014/main" id="{D672C890-1E92-DEEC-6A72-B8D27DD4244E}"/>
              </a:ext>
            </a:extLst>
          </p:cNvPr>
          <p:cNvSpPr/>
          <p:nvPr/>
        </p:nvSpPr>
        <p:spPr>
          <a:xfrm>
            <a:off x="10350000" y="6180000"/>
            <a:ext cx="13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Fabric item</a:t>
            </a:r>
          </a:p>
          <a:p>
            <a:pPr algn="l">
              <a:buNone/>
            </a:pPr>
            <a:r>
              <a:rPr lang="en-US" sz="100">
                <a:effectLst/>
              </a:rPr>
              <a:t> </a:t>
            </a:r>
            <a:endParaRPr lang="en-US"/>
          </a:p>
        </p:txBody>
      </p:sp>
      <p:sp>
        <p:nvSpPr>
          <p:cNvPr id="10449" name="lanehead2-S">
            <a:extLst>
              <a:ext uri="{FF2B5EF4-FFF2-40B4-BE49-F238E27FC236}">
                <a16:creationId xmlns:a16="http://schemas.microsoft.com/office/drawing/2014/main" id="{893DC58C-73EA-15E8-9DDD-5ED17F9A5842}"/>
              </a:ext>
            </a:extLst>
          </p:cNvPr>
          <p:cNvSpPr/>
          <p:nvPr/>
        </p:nvSpPr>
        <p:spPr>
          <a:xfrm>
            <a:off x="430000" y="800000"/>
            <a:ext cx="21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1  SOURCES</a:t>
            </a:r>
          </a:p>
          <a:p>
            <a:pPr algn="l">
              <a:buNone/>
            </a:pPr>
            <a:r>
              <a:rPr lang="en-US" sz="100">
                <a:effectLst/>
              </a:rPr>
              <a:t> </a:t>
            </a:r>
            <a:endParaRPr lang="en-US"/>
          </a:p>
        </p:txBody>
      </p:sp>
      <p:sp>
        <p:nvSpPr>
          <p:cNvPr id="10451" name="lanehead2-B">
            <a:extLst>
              <a:ext uri="{FF2B5EF4-FFF2-40B4-BE49-F238E27FC236}">
                <a16:creationId xmlns:a16="http://schemas.microsoft.com/office/drawing/2014/main" id="{6F57897E-0D87-352D-ABE0-619BC0E1DA0D}"/>
              </a:ext>
            </a:extLst>
          </p:cNvPr>
          <p:cNvSpPr/>
          <p:nvPr/>
        </p:nvSpPr>
        <p:spPr>
          <a:xfrm>
            <a:off x="2890000" y="800000"/>
            <a:ext cx="199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2  BRIDGE / INGEST</a:t>
            </a:r>
          </a:p>
          <a:p>
            <a:pPr algn="l">
              <a:buNone/>
            </a:pPr>
            <a:r>
              <a:rPr lang="en-US" sz="100">
                <a:effectLst/>
              </a:rPr>
              <a:t> </a:t>
            </a:r>
            <a:endParaRPr lang="en-US"/>
          </a:p>
        </p:txBody>
      </p:sp>
      <p:sp>
        <p:nvSpPr>
          <p:cNvPr id="10454" name="lanehead2-St">
            <a:extLst>
              <a:ext uri="{FF2B5EF4-FFF2-40B4-BE49-F238E27FC236}">
                <a16:creationId xmlns:a16="http://schemas.microsoft.com/office/drawing/2014/main" id="{8E54E910-F2E9-C338-FBEE-98142B6A1A17}"/>
              </a:ext>
            </a:extLst>
          </p:cNvPr>
          <p:cNvSpPr/>
          <p:nvPr/>
        </p:nvSpPr>
        <p:spPr>
          <a:xfrm>
            <a:off x="5200000" y="800000"/>
            <a:ext cx="20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3  STORE &amp; MODEL</a:t>
            </a:r>
          </a:p>
          <a:p>
            <a:pPr algn="l">
              <a:buNone/>
            </a:pPr>
            <a:r>
              <a:rPr lang="en-US" sz="100">
                <a:effectLst/>
              </a:rPr>
              <a:t> </a:t>
            </a:r>
            <a:endParaRPr lang="en-US"/>
          </a:p>
        </p:txBody>
      </p:sp>
      <p:sp>
        <p:nvSpPr>
          <p:cNvPr id="10458" name="lanehead2-AI">
            <a:extLst>
              <a:ext uri="{FF2B5EF4-FFF2-40B4-BE49-F238E27FC236}">
                <a16:creationId xmlns:a16="http://schemas.microsoft.com/office/drawing/2014/main" id="{FCD5A233-D177-92D7-57C7-13CFBD953096}"/>
              </a:ext>
            </a:extLst>
          </p:cNvPr>
          <p:cNvSpPr/>
          <p:nvPr/>
        </p:nvSpPr>
        <p:spPr>
          <a:xfrm>
            <a:off x="7560000" y="800000"/>
            <a:ext cx="18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4  AI</a:t>
            </a:r>
          </a:p>
          <a:p>
            <a:pPr algn="l">
              <a:buNone/>
            </a:pPr>
            <a:r>
              <a:rPr lang="en-US" sz="100">
                <a:effectLst/>
              </a:rPr>
              <a:t> </a:t>
            </a:r>
            <a:endParaRPr lang="en-US"/>
          </a:p>
        </p:txBody>
      </p:sp>
      <p:sp>
        <p:nvSpPr>
          <p:cNvPr id="10463" name="lanehead2-E">
            <a:extLst>
              <a:ext uri="{FF2B5EF4-FFF2-40B4-BE49-F238E27FC236}">
                <a16:creationId xmlns:a16="http://schemas.microsoft.com/office/drawing/2014/main" id="{DE4979AD-EC0C-B07E-3540-5BF6E532BCF7}"/>
              </a:ext>
            </a:extLst>
          </p:cNvPr>
          <p:cNvSpPr/>
          <p:nvPr/>
        </p:nvSpPr>
        <p:spPr>
          <a:xfrm>
            <a:off x="9720000" y="800000"/>
            <a:ext cx="2082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5  EXPERIENCE</a:t>
            </a:r>
          </a:p>
          <a:p>
            <a:pPr algn="l">
              <a:buNone/>
            </a:pPr>
            <a:r>
              <a:rPr lang="en-US" sz="100">
                <a:effectLst/>
              </a:rPr>
              <a:t> </a:t>
            </a:r>
            <a:endParaRPr lang="en-US"/>
          </a:p>
        </p:txBody>
      </p:sp>
      <p:sp>
        <p:nvSpPr>
          <p:cNvPr id="11439" name="fabric-label3">
            <a:extLst>
              <a:ext uri="{FF2B5EF4-FFF2-40B4-BE49-F238E27FC236}">
                <a16:creationId xmlns:a16="http://schemas.microsoft.com/office/drawing/2014/main" id="{CCF6B8CA-7EEE-2D02-69C5-A31EAFFA5CF8}"/>
              </a:ext>
            </a:extLst>
          </p:cNvPr>
          <p:cNvSpPr/>
          <p:nvPr/>
        </p:nvSpPr>
        <p:spPr>
          <a:xfrm>
            <a:off x="5230000" y="2465000"/>
            <a:ext cx="30000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spc="100">
                <a:solidFill>
                  <a:srgbClr val="0B5446"/>
                </a:solidFill>
                <a:effectLst/>
                <a:latin typeface="Calibri" panose="020F0502020204030204" pitchFamily="34" charset="0"/>
              </a:rPr>
              <a:t>MICROSOFT FABRIC  ·  ONELAKE</a:t>
            </a:r>
          </a:p>
          <a:p>
            <a:pPr algn="l">
              <a:buNone/>
            </a:pPr>
            <a:r>
              <a:rPr lang="en-US" sz="100">
                <a:effectLst/>
              </a:rPr>
              <a:t> </a:t>
            </a:r>
            <a:endParaRPr lang="en-US"/>
          </a:p>
        </p:txBody>
      </p:sp>
      <p:sp>
        <p:nvSpPr>
          <p:cNvPr id="23557" name="Rectangle 23556">
            <a:extLst>
              <a:ext uri="{FF2B5EF4-FFF2-40B4-BE49-F238E27FC236}">
                <a16:creationId xmlns:a16="http://schemas.microsoft.com/office/drawing/2014/main" id="{AAEE9A10-5097-1FF0-5E21-256BD0D34FAC}"/>
              </a:ext>
            </a:extLst>
          </p:cNvPr>
          <p:cNvSpPr/>
          <p:nvPr/>
        </p:nvSpPr>
        <p:spPr>
          <a:xfrm>
            <a:off x="5170000" y="4480000"/>
            <a:ext cx="2100000" cy="39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Semantic models</a:t>
            </a:r>
          </a:p>
          <a:p>
            <a:pPr algn="l">
              <a:buNone/>
            </a:pPr>
            <a:r>
              <a:rPr lang="en-US" sz="1000">
                <a:solidFill>
                  <a:srgbClr val="3D4F66"/>
                </a:solidFill>
                <a:effectLst/>
                <a:latin typeface="Calibri" panose="020F0502020204030204" pitchFamily="34" charset="0"/>
              </a:rPr>
              <a:t>RailLiveMap (DirectQuery)</a:t>
            </a:r>
            <a:endParaRPr lang="en-US"/>
          </a:p>
        </p:txBody>
      </p:sp>
      <p:sp>
        <p:nvSpPr>
          <p:cNvPr id="23559" name="Rectangle 23558">
            <a:extLst>
              <a:ext uri="{FF2B5EF4-FFF2-40B4-BE49-F238E27FC236}">
                <a16:creationId xmlns:a16="http://schemas.microsoft.com/office/drawing/2014/main" id="{D408C525-F2EC-302D-4572-D5C2E0C1C797}"/>
              </a:ext>
            </a:extLst>
          </p:cNvPr>
          <p:cNvSpPr/>
          <p:nvPr/>
        </p:nvSpPr>
        <p:spPr>
          <a:xfrm>
            <a:off x="7530000" y="1160000"/>
            <a:ext cx="1900000" cy="117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Azure AI Foundry agent</a:t>
            </a:r>
          </a:p>
          <a:p>
            <a:pPr algn="l">
              <a:buNone/>
            </a:pPr>
            <a:r>
              <a:rPr lang="en-US" sz="1000">
                <a:solidFill>
                  <a:srgbClr val="3D4F66"/>
                </a:solidFill>
                <a:effectLst/>
                <a:latin typeface="Calibri" panose="020F0502020204030204" pitchFamily="34" charset="0"/>
              </a:rPr>
              <a:t>gpt-5.4 / 5.5, background mode</a:t>
            </a:r>
          </a:p>
          <a:p>
            <a:pPr algn="l">
              <a:buNone/>
            </a:pPr>
            <a:r>
              <a:rPr lang="en-US" sz="1000">
                <a:solidFill>
                  <a:srgbClr val="3D4F66"/>
                </a:solidFill>
                <a:effectLst/>
                <a:latin typeface="Calibri" panose="020F0502020204030204" pitchFamily="34" charset="0"/>
              </a:rPr>
              <a:t>Fabric IQ tool → data agent, as the user</a:t>
            </a:r>
            <a:endParaRPr lang="en-US"/>
          </a:p>
        </p:txBody>
      </p:sp>
      <p:sp>
        <p:nvSpPr>
          <p:cNvPr id="23562" name="Rectangle 23561">
            <a:extLst>
              <a:ext uri="{FF2B5EF4-FFF2-40B4-BE49-F238E27FC236}">
                <a16:creationId xmlns:a16="http://schemas.microsoft.com/office/drawing/2014/main" id="{2FD82714-8322-D2E7-1F9F-8FE752367783}"/>
              </a:ext>
            </a:extLst>
          </p:cNvPr>
          <p:cNvSpPr/>
          <p:nvPr/>
        </p:nvSpPr>
        <p:spPr>
          <a:xfrm>
            <a:off x="7530000" y="2800000"/>
            <a:ext cx="1900000" cy="85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Fabric data agent</a:t>
            </a:r>
          </a:p>
          <a:p>
            <a:pPr algn="l">
              <a:buNone/>
            </a:pPr>
            <a:r>
              <a:rPr lang="en-US" sz="1000">
                <a:solidFill>
                  <a:srgbClr val="3D4F66"/>
                </a:solidFill>
                <a:effectLst/>
                <a:latin typeface="Calibri" panose="020F0502020204030204" pitchFamily="34" charset="0"/>
              </a:rPr>
              <a:t>Rail Network Analyst</a:t>
            </a:r>
          </a:p>
          <a:p>
            <a:pPr algn="l">
              <a:buNone/>
            </a:pPr>
            <a:r>
              <a:rPr lang="en-US" sz="1000">
                <a:solidFill>
                  <a:srgbClr val="3D4F66"/>
                </a:solidFill>
                <a:effectLst/>
                <a:latin typeface="Calibri" panose="020F0502020204030204" pitchFamily="34" charset="0"/>
              </a:rPr>
              <a:t>NL → KQL over RailKQL; published</a:t>
            </a:r>
            <a:endParaRPr lang="en-US"/>
          </a:p>
        </p:txBody>
      </p:sp>
      <p:sp>
        <p:nvSpPr>
          <p:cNvPr id="23566" name="Rectangle 23565">
            <a:extLst>
              <a:ext uri="{FF2B5EF4-FFF2-40B4-BE49-F238E27FC236}">
                <a16:creationId xmlns:a16="http://schemas.microsoft.com/office/drawing/2014/main" id="{E879D140-CB34-1C10-5523-70D2D2A56C01}"/>
              </a:ext>
            </a:extLst>
          </p:cNvPr>
          <p:cNvSpPr/>
          <p:nvPr/>
        </p:nvSpPr>
        <p:spPr>
          <a:xfrm>
            <a:off x="9690000" y="2800000"/>
            <a:ext cx="2142000" cy="120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Rayfin app (RailPulse)</a:t>
            </a:r>
          </a:p>
          <a:p>
            <a:pPr algn="l">
              <a:buNone/>
            </a:pPr>
            <a:r>
              <a:rPr lang="en-US" sz="1000">
                <a:solidFill>
                  <a:srgbClr val="3D4F66"/>
                </a:solidFill>
                <a:effectLst/>
                <a:latin typeface="Calibri" panose="020F0502020204030204" pitchFamily="34" charset="0"/>
              </a:rPr>
              <a:t>Map: semantic model connector</a:t>
            </a:r>
          </a:p>
          <a:p>
            <a:pPr algn="l">
              <a:buNone/>
            </a:pPr>
            <a:r>
              <a:rPr lang="en-US" sz="1000">
                <a:solidFill>
                  <a:srgbClr val="3D4F66"/>
                </a:solidFill>
                <a:effectLst/>
                <a:latin typeface="Calibri" panose="020F0502020204030204" pitchFamily="34" charset="0"/>
              </a:rPr>
              <a:t>Chat: function → Foundry agent</a:t>
            </a:r>
          </a:p>
          <a:p>
            <a:pPr algn="l">
              <a:buNone/>
            </a:pPr>
            <a:r>
              <a:rPr lang="en-US" sz="1000">
                <a:solidFill>
                  <a:srgbClr val="3D4F66"/>
                </a:solidFill>
                <a:effectLst/>
                <a:latin typeface="Calibri" panose="020F0502020204030204" pitchFamily="34" charset="0"/>
              </a:rPr>
              <a:t>Azure Maps + rail lines (11b)</a:t>
            </a:r>
            <a:endParaRPr lang="en-US"/>
          </a:p>
        </p:txBody>
      </p:sp>
    </p:spTree>
    <p:extLst>
      <p:ext uri="{BB962C8B-B14F-4D97-AF65-F5344CB8AC3E}">
        <p14:creationId xmlns:p14="http://schemas.microsoft.com/office/powerpoint/2010/main" val="506178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0476" name="notes-title">
            <a:extLst>
              <a:ext uri="{FF2B5EF4-FFF2-40B4-BE49-F238E27FC236}">
                <a16:creationId xmlns:a16="http://schemas.microsoft.com/office/drawing/2014/main" id="{899340DD-2A5D-F3DD-D542-C670E5B70A5F}"/>
              </a:ext>
            </a:extLst>
          </p:cNvPr>
          <p:cNvSpPr/>
          <p:nvPr/>
        </p:nvSpPr>
        <p:spPr>
          <a:xfrm>
            <a:off x="457200" y="380000"/>
            <a:ext cx="800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Key design notes</a:t>
            </a:r>
          </a:p>
          <a:p>
            <a:pPr algn="l">
              <a:buNone/>
            </a:pPr>
            <a:r>
              <a:rPr lang="en-US" sz="100">
                <a:effectLst/>
              </a:rPr>
              <a:t> </a:t>
            </a:r>
            <a:endParaRPr lang="en-US"/>
          </a:p>
        </p:txBody>
      </p:sp>
      <p:sp>
        <p:nvSpPr>
          <p:cNvPr id="10484" name="fig-panel">
            <a:extLst>
              <a:ext uri="{FF2B5EF4-FFF2-40B4-BE49-F238E27FC236}">
                <a16:creationId xmlns:a16="http://schemas.microsoft.com/office/drawing/2014/main" id="{F1A08F28-0014-1DA7-1AE4-B8DAF0C3F1F1}"/>
              </a:ext>
            </a:extLst>
          </p:cNvPr>
          <p:cNvSpPr/>
          <p:nvPr/>
        </p:nvSpPr>
        <p:spPr>
          <a:xfrm>
            <a:off x="457200" y="1250000"/>
            <a:ext cx="3500000" cy="4900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14" name="n01">
            <a:extLst>
              <a:ext uri="{FF2B5EF4-FFF2-40B4-BE49-F238E27FC236}">
                <a16:creationId xmlns:a16="http://schemas.microsoft.com/office/drawing/2014/main" id="{7325D312-D728-524F-223B-9AB524336524}"/>
              </a:ext>
            </a:extLst>
          </p:cNvPr>
          <p:cNvSpPr/>
          <p:nvPr/>
        </p:nvSpPr>
        <p:spPr>
          <a:xfrm>
            <a:off x="4350000" y="1250000"/>
            <a:ext cx="5600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17865"/>
                </a:solidFill>
                <a:effectLst/>
                <a:latin typeface="Calibri" panose="020F0502020204030204" pitchFamily="34" charset="0"/>
              </a:rPr>
              <a:t>01</a:t>
            </a:r>
          </a:p>
          <a:p>
            <a:pPr algn="l">
              <a:buNone/>
            </a:pPr>
            <a:r>
              <a:rPr lang="en-US" sz="100">
                <a:effectLst/>
              </a:rPr>
              <a:t> </a:t>
            </a:r>
            <a:endParaRPr lang="en-US"/>
          </a:p>
        </p:txBody>
      </p:sp>
      <p:sp>
        <p:nvSpPr>
          <p:cNvPr id="10526" name="h01">
            <a:extLst>
              <a:ext uri="{FF2B5EF4-FFF2-40B4-BE49-F238E27FC236}">
                <a16:creationId xmlns:a16="http://schemas.microsoft.com/office/drawing/2014/main" id="{B6951A20-7448-E776-C438-19BB4305BDF4}"/>
              </a:ext>
            </a:extLst>
          </p:cNvPr>
          <p:cNvSpPr/>
          <p:nvPr/>
        </p:nvSpPr>
        <p:spPr>
          <a:xfrm>
            <a:off x="4970000" y="1250000"/>
            <a:ext cx="676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Kafka first, bridge only where needed</a:t>
            </a:r>
          </a:p>
          <a:p>
            <a:pPr algn="l">
              <a:buNone/>
            </a:pPr>
            <a:r>
              <a:rPr lang="en-US" sz="100">
                <a:effectLst/>
              </a:rPr>
              <a:t> </a:t>
            </a:r>
            <a:endParaRPr lang="en-US"/>
          </a:p>
        </p:txBody>
      </p:sp>
      <p:sp>
        <p:nvSpPr>
          <p:cNvPr id="10539" name="b01">
            <a:extLst>
              <a:ext uri="{FF2B5EF4-FFF2-40B4-BE49-F238E27FC236}">
                <a16:creationId xmlns:a16="http://schemas.microsoft.com/office/drawing/2014/main" id="{A0519A10-6D3B-1FDE-9D2D-C74D13A7DD55}"/>
              </a:ext>
            </a:extLst>
          </p:cNvPr>
          <p:cNvSpPr/>
          <p:nvPr/>
        </p:nvSpPr>
        <p:spPr>
          <a:xfrm>
            <a:off x="4970000" y="1610000"/>
            <a:ext cx="6760000" cy="76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Prefer RDM Kafka feeds → native Eventstream connector, no code. Bridge only for feeds still ActiveMQ-only — notably TD (~6,000 msgs/min vs ~600 for TRUST).</a:t>
            </a:r>
          </a:p>
          <a:p>
            <a:pPr algn="l">
              <a:buNone/>
            </a:pPr>
            <a:r>
              <a:rPr lang="en-US" sz="100">
                <a:effectLst/>
              </a:rPr>
              <a:t> </a:t>
            </a:r>
            <a:endParaRPr lang="en-US"/>
          </a:p>
        </p:txBody>
      </p:sp>
      <p:sp>
        <p:nvSpPr>
          <p:cNvPr id="10553" name="n02">
            <a:extLst>
              <a:ext uri="{FF2B5EF4-FFF2-40B4-BE49-F238E27FC236}">
                <a16:creationId xmlns:a16="http://schemas.microsoft.com/office/drawing/2014/main" id="{35CCD946-6D75-AC96-0119-03E4F00F237E}"/>
              </a:ext>
            </a:extLst>
          </p:cNvPr>
          <p:cNvSpPr/>
          <p:nvPr/>
        </p:nvSpPr>
        <p:spPr>
          <a:xfrm>
            <a:off x="4350000" y="2470080"/>
            <a:ext cx="5600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17865"/>
                </a:solidFill>
                <a:effectLst/>
                <a:latin typeface="Calibri" panose="020F0502020204030204" pitchFamily="34" charset="0"/>
              </a:rPr>
              <a:t>02</a:t>
            </a:r>
          </a:p>
          <a:p>
            <a:pPr algn="l">
              <a:buNone/>
            </a:pPr>
            <a:r>
              <a:rPr lang="en-US" sz="100">
                <a:effectLst/>
              </a:rPr>
              <a:t> </a:t>
            </a:r>
            <a:endParaRPr lang="en-US"/>
          </a:p>
        </p:txBody>
      </p:sp>
      <p:sp>
        <p:nvSpPr>
          <p:cNvPr id="10568" name="h02">
            <a:extLst>
              <a:ext uri="{FF2B5EF4-FFF2-40B4-BE49-F238E27FC236}">
                <a16:creationId xmlns:a16="http://schemas.microsoft.com/office/drawing/2014/main" id="{458068BC-23CD-84BF-3739-651C5D7B915F}"/>
              </a:ext>
            </a:extLst>
          </p:cNvPr>
          <p:cNvSpPr/>
          <p:nvPr/>
        </p:nvSpPr>
        <p:spPr>
          <a:xfrm>
            <a:off x="4970000" y="2470080"/>
            <a:ext cx="676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Bridge: one Container App replica</a:t>
            </a:r>
          </a:p>
          <a:p>
            <a:pPr algn="l">
              <a:buNone/>
            </a:pPr>
            <a:r>
              <a:rPr lang="en-US" sz="100">
                <a:effectLst/>
              </a:rPr>
              <a:t> </a:t>
            </a:r>
            <a:endParaRPr lang="en-US"/>
          </a:p>
        </p:txBody>
      </p:sp>
      <p:sp>
        <p:nvSpPr>
          <p:cNvPr id="10584" name="b02">
            <a:extLst>
              <a:ext uri="{FF2B5EF4-FFF2-40B4-BE49-F238E27FC236}">
                <a16:creationId xmlns:a16="http://schemas.microsoft.com/office/drawing/2014/main" id="{F2FE2C42-0A8F-062F-9908-C55094D70CF4}"/>
              </a:ext>
            </a:extLst>
          </p:cNvPr>
          <p:cNvSpPr/>
          <p:nvPr/>
        </p:nvSpPr>
        <p:spPr>
          <a:xfrm>
            <a:off x="4970000" y="2830080"/>
            <a:ext cx="6760000" cy="97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Azure Container App, single replica — one connection, per NR guidance. ~$14/month at 0.25 vCPU / 0.5 GiB after free grant (list-price estimate) vs Functions Premium/Flex always-ready ~$80–150+/month. Functions only for the daily reference-file pull.</a:t>
            </a:r>
          </a:p>
          <a:p>
            <a:pPr algn="l">
              <a:buNone/>
            </a:pPr>
            <a:r>
              <a:rPr lang="en-US" sz="100">
                <a:effectLst/>
              </a:rPr>
              <a:t> </a:t>
            </a:r>
            <a:endParaRPr lang="en-US"/>
          </a:p>
        </p:txBody>
      </p:sp>
      <p:sp>
        <p:nvSpPr>
          <p:cNvPr id="10601" name="n03">
            <a:extLst>
              <a:ext uri="{FF2B5EF4-FFF2-40B4-BE49-F238E27FC236}">
                <a16:creationId xmlns:a16="http://schemas.microsoft.com/office/drawing/2014/main" id="{9F45ED1A-6840-DC79-B542-47886BF10D9E}"/>
              </a:ext>
            </a:extLst>
          </p:cNvPr>
          <p:cNvSpPr/>
          <p:nvPr/>
        </p:nvSpPr>
        <p:spPr>
          <a:xfrm>
            <a:off x="4350000" y="3903520"/>
            <a:ext cx="5600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17865"/>
                </a:solidFill>
                <a:effectLst/>
                <a:latin typeface="Calibri" panose="020F0502020204030204" pitchFamily="34" charset="0"/>
              </a:rPr>
              <a:t>03</a:t>
            </a:r>
          </a:p>
          <a:p>
            <a:pPr algn="l">
              <a:buNone/>
            </a:pPr>
            <a:r>
              <a:rPr lang="en-US" sz="100">
                <a:effectLst/>
              </a:rPr>
              <a:t> </a:t>
            </a:r>
            <a:endParaRPr lang="en-US"/>
          </a:p>
        </p:txBody>
      </p:sp>
      <p:sp>
        <p:nvSpPr>
          <p:cNvPr id="10619" name="h03">
            <a:extLst>
              <a:ext uri="{FF2B5EF4-FFF2-40B4-BE49-F238E27FC236}">
                <a16:creationId xmlns:a16="http://schemas.microsoft.com/office/drawing/2014/main" id="{E0F92076-D892-8316-D4F0-FB909D56CB44}"/>
              </a:ext>
            </a:extLst>
          </p:cNvPr>
          <p:cNvSpPr/>
          <p:nvPr/>
        </p:nvSpPr>
        <p:spPr>
          <a:xfrm>
            <a:off x="4970000" y="3903520"/>
            <a:ext cx="676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Preview caveats</a:t>
            </a:r>
          </a:p>
          <a:p>
            <a:pPr algn="l">
              <a:buNone/>
            </a:pPr>
            <a:r>
              <a:rPr lang="en-US" sz="100">
                <a:effectLst/>
              </a:rPr>
              <a:t> </a:t>
            </a:r>
            <a:endParaRPr lang="en-US"/>
          </a:p>
        </p:txBody>
      </p:sp>
      <p:sp>
        <p:nvSpPr>
          <p:cNvPr id="10638" name="b03">
            <a:extLst>
              <a:ext uri="{FF2B5EF4-FFF2-40B4-BE49-F238E27FC236}">
                <a16:creationId xmlns:a16="http://schemas.microsoft.com/office/drawing/2014/main" id="{103FF6E1-74DE-D058-3D4F-473F05B772A5}"/>
              </a:ext>
            </a:extLst>
          </p:cNvPr>
          <p:cNvSpPr/>
          <p:nvPr/>
        </p:nvSpPr>
        <p:spPr>
          <a:xfrm>
            <a:off x="4970000" y="4263520"/>
            <a:ext cx="6760000" cy="76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RDM Train Movements is beta, no SLA. Foundry's Fabric IQ tool is preview; the old data agent tool retires 6 Nov 2026. Rayfin has no Kusto connector yet, so the map reads a semantic model.</a:t>
            </a:r>
            <a:endParaRPr lang="en-US"/>
          </a:p>
        </p:txBody>
      </p:sp>
      <p:sp>
        <p:nvSpPr>
          <p:cNvPr id="10658" name="n04">
            <a:extLst>
              <a:ext uri="{FF2B5EF4-FFF2-40B4-BE49-F238E27FC236}">
                <a16:creationId xmlns:a16="http://schemas.microsoft.com/office/drawing/2014/main" id="{AF2F1FD8-EBCF-57F9-5223-82CEDF941875}"/>
              </a:ext>
            </a:extLst>
          </p:cNvPr>
          <p:cNvSpPr/>
          <p:nvPr/>
        </p:nvSpPr>
        <p:spPr>
          <a:xfrm>
            <a:off x="4350000" y="5123600"/>
            <a:ext cx="5600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17865"/>
                </a:solidFill>
                <a:effectLst/>
                <a:latin typeface="Calibri" panose="020F0502020204030204" pitchFamily="34" charset="0"/>
              </a:rPr>
              <a:t>04</a:t>
            </a:r>
          </a:p>
          <a:p>
            <a:pPr algn="l">
              <a:buNone/>
            </a:pPr>
            <a:r>
              <a:rPr lang="en-US" sz="100">
                <a:effectLst/>
              </a:rPr>
              <a:t> </a:t>
            </a:r>
            <a:endParaRPr lang="en-US"/>
          </a:p>
        </p:txBody>
      </p:sp>
      <p:sp>
        <p:nvSpPr>
          <p:cNvPr id="10679" name="h04">
            <a:extLst>
              <a:ext uri="{FF2B5EF4-FFF2-40B4-BE49-F238E27FC236}">
                <a16:creationId xmlns:a16="http://schemas.microsoft.com/office/drawing/2014/main" id="{9AB579B8-A4DF-2FCF-F262-9C2F4B77E075}"/>
              </a:ext>
            </a:extLst>
          </p:cNvPr>
          <p:cNvSpPr/>
          <p:nvPr/>
        </p:nvSpPr>
        <p:spPr>
          <a:xfrm>
            <a:off x="4970000" y="5123600"/>
            <a:ext cx="676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Licensing</a:t>
            </a:r>
          </a:p>
          <a:p>
            <a:pPr algn="l">
              <a:buNone/>
            </a:pPr>
            <a:r>
              <a:rPr lang="en-US" sz="100">
                <a:effectLst/>
              </a:rPr>
              <a:t> </a:t>
            </a:r>
            <a:endParaRPr lang="en-US"/>
          </a:p>
        </p:txBody>
      </p:sp>
      <p:sp>
        <p:nvSpPr>
          <p:cNvPr id="10701" name="b04">
            <a:extLst>
              <a:ext uri="{FF2B5EF4-FFF2-40B4-BE49-F238E27FC236}">
                <a16:creationId xmlns:a16="http://schemas.microsoft.com/office/drawing/2014/main" id="{444429CB-31CE-E8B8-CEB0-F6DDF9DF9C0F}"/>
              </a:ext>
            </a:extLst>
          </p:cNvPr>
          <p:cNvSpPr/>
          <p:nvPr/>
        </p:nvSpPr>
        <p:spPr>
          <a:xfrm>
            <a:off x="4970000" y="5483600"/>
            <a:ext cx="6760000" cy="54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Attribute the data source. The app may not be called “official” or use Network Rail branding. NROD is capped at 1,000 users.</a:t>
            </a:r>
          </a:p>
          <a:p>
            <a:pPr algn="l">
              <a:buNone/>
            </a:pPr>
            <a:r>
              <a:rPr lang="en-US" sz="100">
                <a:effectLst/>
              </a:rPr>
              <a:t> </a:t>
            </a:r>
            <a:endParaRPr lang="en-US"/>
          </a:p>
        </p:txBody>
      </p:sp>
      <p:sp>
        <p:nvSpPr>
          <p:cNvPr id="11441" name="fig1b">
            <a:extLst>
              <a:ext uri="{FF2B5EF4-FFF2-40B4-BE49-F238E27FC236}">
                <a16:creationId xmlns:a16="http://schemas.microsoft.com/office/drawing/2014/main" id="{0A60433D-C37E-9D4F-93D8-3A6CDE125098}"/>
              </a:ext>
            </a:extLst>
          </p:cNvPr>
          <p:cNvSpPr/>
          <p:nvPr/>
        </p:nvSpPr>
        <p:spPr>
          <a:xfrm>
            <a:off x="700000" y="1500000"/>
            <a:ext cx="3050000" cy="15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600" b="1">
                <a:solidFill>
                  <a:srgbClr val="5FD3C0"/>
                </a:solidFill>
                <a:effectLst/>
                <a:latin typeface="Calibri" panose="020F0502020204030204" pitchFamily="34" charset="0"/>
              </a:rPr>
              <a:t>~6,000</a:t>
            </a:r>
          </a:p>
          <a:p>
            <a:pPr algn="l">
              <a:buNone/>
            </a:pPr>
            <a:r>
              <a:rPr lang="en-US" sz="1400">
                <a:solidFill>
                  <a:srgbClr val="FFFFFF"/>
                </a:solidFill>
                <a:effectLst/>
                <a:latin typeface="Calibri" panose="020F0502020204030204" pitchFamily="34" charset="0"/>
              </a:rPr>
              <a:t>msgs/min on Train Describer (TD) vs ~600 for TRUST — the feed that still needs the bridge</a:t>
            </a:r>
            <a:endParaRPr lang="en-US"/>
          </a:p>
        </p:txBody>
      </p:sp>
      <p:sp>
        <p:nvSpPr>
          <p:cNvPr id="11444" name="fig2b">
            <a:extLst>
              <a:ext uri="{FF2B5EF4-FFF2-40B4-BE49-F238E27FC236}">
                <a16:creationId xmlns:a16="http://schemas.microsoft.com/office/drawing/2014/main" id="{C6890394-197C-319D-6CE8-239B6B0AA41F}"/>
              </a:ext>
            </a:extLst>
          </p:cNvPr>
          <p:cNvSpPr/>
          <p:nvPr/>
        </p:nvSpPr>
        <p:spPr>
          <a:xfrm>
            <a:off x="700000" y="3550000"/>
            <a:ext cx="3050000" cy="2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600" b="1">
                <a:solidFill>
                  <a:srgbClr val="5FD3C0"/>
                </a:solidFill>
                <a:effectLst/>
                <a:latin typeface="Calibri" panose="020F0502020204030204" pitchFamily="34" charset="0"/>
              </a:rPr>
              <a:t>~$14/month</a:t>
            </a:r>
          </a:p>
          <a:p>
            <a:pPr algn="l">
              <a:buNone/>
            </a:pPr>
            <a:r>
              <a:rPr lang="en-US" sz="1400">
                <a:solidFill>
                  <a:srgbClr val="FFFFFF"/>
                </a:solidFill>
                <a:effectLst/>
                <a:latin typeface="Calibri" panose="020F0502020204030204" pitchFamily="34" charset="0"/>
              </a:rPr>
              <a:t>Container App bridge at 0.25 vCPU / 0.5 GiB after free grant (list-price estimate) vs ~$80–150+/month for Functions Premium/Flex always-ready</a:t>
            </a:r>
            <a:endParaRPr lang="en-US"/>
          </a:p>
        </p:txBody>
      </p:sp>
    </p:spTree>
    <p:extLst>
      <p:ext uri="{BB962C8B-B14F-4D97-AF65-F5344CB8AC3E}">
        <p14:creationId xmlns:p14="http://schemas.microsoft.com/office/powerpoint/2010/main" val="1100975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0724" name="plan-title">
            <a:extLst>
              <a:ext uri="{FF2B5EF4-FFF2-40B4-BE49-F238E27FC236}">
                <a16:creationId xmlns:a16="http://schemas.microsoft.com/office/drawing/2014/main" id="{BAEE0AE4-FF5A-1205-A69E-DCC190E9439D}"/>
              </a:ext>
            </a:extLst>
          </p:cNvPr>
          <p:cNvSpPr/>
          <p:nvPr/>
        </p:nvSpPr>
        <p:spPr>
          <a:xfrm>
            <a:off x="457200" y="380000"/>
            <a:ext cx="800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Phased four-week PoC plan</a:t>
            </a:r>
          </a:p>
          <a:p>
            <a:pPr algn="l">
              <a:buNone/>
            </a:pPr>
            <a:r>
              <a:rPr lang="en-US" sz="100">
                <a:effectLst/>
              </a:rPr>
              <a:t> </a:t>
            </a:r>
            <a:endParaRPr lang="en-US"/>
          </a:p>
        </p:txBody>
      </p:sp>
      <p:sp>
        <p:nvSpPr>
          <p:cNvPr id="10748" name="rail">
            <a:extLst>
              <a:ext uri="{FF2B5EF4-FFF2-40B4-BE49-F238E27FC236}">
                <a16:creationId xmlns:a16="http://schemas.microsoft.com/office/drawing/2014/main" id="{50671E42-7E4A-7543-6865-B90475D4019B}"/>
              </a:ext>
            </a:extLst>
          </p:cNvPr>
          <p:cNvSpPr/>
          <p:nvPr/>
        </p:nvSpPr>
        <p:spPr>
          <a:xfrm>
            <a:off x="457200" y="2250000"/>
            <a:ext cx="11277600" cy="19050"/>
          </a:xfrm>
          <a:prstGeom prst="rect">
            <a:avLst/>
          </a:prstGeom>
          <a:solidFill>
            <a:srgbClr val="9FB0C2"/>
          </a:solidFill>
          <a:ln w="3175">
            <a:solidFill>
              <a:srgbClr val="9FB0C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73" name="wk0">
            <a:extLst>
              <a:ext uri="{FF2B5EF4-FFF2-40B4-BE49-F238E27FC236}">
                <a16:creationId xmlns:a16="http://schemas.microsoft.com/office/drawing/2014/main" id="{A1A9CEA3-CAB3-4687-ACCA-EEEB11C90D2C}"/>
              </a:ext>
            </a:extLst>
          </p:cNvPr>
          <p:cNvSpPr/>
          <p:nvPr/>
        </p:nvSpPr>
        <p:spPr>
          <a:xfrm>
            <a:off x="457200" y="1730000"/>
            <a:ext cx="26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117865"/>
                </a:solidFill>
                <a:effectLst/>
                <a:latin typeface="Calibri" panose="020F0502020204030204" pitchFamily="34" charset="0"/>
              </a:rPr>
              <a:t>WEEK 1</a:t>
            </a:r>
          </a:p>
          <a:p>
            <a:pPr algn="l">
              <a:buNone/>
            </a:pPr>
            <a:r>
              <a:rPr lang="en-US" sz="100">
                <a:effectLst/>
              </a:rPr>
              <a:t> </a:t>
            </a:r>
            <a:endParaRPr lang="en-US"/>
          </a:p>
        </p:txBody>
      </p:sp>
      <p:sp>
        <p:nvSpPr>
          <p:cNvPr id="10799" name="dot0">
            <a:extLst>
              <a:ext uri="{FF2B5EF4-FFF2-40B4-BE49-F238E27FC236}">
                <a16:creationId xmlns:a16="http://schemas.microsoft.com/office/drawing/2014/main" id="{88ED9F55-4449-2D92-4501-152A8C1DB76E}"/>
              </a:ext>
            </a:extLst>
          </p:cNvPr>
          <p:cNvSpPr/>
          <p:nvPr/>
        </p:nvSpPr>
        <p:spPr>
          <a:xfrm>
            <a:off x="457200" y="2149525"/>
            <a:ext cx="220000" cy="220000"/>
          </a:xfrm>
          <a:prstGeom prst="ellipse">
            <a:avLst/>
          </a:prstGeom>
          <a:solidFill>
            <a:srgbClr val="117865"/>
          </a:solidFill>
          <a:ln w="25400">
            <a:solidFill>
              <a:srgbClr val="F5F7F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26" name="card0">
            <a:extLst>
              <a:ext uri="{FF2B5EF4-FFF2-40B4-BE49-F238E27FC236}">
                <a16:creationId xmlns:a16="http://schemas.microsoft.com/office/drawing/2014/main" id="{2B1DB43A-987E-EC7F-EFC6-2073E66202E9}"/>
              </a:ext>
            </a:extLst>
          </p:cNvPr>
          <p:cNvSpPr/>
          <p:nvPr/>
        </p:nvSpPr>
        <p:spPr>
          <a:xfrm>
            <a:off x="457200" y="2650000"/>
            <a:ext cx="2600000" cy="2600000"/>
          </a:xfrm>
          <a:prstGeom prst="rect">
            <a:avLst/>
          </a:prstGeom>
          <a:solidFill>
            <a:srgbClr val="FFFFFF"/>
          </a:solidFill>
          <a:ln w="3175">
            <a:solidFill>
              <a:srgbClr val="FFFFFF"/>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54" name="ph0">
            <a:extLst>
              <a:ext uri="{FF2B5EF4-FFF2-40B4-BE49-F238E27FC236}">
                <a16:creationId xmlns:a16="http://schemas.microsoft.com/office/drawing/2014/main" id="{133E5E85-99D3-37FB-9B1A-5CF625FC927C}"/>
              </a:ext>
            </a:extLst>
          </p:cNvPr>
          <p:cNvSpPr/>
          <p:nvPr/>
        </p:nvSpPr>
        <p:spPr>
          <a:xfrm>
            <a:off x="637200" y="2850000"/>
            <a:ext cx="224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0B1F3A"/>
                </a:solidFill>
                <a:effectLst/>
                <a:latin typeface="Calibri" panose="020F0502020204030204" pitchFamily="34" charset="0"/>
              </a:rPr>
              <a:t>Data in</a:t>
            </a:r>
          </a:p>
          <a:p>
            <a:pPr algn="l">
              <a:buNone/>
            </a:pPr>
            <a:r>
              <a:rPr lang="en-US" sz="100">
                <a:effectLst/>
              </a:rPr>
              <a:t> </a:t>
            </a:r>
            <a:endParaRPr lang="en-US"/>
          </a:p>
        </p:txBody>
      </p:sp>
      <p:sp>
        <p:nvSpPr>
          <p:cNvPr id="10913" name="wk1">
            <a:extLst>
              <a:ext uri="{FF2B5EF4-FFF2-40B4-BE49-F238E27FC236}">
                <a16:creationId xmlns:a16="http://schemas.microsoft.com/office/drawing/2014/main" id="{1EDAB0D8-6A3C-0169-3356-7AD1A618B779}"/>
              </a:ext>
            </a:extLst>
          </p:cNvPr>
          <p:cNvSpPr/>
          <p:nvPr/>
        </p:nvSpPr>
        <p:spPr>
          <a:xfrm>
            <a:off x="3284133" y="1730000"/>
            <a:ext cx="26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117865"/>
                </a:solidFill>
                <a:effectLst/>
                <a:latin typeface="Calibri" panose="020F0502020204030204" pitchFamily="34" charset="0"/>
              </a:rPr>
              <a:t>WEEK 2</a:t>
            </a:r>
          </a:p>
          <a:p>
            <a:pPr algn="l">
              <a:buNone/>
            </a:pPr>
            <a:r>
              <a:rPr lang="en-US" sz="100">
                <a:effectLst/>
              </a:rPr>
              <a:t> </a:t>
            </a:r>
            <a:endParaRPr lang="en-US"/>
          </a:p>
        </p:txBody>
      </p:sp>
      <p:sp>
        <p:nvSpPr>
          <p:cNvPr id="10944" name="dot1">
            <a:extLst>
              <a:ext uri="{FF2B5EF4-FFF2-40B4-BE49-F238E27FC236}">
                <a16:creationId xmlns:a16="http://schemas.microsoft.com/office/drawing/2014/main" id="{DB21A634-99A3-8544-18D2-113AB250804E}"/>
              </a:ext>
            </a:extLst>
          </p:cNvPr>
          <p:cNvSpPr/>
          <p:nvPr/>
        </p:nvSpPr>
        <p:spPr>
          <a:xfrm>
            <a:off x="3284133" y="2149525"/>
            <a:ext cx="220000" cy="220000"/>
          </a:xfrm>
          <a:prstGeom prst="ellipse">
            <a:avLst/>
          </a:prstGeom>
          <a:solidFill>
            <a:srgbClr val="0B1F3A"/>
          </a:solidFill>
          <a:ln w="25400">
            <a:solidFill>
              <a:srgbClr val="F5F7F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76" name="card1">
            <a:extLst>
              <a:ext uri="{FF2B5EF4-FFF2-40B4-BE49-F238E27FC236}">
                <a16:creationId xmlns:a16="http://schemas.microsoft.com/office/drawing/2014/main" id="{1E28DAE6-4CFA-3964-BDAC-0836B81B59DD}"/>
              </a:ext>
            </a:extLst>
          </p:cNvPr>
          <p:cNvSpPr/>
          <p:nvPr/>
        </p:nvSpPr>
        <p:spPr>
          <a:xfrm>
            <a:off x="3284133" y="2650000"/>
            <a:ext cx="2600000" cy="2600000"/>
          </a:xfrm>
          <a:prstGeom prst="rect">
            <a:avLst/>
          </a:prstGeom>
          <a:solidFill>
            <a:srgbClr val="FFFFFF"/>
          </a:solidFill>
          <a:ln w="3175">
            <a:solidFill>
              <a:srgbClr val="FFFFFF"/>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09" name="ph1">
            <a:extLst>
              <a:ext uri="{FF2B5EF4-FFF2-40B4-BE49-F238E27FC236}">
                <a16:creationId xmlns:a16="http://schemas.microsoft.com/office/drawing/2014/main" id="{5EBF9F98-9D33-1413-5014-9FFC6C001719}"/>
              </a:ext>
            </a:extLst>
          </p:cNvPr>
          <p:cNvSpPr/>
          <p:nvPr/>
        </p:nvSpPr>
        <p:spPr>
          <a:xfrm>
            <a:off x="3464133" y="2850000"/>
            <a:ext cx="224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0B1F3A"/>
                </a:solidFill>
                <a:effectLst/>
                <a:latin typeface="Calibri" panose="020F0502020204030204" pitchFamily="34" charset="0"/>
              </a:rPr>
              <a:t>Live view</a:t>
            </a:r>
          </a:p>
          <a:p>
            <a:pPr algn="l">
              <a:buNone/>
            </a:pPr>
            <a:r>
              <a:rPr lang="en-US" sz="100">
                <a:effectLst/>
              </a:rPr>
              <a:t> </a:t>
            </a:r>
            <a:endParaRPr lang="en-US"/>
          </a:p>
        </p:txBody>
      </p:sp>
      <p:sp>
        <p:nvSpPr>
          <p:cNvPr id="11078" name="wk2">
            <a:extLst>
              <a:ext uri="{FF2B5EF4-FFF2-40B4-BE49-F238E27FC236}">
                <a16:creationId xmlns:a16="http://schemas.microsoft.com/office/drawing/2014/main" id="{EBBC0AAC-8614-3463-25A8-C2D2D0934B2B}"/>
              </a:ext>
            </a:extLst>
          </p:cNvPr>
          <p:cNvSpPr/>
          <p:nvPr/>
        </p:nvSpPr>
        <p:spPr>
          <a:xfrm>
            <a:off x="6111066" y="1730000"/>
            <a:ext cx="26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117865"/>
                </a:solidFill>
                <a:effectLst/>
                <a:latin typeface="Calibri" panose="020F0502020204030204" pitchFamily="34" charset="0"/>
              </a:rPr>
              <a:t>WEEK 3</a:t>
            </a:r>
          </a:p>
          <a:p>
            <a:pPr algn="l">
              <a:buNone/>
            </a:pPr>
            <a:r>
              <a:rPr lang="en-US" sz="100">
                <a:effectLst/>
              </a:rPr>
              <a:t> </a:t>
            </a:r>
            <a:endParaRPr lang="en-US"/>
          </a:p>
        </p:txBody>
      </p:sp>
      <p:sp>
        <p:nvSpPr>
          <p:cNvPr id="11114" name="dot2">
            <a:extLst>
              <a:ext uri="{FF2B5EF4-FFF2-40B4-BE49-F238E27FC236}">
                <a16:creationId xmlns:a16="http://schemas.microsoft.com/office/drawing/2014/main" id="{DFF3E5BC-AEA6-B531-F8D5-33D3F7E912E8}"/>
              </a:ext>
            </a:extLst>
          </p:cNvPr>
          <p:cNvSpPr/>
          <p:nvPr/>
        </p:nvSpPr>
        <p:spPr>
          <a:xfrm>
            <a:off x="6111066" y="2149525"/>
            <a:ext cx="220000" cy="220000"/>
          </a:xfrm>
          <a:prstGeom prst="ellipse">
            <a:avLst/>
          </a:prstGeom>
          <a:solidFill>
            <a:srgbClr val="0B1F3A"/>
          </a:solidFill>
          <a:ln w="25400">
            <a:solidFill>
              <a:srgbClr val="F5F7F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51" name="card2">
            <a:extLst>
              <a:ext uri="{FF2B5EF4-FFF2-40B4-BE49-F238E27FC236}">
                <a16:creationId xmlns:a16="http://schemas.microsoft.com/office/drawing/2014/main" id="{8DF34CD8-7511-B04B-2CAA-88EE5E83BE62}"/>
              </a:ext>
            </a:extLst>
          </p:cNvPr>
          <p:cNvSpPr/>
          <p:nvPr/>
        </p:nvSpPr>
        <p:spPr>
          <a:xfrm>
            <a:off x="6111066" y="2650000"/>
            <a:ext cx="2600000" cy="2600000"/>
          </a:xfrm>
          <a:prstGeom prst="rect">
            <a:avLst/>
          </a:prstGeom>
          <a:solidFill>
            <a:srgbClr val="FFFFFF"/>
          </a:solidFill>
          <a:ln w="3175">
            <a:solidFill>
              <a:srgbClr val="FFFFFF"/>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89" name="ph2">
            <a:extLst>
              <a:ext uri="{FF2B5EF4-FFF2-40B4-BE49-F238E27FC236}">
                <a16:creationId xmlns:a16="http://schemas.microsoft.com/office/drawing/2014/main" id="{597BB706-0563-10E8-6A16-4796E76306B3}"/>
              </a:ext>
            </a:extLst>
          </p:cNvPr>
          <p:cNvSpPr/>
          <p:nvPr/>
        </p:nvSpPr>
        <p:spPr>
          <a:xfrm>
            <a:off x="6291066" y="2850000"/>
            <a:ext cx="224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0B1F3A"/>
                </a:solidFill>
                <a:effectLst/>
                <a:latin typeface="Calibri" panose="020F0502020204030204" pitchFamily="34" charset="0"/>
              </a:rPr>
              <a:t>AI</a:t>
            </a:r>
          </a:p>
          <a:p>
            <a:pPr algn="l">
              <a:buNone/>
            </a:pPr>
            <a:r>
              <a:rPr lang="en-US" sz="100">
                <a:effectLst/>
              </a:rPr>
              <a:t> </a:t>
            </a:r>
            <a:endParaRPr lang="en-US"/>
          </a:p>
        </p:txBody>
      </p:sp>
      <p:sp>
        <p:nvSpPr>
          <p:cNvPr id="11268" name="wk3">
            <a:extLst>
              <a:ext uri="{FF2B5EF4-FFF2-40B4-BE49-F238E27FC236}">
                <a16:creationId xmlns:a16="http://schemas.microsoft.com/office/drawing/2014/main" id="{831E78B2-614E-8B1C-EA62-4E00CF271A8F}"/>
              </a:ext>
            </a:extLst>
          </p:cNvPr>
          <p:cNvSpPr/>
          <p:nvPr/>
        </p:nvSpPr>
        <p:spPr>
          <a:xfrm>
            <a:off x="8937999" y="1730000"/>
            <a:ext cx="26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117865"/>
                </a:solidFill>
                <a:effectLst/>
                <a:latin typeface="Calibri" panose="020F0502020204030204" pitchFamily="34" charset="0"/>
              </a:rPr>
              <a:t>WEEK 4</a:t>
            </a:r>
          </a:p>
          <a:p>
            <a:pPr algn="l">
              <a:buNone/>
            </a:pPr>
            <a:r>
              <a:rPr lang="en-US" sz="100">
                <a:effectLst/>
              </a:rPr>
              <a:t> </a:t>
            </a:r>
            <a:endParaRPr lang="en-US"/>
          </a:p>
        </p:txBody>
      </p:sp>
      <p:sp>
        <p:nvSpPr>
          <p:cNvPr id="11309" name="dot3">
            <a:extLst>
              <a:ext uri="{FF2B5EF4-FFF2-40B4-BE49-F238E27FC236}">
                <a16:creationId xmlns:a16="http://schemas.microsoft.com/office/drawing/2014/main" id="{F8796FA6-8965-C2E8-16A0-F6DE0B283C71}"/>
              </a:ext>
            </a:extLst>
          </p:cNvPr>
          <p:cNvSpPr/>
          <p:nvPr/>
        </p:nvSpPr>
        <p:spPr>
          <a:xfrm>
            <a:off x="8937999" y="2149525"/>
            <a:ext cx="220000" cy="220000"/>
          </a:xfrm>
          <a:prstGeom prst="ellipse">
            <a:avLst/>
          </a:prstGeom>
          <a:solidFill>
            <a:srgbClr val="0B1F3A"/>
          </a:solidFill>
          <a:ln w="25400">
            <a:solidFill>
              <a:srgbClr val="F5F7F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51" name="card3">
            <a:extLst>
              <a:ext uri="{FF2B5EF4-FFF2-40B4-BE49-F238E27FC236}">
                <a16:creationId xmlns:a16="http://schemas.microsoft.com/office/drawing/2014/main" id="{BC915F6A-81A4-95D9-0A37-E5325E078DDA}"/>
              </a:ext>
            </a:extLst>
          </p:cNvPr>
          <p:cNvSpPr/>
          <p:nvPr/>
        </p:nvSpPr>
        <p:spPr>
          <a:xfrm>
            <a:off x="8937999" y="2650000"/>
            <a:ext cx="2600000" cy="2600000"/>
          </a:xfrm>
          <a:prstGeom prst="rect">
            <a:avLst/>
          </a:prstGeom>
          <a:solidFill>
            <a:srgbClr val="FFFFFF"/>
          </a:solidFill>
          <a:ln w="3175">
            <a:solidFill>
              <a:srgbClr val="FFFFFF"/>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94" name="ph3">
            <a:extLst>
              <a:ext uri="{FF2B5EF4-FFF2-40B4-BE49-F238E27FC236}">
                <a16:creationId xmlns:a16="http://schemas.microsoft.com/office/drawing/2014/main" id="{5EE5266F-49BD-2FCF-3CCF-6CE02DDEB453}"/>
              </a:ext>
            </a:extLst>
          </p:cNvPr>
          <p:cNvSpPr/>
          <p:nvPr/>
        </p:nvSpPr>
        <p:spPr>
          <a:xfrm>
            <a:off x="9117999" y="2850000"/>
            <a:ext cx="224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0B1F3A"/>
                </a:solidFill>
                <a:effectLst/>
                <a:latin typeface="Calibri" panose="020F0502020204030204" pitchFamily="34" charset="0"/>
              </a:rPr>
              <a:t>Rayfin app</a:t>
            </a:r>
          </a:p>
          <a:p>
            <a:pPr algn="l">
              <a:buNone/>
            </a:pPr>
            <a:r>
              <a:rPr lang="en-US" sz="100">
                <a:effectLst/>
              </a:rPr>
              <a:t> </a:t>
            </a:r>
            <a:endParaRPr lang="en-US"/>
          </a:p>
        </p:txBody>
      </p:sp>
      <p:sp>
        <p:nvSpPr>
          <p:cNvPr id="11453" name="pbody1">
            <a:extLst>
              <a:ext uri="{FF2B5EF4-FFF2-40B4-BE49-F238E27FC236}">
                <a16:creationId xmlns:a16="http://schemas.microsoft.com/office/drawing/2014/main" id="{6836F355-5486-1C47-3292-8D57B37CC346}"/>
              </a:ext>
            </a:extLst>
          </p:cNvPr>
          <p:cNvSpPr/>
          <p:nvPr/>
        </p:nvSpPr>
        <p:spPr>
          <a:xfrm>
            <a:off x="3464133" y="3450000"/>
            <a:ext cx="2240000" cy="823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  Real-Time Dashboard</a:t>
            </a:r>
          </a:p>
          <a:p>
            <a:pPr algn="l">
              <a:buNone/>
            </a:pPr>
            <a:r>
              <a:rPr lang="en-US" sz="1400">
                <a:solidFill>
                  <a:srgbClr val="3D4F66"/>
                </a:solidFill>
                <a:effectLst/>
                <a:latin typeface="Calibri" panose="020F0502020204030204" pitchFamily="34" charset="0"/>
              </a:rPr>
              <a:t>•  Power BI report</a:t>
            </a:r>
          </a:p>
          <a:p>
            <a:pPr algn="l">
              <a:buNone/>
            </a:pPr>
            <a:r>
              <a:rPr lang="en-US" sz="1400">
                <a:solidFill>
                  <a:srgbClr val="3D4F66"/>
                </a:solidFill>
                <a:effectLst/>
                <a:latin typeface="Calibri" panose="020F0502020204030204" pitchFamily="34" charset="0"/>
              </a:rPr>
              <a:t>•  Activator alerts</a:t>
            </a:r>
            <a:endParaRPr lang="en-US"/>
          </a:p>
        </p:txBody>
      </p:sp>
      <p:sp>
        <p:nvSpPr>
          <p:cNvPr id="45430" name="Rectangle 45429">
            <a:extLst>
              <a:ext uri="{FF2B5EF4-FFF2-40B4-BE49-F238E27FC236}">
                <a16:creationId xmlns:a16="http://schemas.microsoft.com/office/drawing/2014/main" id="{93B7D176-0EC9-C355-6EBE-9666059CB6B3}"/>
              </a:ext>
            </a:extLst>
          </p:cNvPr>
          <p:cNvSpPr/>
          <p:nvPr/>
        </p:nvSpPr>
        <p:spPr>
          <a:xfrm>
            <a:off x="637200" y="3450000"/>
            <a:ext cx="2240000" cy="1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  RDM movements into Eventhouse</a:t>
            </a:r>
          </a:p>
          <a:p>
            <a:pPr algn="l">
              <a:buNone/>
            </a:pPr>
            <a:r>
              <a:rPr lang="en-US" sz="1400">
                <a:solidFill>
                  <a:srgbClr val="3D4F66"/>
                </a:solidFill>
                <a:effectLst/>
                <a:latin typeface="Calibri" panose="020F0502020204030204" pitchFamily="34" charset="0"/>
              </a:rPr>
              <a:t>•  CORPUS and NaPTAN reference data</a:t>
            </a:r>
            <a:endParaRPr lang="en-US"/>
          </a:p>
        </p:txBody>
      </p:sp>
      <p:sp>
        <p:nvSpPr>
          <p:cNvPr id="45432" name="Rectangle 45431">
            <a:extLst>
              <a:ext uri="{FF2B5EF4-FFF2-40B4-BE49-F238E27FC236}">
                <a16:creationId xmlns:a16="http://schemas.microsoft.com/office/drawing/2014/main" id="{E94EBDFD-07E0-51D3-AB09-BD0A89903BFB}"/>
              </a:ext>
            </a:extLst>
          </p:cNvPr>
          <p:cNvSpPr/>
          <p:nvPr/>
        </p:nvSpPr>
        <p:spPr>
          <a:xfrm>
            <a:off x="6291066" y="3450000"/>
            <a:ext cx="2240000" cy="1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  Fabric data agent with example KQL</a:t>
            </a:r>
          </a:p>
          <a:p>
            <a:pPr algn="l">
              <a:buNone/>
            </a:pPr>
            <a:r>
              <a:rPr lang="en-US" sz="1400">
                <a:solidFill>
                  <a:srgbClr val="3D4F66"/>
                </a:solidFill>
                <a:effectLst/>
                <a:latin typeface="Calibri" panose="020F0502020204030204" pitchFamily="34" charset="0"/>
              </a:rPr>
              <a:t>•  Foundry agent via Fabric IQ</a:t>
            </a:r>
            <a:endParaRPr lang="en-US"/>
          </a:p>
        </p:txBody>
      </p:sp>
      <p:sp>
        <p:nvSpPr>
          <p:cNvPr id="45435" name="Rectangle 45434">
            <a:extLst>
              <a:ext uri="{FF2B5EF4-FFF2-40B4-BE49-F238E27FC236}">
                <a16:creationId xmlns:a16="http://schemas.microsoft.com/office/drawing/2014/main" id="{1CDE257A-5B2D-40DC-796A-2D53905DA4ED}"/>
              </a:ext>
            </a:extLst>
          </p:cNvPr>
          <p:cNvSpPr/>
          <p:nvPr/>
        </p:nvSpPr>
        <p:spPr>
          <a:xfrm>
            <a:off x="9117999" y="3450000"/>
            <a:ext cx="224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  Rayfin map + chat app</a:t>
            </a:r>
          </a:p>
          <a:p>
            <a:pPr algn="l">
              <a:buNone/>
            </a:pPr>
            <a:r>
              <a:rPr lang="en-US" sz="1400">
                <a:solidFill>
                  <a:srgbClr val="3D4F66"/>
                </a:solidFill>
                <a:effectLst/>
                <a:latin typeface="Calibri" panose="020F0502020204030204" pitchFamily="34" charset="0"/>
              </a:rPr>
              <a:t>•  Azure Maps + rail lines</a:t>
            </a:r>
          </a:p>
          <a:p>
            <a:pPr algn="l">
              <a:buNone/>
            </a:pPr>
            <a:r>
              <a:rPr lang="en-US" sz="1400">
                <a:solidFill>
                  <a:srgbClr val="3D4F66"/>
                </a:solidFill>
                <a:effectLst/>
                <a:latin typeface="Calibri" panose="020F0502020204030204" pitchFamily="34" charset="0"/>
              </a:rPr>
              <a:t>•  Darwin and TD feeds</a:t>
            </a:r>
            <a:endParaRPr lang="en-US"/>
          </a:p>
        </p:txBody>
      </p:sp>
    </p:spTree>
    <p:extLst>
      <p:ext uri="{BB962C8B-B14F-4D97-AF65-F5344CB8AC3E}">
        <p14:creationId xmlns:p14="http://schemas.microsoft.com/office/powerpoint/2010/main" val="3308113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3601" name="Rectangle 23600">
            <a:extLst>
              <a:ext uri="{FF2B5EF4-FFF2-40B4-BE49-F238E27FC236}">
                <a16:creationId xmlns:a16="http://schemas.microsoft.com/office/drawing/2014/main" id="{5CFD1C87-D6FB-AA3A-FF8D-06610C7C64B8}"/>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THREE WAYS THROUGH THE LABS</a:t>
            </a:r>
          </a:p>
          <a:p>
            <a:pPr algn="l">
              <a:buNone/>
            </a:pPr>
            <a:r>
              <a:rPr lang="en-US" sz="100">
                <a:effectLst/>
              </a:rPr>
              <a:t> </a:t>
            </a:r>
            <a:endParaRPr lang="en-US"/>
          </a:p>
        </p:txBody>
      </p:sp>
      <p:sp>
        <p:nvSpPr>
          <p:cNvPr id="23611" name="Rectangle 23610">
            <a:extLst>
              <a:ext uri="{FF2B5EF4-FFF2-40B4-BE49-F238E27FC236}">
                <a16:creationId xmlns:a16="http://schemas.microsoft.com/office/drawing/2014/main" id="{AA9E596A-DA03-79E1-8C2E-ACD496D27BE9}"/>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Choose your path before Lab 01</a:t>
            </a:r>
          </a:p>
          <a:p>
            <a:pPr algn="l">
              <a:buNone/>
            </a:pPr>
            <a:r>
              <a:rPr lang="en-US" sz="100">
                <a:effectLst/>
              </a:rPr>
              <a:t> </a:t>
            </a:r>
            <a:endParaRPr lang="en-US"/>
          </a:p>
        </p:txBody>
      </p:sp>
      <p:sp>
        <p:nvSpPr>
          <p:cNvPr id="23622" name="Rectangle 23621">
            <a:extLst>
              <a:ext uri="{FF2B5EF4-FFF2-40B4-BE49-F238E27FC236}">
                <a16:creationId xmlns:a16="http://schemas.microsoft.com/office/drawing/2014/main" id="{F8F6FEE1-7715-A28F-3E75-3C9A55329F26}"/>
              </a:ext>
            </a:extLst>
          </p:cNvPr>
          <p:cNvSpPr/>
          <p:nvPr/>
        </p:nvSpPr>
        <p:spPr>
          <a:xfrm>
            <a:off x="457200" y="1450000"/>
            <a:ext cx="3559200" cy="327752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0B1F3A"/>
                </a:solidFill>
                <a:effectLst/>
                <a:latin typeface="Calibri" panose="020F0502020204030204" pitchFamily="34" charset="0"/>
              </a:rPr>
              <a:t>Solo builder</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WHO</a:t>
            </a:r>
          </a:p>
          <a:p>
            <a:pPr algn="l">
              <a:buNone/>
            </a:pPr>
            <a:r>
              <a:rPr lang="en-US" sz="1400">
                <a:solidFill>
                  <a:srgbClr val="3D4F66"/>
                </a:solidFill>
                <a:effectLst/>
                <a:latin typeface="Calibri" panose="020F0502020204030204" pitchFamily="34" charset="0"/>
              </a:rPr>
              <a:t>Your own NROD and RDM accounts, Azure subscription and Fabric capacity.</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LABS</a:t>
            </a:r>
          </a:p>
          <a:p>
            <a:pPr algn="l">
              <a:buNone/>
            </a:pPr>
            <a:r>
              <a:rPr lang="en-US" sz="1400">
                <a:solidFill>
                  <a:srgbClr val="3D4F66"/>
                </a:solidFill>
                <a:effectLst/>
                <a:latin typeface="Calibri" panose="020F0502020204030204" pitchFamily="34" charset="0"/>
              </a:rPr>
              <a:t>00 → 01 → 02 → 03 → 04 (04b) → 05a → 05b (05c) → 06 → 07 → 08 → 09 → 10 → 10b → 11 (11b) → 12</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START HERE</a:t>
            </a:r>
          </a:p>
          <a:p>
            <a:pPr algn="l">
              <a:buNone/>
            </a:pPr>
            <a:r>
              <a:rPr lang="en-US" sz="1400">
                <a:solidFill>
                  <a:srgbClr val="0B1F3A"/>
                </a:solidFill>
                <a:effectLst/>
                <a:latin typeface="Calibri" panose="020F0502020204030204" pitchFamily="34" charset="0"/>
              </a:rPr>
              <a:t>README → Lab 00</a:t>
            </a:r>
            <a:endParaRPr lang="en-US"/>
          </a:p>
        </p:txBody>
      </p:sp>
      <p:sp>
        <p:nvSpPr>
          <p:cNvPr id="23634" name="Rectangle 23633">
            <a:extLst>
              <a:ext uri="{FF2B5EF4-FFF2-40B4-BE49-F238E27FC236}">
                <a16:creationId xmlns:a16="http://schemas.microsoft.com/office/drawing/2014/main" id="{4D3DDDC1-8FC5-0966-6454-C04444424E05}"/>
              </a:ext>
            </a:extLst>
          </p:cNvPr>
          <p:cNvSpPr/>
          <p:nvPr/>
        </p:nvSpPr>
        <p:spPr>
          <a:xfrm>
            <a:off x="4316400" y="1450000"/>
            <a:ext cx="3559200" cy="327752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0B1F3A"/>
                </a:solidFill>
                <a:effectLst/>
                <a:latin typeface="Calibri" panose="020F0502020204030204" pitchFamily="34" charset="0"/>
              </a:rPr>
              <a:t>Instructor</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WHO</a:t>
            </a:r>
          </a:p>
          <a:p>
            <a:pPr algn="l">
              <a:buNone/>
            </a:pPr>
            <a:r>
              <a:rPr lang="en-US" sz="1400">
                <a:solidFill>
                  <a:srgbClr val="3D4F66"/>
                </a:solidFill>
                <a:effectLst/>
                <a:latin typeface="Calibri" panose="020F0502020204030204" pitchFamily="34" charset="0"/>
              </a:rPr>
              <a:t>Runs the shared feeds and reference data for a class.</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LABS</a:t>
            </a:r>
          </a:p>
          <a:p>
            <a:pPr algn="l">
              <a:buNone/>
            </a:pPr>
            <a:r>
              <a:rPr lang="en-US" sz="1400">
                <a:solidFill>
                  <a:srgbClr val="3D4F66"/>
                </a:solidFill>
                <a:effectLst/>
                <a:latin typeface="Calibri" panose="020F0502020204030204" pitchFamily="34" charset="0"/>
              </a:rPr>
              <a:t>Before the class: 01, 02, 03 (share the Lakehouse), 05a, 05b, 05c instructor parts, then send each student a handout</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START HERE</a:t>
            </a:r>
          </a:p>
          <a:p>
            <a:pPr algn="l">
              <a:buNone/>
            </a:pPr>
            <a:r>
              <a:rPr lang="en-US" sz="1400">
                <a:solidFill>
                  <a:srgbClr val="0B1F3A"/>
                </a:solidFill>
                <a:effectLst/>
                <a:latin typeface="Calibri" panose="020F0502020204030204" pitchFamily="34" charset="0"/>
              </a:rPr>
              <a:t>docs/instructor-guide.md</a:t>
            </a:r>
            <a:endParaRPr lang="en-US"/>
          </a:p>
        </p:txBody>
      </p:sp>
      <p:sp>
        <p:nvSpPr>
          <p:cNvPr id="23647" name="Rectangle 23646">
            <a:extLst>
              <a:ext uri="{FF2B5EF4-FFF2-40B4-BE49-F238E27FC236}">
                <a16:creationId xmlns:a16="http://schemas.microsoft.com/office/drawing/2014/main" id="{313523E2-0406-4632-7E81-2BC9A121B4C5}"/>
              </a:ext>
            </a:extLst>
          </p:cNvPr>
          <p:cNvSpPr/>
          <p:nvPr/>
        </p:nvSpPr>
        <p:spPr>
          <a:xfrm>
            <a:off x="8175600" y="1450000"/>
            <a:ext cx="3559200" cy="327752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0B1F3A"/>
                </a:solidFill>
                <a:effectLst/>
                <a:latin typeface="Calibri" panose="020F0502020204030204" pitchFamily="34" charset="0"/>
              </a:rPr>
              <a:t>Classroom student</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WHO</a:t>
            </a:r>
          </a:p>
          <a:p>
            <a:pPr algn="l">
              <a:buNone/>
            </a:pPr>
            <a:r>
              <a:rPr lang="en-US" sz="1400">
                <a:solidFill>
                  <a:srgbClr val="3D4F66"/>
                </a:solidFill>
                <a:effectLst/>
                <a:latin typeface="Calibri" panose="020F0502020204030204" pitchFamily="34" charset="0"/>
              </a:rPr>
              <a:t>Uses the handout: no NROD or RDM accounts and no Azure subscription needed.</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LABS</a:t>
            </a:r>
          </a:p>
          <a:p>
            <a:pPr algn="l">
              <a:buNone/>
            </a:pPr>
            <a:r>
              <a:rPr lang="en-US" sz="1400">
                <a:solidFill>
                  <a:srgbClr val="3D4F66"/>
                </a:solidFill>
                <a:effectLst/>
                <a:latin typeface="Calibri" panose="020F0502020204030204" pitchFamily="34" charset="0"/>
              </a:rPr>
              <a:t>00 → 01 (student section) → 02 → 03 Option C → 05c student steps → 06 → 07 → 08 → 09 → 10 → 10b → 11 (11b) → 12</a:t>
            </a:r>
          </a:p>
          <a:p>
            <a:pPr algn="l">
              <a:buNone/>
            </a:pPr>
            <a:r>
              <a:rPr lang="en-US" sz="800">
                <a:solidFill>
                  <a:srgbClr val="0B1F3A"/>
                </a:solidFill>
                <a:effectLst/>
                <a:latin typeface="Calibri" panose="020F0502020204030204" pitchFamily="34" charset="0"/>
              </a:rPr>
              <a:t> </a:t>
            </a:r>
          </a:p>
          <a:p>
            <a:pPr algn="l">
              <a:buNone/>
            </a:pPr>
            <a:r>
              <a:rPr lang="en-US" sz="1200" b="1">
                <a:solidFill>
                  <a:srgbClr val="117865"/>
                </a:solidFill>
                <a:effectLst/>
                <a:latin typeface="Calibri" panose="020F0502020204030204" pitchFamily="34" charset="0"/>
              </a:rPr>
              <a:t>START HERE</a:t>
            </a:r>
          </a:p>
          <a:p>
            <a:pPr algn="l">
              <a:buNone/>
            </a:pPr>
            <a:r>
              <a:rPr lang="en-US" sz="1400">
                <a:solidFill>
                  <a:srgbClr val="0B1F3A"/>
                </a:solidFill>
                <a:effectLst/>
                <a:latin typeface="Calibri" panose="020F0502020204030204" pitchFamily="34" charset="0"/>
              </a:rPr>
              <a:t>docs/student-guide.md</a:t>
            </a:r>
            <a:endParaRPr lang="en-US"/>
          </a:p>
        </p:txBody>
      </p:sp>
      <p:sp>
        <p:nvSpPr>
          <p:cNvPr id="23661" name="Rectangle 23660">
            <a:extLst>
              <a:ext uri="{FF2B5EF4-FFF2-40B4-BE49-F238E27FC236}">
                <a16:creationId xmlns:a16="http://schemas.microsoft.com/office/drawing/2014/main" id="{B1B81491-3826-A7C5-3283-7517284C8EC3}"/>
              </a:ext>
            </a:extLst>
          </p:cNvPr>
          <p:cNvSpPr/>
          <p:nvPr/>
        </p:nvSpPr>
        <p:spPr>
          <a:xfrm>
            <a:off x="457200" y="4927520"/>
            <a:ext cx="11277600"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Students skip Labs 04, 04b, 05a and 05b: the instructor's bridge and RDM relay feed everyone through a shared Event Hub, one consumer group per student.</a:t>
            </a:r>
          </a:p>
          <a:p>
            <a:pPr algn="l">
              <a:buNone/>
            </a:pPr>
            <a:r>
              <a:rPr lang="en-US" sz="100">
                <a:effectLst/>
              </a:rPr>
              <a:t> </a:t>
            </a:r>
            <a:endParaRPr lang="en-US"/>
          </a:p>
        </p:txBody>
      </p:sp>
    </p:spTree>
    <p:extLst>
      <p:ext uri="{BB962C8B-B14F-4D97-AF65-F5344CB8AC3E}">
        <p14:creationId xmlns:p14="http://schemas.microsoft.com/office/powerpoint/2010/main" val="4110711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3676" name="Rectangle 23675">
            <a:extLst>
              <a:ext uri="{FF2B5EF4-FFF2-40B4-BE49-F238E27FC236}">
                <a16:creationId xmlns:a16="http://schemas.microsoft.com/office/drawing/2014/main" id="{C01F0562-0F2E-F81E-F53E-647ED39ACD89}"/>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LAB SERIES</a:t>
            </a:r>
          </a:p>
          <a:p>
            <a:pPr algn="l">
              <a:buNone/>
            </a:pPr>
            <a:r>
              <a:rPr lang="en-US" sz="100">
                <a:effectLst/>
              </a:rPr>
              <a:t> </a:t>
            </a:r>
            <a:endParaRPr lang="en-US"/>
          </a:p>
        </p:txBody>
      </p:sp>
      <p:sp>
        <p:nvSpPr>
          <p:cNvPr id="23692" name="Rectangle 23691">
            <a:extLst>
              <a:ext uri="{FF2B5EF4-FFF2-40B4-BE49-F238E27FC236}">
                <a16:creationId xmlns:a16="http://schemas.microsoft.com/office/drawing/2014/main" id="{9550B25C-04BA-C42D-1977-480DE68F6B64}"/>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Eighteen labs from raw feed to app</a:t>
            </a:r>
          </a:p>
          <a:p>
            <a:pPr algn="l">
              <a:buNone/>
            </a:pPr>
            <a:r>
              <a:rPr lang="en-US" sz="100">
                <a:effectLst/>
              </a:rPr>
              <a:t> </a:t>
            </a:r>
            <a:endParaRPr lang="en-US"/>
          </a:p>
        </p:txBody>
      </p:sp>
      <p:sp>
        <p:nvSpPr>
          <p:cNvPr id="23709" name="Rectangle 23708">
            <a:extLst>
              <a:ext uri="{FF2B5EF4-FFF2-40B4-BE49-F238E27FC236}">
                <a16:creationId xmlns:a16="http://schemas.microsoft.com/office/drawing/2014/main" id="{744ADF49-17D7-0360-C9DC-AC24006BCC21}"/>
              </a:ext>
            </a:extLst>
          </p:cNvPr>
          <p:cNvSpPr/>
          <p:nvPr/>
        </p:nvSpPr>
        <p:spPr>
          <a:xfrm>
            <a:off x="457200" y="142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00</a:t>
            </a:r>
          </a:p>
          <a:p>
            <a:pPr algn="l">
              <a:buNone/>
            </a:pPr>
            <a:r>
              <a:rPr lang="en-US" sz="1400" b="1">
                <a:solidFill>
                  <a:srgbClr val="0B1F3A"/>
                </a:solidFill>
                <a:effectLst/>
                <a:latin typeface="Calibri" panose="020F0502020204030204" pitchFamily="34" charset="0"/>
              </a:rPr>
              <a:t>Overview and costs</a:t>
            </a:r>
          </a:p>
          <a:p>
            <a:pPr algn="l">
              <a:buNone/>
            </a:pPr>
            <a:r>
              <a:rPr lang="en-US" sz="1200">
                <a:solidFill>
                  <a:srgbClr val="6B7A90"/>
                </a:solidFill>
                <a:effectLst/>
                <a:latin typeface="Calibri" panose="020F0502020204030204" pitchFamily="34" charset="0"/>
              </a:rPr>
              <a:t>20 min</a:t>
            </a:r>
            <a:endParaRPr lang="en-US"/>
          </a:p>
        </p:txBody>
      </p:sp>
      <p:sp>
        <p:nvSpPr>
          <p:cNvPr id="23727" name="Rectangle 23726">
            <a:extLst>
              <a:ext uri="{FF2B5EF4-FFF2-40B4-BE49-F238E27FC236}">
                <a16:creationId xmlns:a16="http://schemas.microsoft.com/office/drawing/2014/main" id="{1869A6A4-8D92-C7F4-96D0-330E58EFAF87}"/>
              </a:ext>
            </a:extLst>
          </p:cNvPr>
          <p:cNvSpPr/>
          <p:nvPr/>
        </p:nvSpPr>
        <p:spPr>
          <a:xfrm>
            <a:off x="2361800" y="142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01</a:t>
            </a:r>
          </a:p>
          <a:p>
            <a:pPr algn="l">
              <a:buNone/>
            </a:pPr>
            <a:r>
              <a:rPr lang="en-US" sz="1400" b="1">
                <a:solidFill>
                  <a:srgbClr val="0B1F3A"/>
                </a:solidFill>
                <a:effectLst/>
                <a:latin typeface="Calibri" panose="020F0502020204030204" pitchFamily="34" charset="0"/>
              </a:rPr>
              <a:t>Prerequisites</a:t>
            </a:r>
          </a:p>
          <a:p>
            <a:pPr algn="l">
              <a:buNone/>
            </a:pPr>
            <a:r>
              <a:rPr lang="en-US" sz="1200">
                <a:solidFill>
                  <a:srgbClr val="6B7A90"/>
                </a:solidFill>
                <a:effectLst/>
                <a:latin typeface="Calibri" panose="020F0502020204030204" pitchFamily="34" charset="0"/>
              </a:rPr>
              <a:t>45 min</a:t>
            </a:r>
            <a:endParaRPr lang="en-US"/>
          </a:p>
        </p:txBody>
      </p:sp>
      <p:sp>
        <p:nvSpPr>
          <p:cNvPr id="23746" name="Rectangle 23745">
            <a:extLst>
              <a:ext uri="{FF2B5EF4-FFF2-40B4-BE49-F238E27FC236}">
                <a16:creationId xmlns:a16="http://schemas.microsoft.com/office/drawing/2014/main" id="{7F8A7796-C190-6204-68B3-D71E71118FA3}"/>
              </a:ext>
            </a:extLst>
          </p:cNvPr>
          <p:cNvSpPr/>
          <p:nvPr/>
        </p:nvSpPr>
        <p:spPr>
          <a:xfrm>
            <a:off x="4266400" y="142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02</a:t>
            </a:r>
          </a:p>
          <a:p>
            <a:pPr algn="l">
              <a:buNone/>
            </a:pPr>
            <a:r>
              <a:rPr lang="en-US" sz="1400" b="1">
                <a:solidFill>
                  <a:srgbClr val="0B1F3A"/>
                </a:solidFill>
                <a:effectLst/>
                <a:latin typeface="Calibri" panose="020F0502020204030204" pitchFamily="34" charset="0"/>
              </a:rPr>
              <a:t>Workspace and items</a:t>
            </a:r>
          </a:p>
          <a:p>
            <a:pPr algn="l">
              <a:buNone/>
            </a:pPr>
            <a:r>
              <a:rPr lang="en-US" sz="1200">
                <a:solidFill>
                  <a:srgbClr val="6B7A90"/>
                </a:solidFill>
                <a:effectLst/>
                <a:latin typeface="Calibri" panose="020F0502020204030204" pitchFamily="34" charset="0"/>
              </a:rPr>
              <a:t>20 min</a:t>
            </a:r>
            <a:endParaRPr lang="en-US"/>
          </a:p>
        </p:txBody>
      </p:sp>
      <p:sp>
        <p:nvSpPr>
          <p:cNvPr id="23766" name="Rectangle 23765">
            <a:extLst>
              <a:ext uri="{FF2B5EF4-FFF2-40B4-BE49-F238E27FC236}">
                <a16:creationId xmlns:a16="http://schemas.microsoft.com/office/drawing/2014/main" id="{E80E22E8-9BDE-947F-3A5B-BEAFF9D7A8F2}"/>
              </a:ext>
            </a:extLst>
          </p:cNvPr>
          <p:cNvSpPr/>
          <p:nvPr/>
        </p:nvSpPr>
        <p:spPr>
          <a:xfrm>
            <a:off x="6171000" y="142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03</a:t>
            </a:r>
          </a:p>
          <a:p>
            <a:pPr algn="l">
              <a:buNone/>
            </a:pPr>
            <a:r>
              <a:rPr lang="en-US" sz="1400" b="1">
                <a:solidFill>
                  <a:srgbClr val="0B1F3A"/>
                </a:solidFill>
                <a:effectLst/>
                <a:latin typeface="Calibri" panose="020F0502020204030204" pitchFamily="34" charset="0"/>
              </a:rPr>
              <a:t>Reference data</a:t>
            </a:r>
          </a:p>
          <a:p>
            <a:pPr algn="l">
              <a:buNone/>
            </a:pPr>
            <a:r>
              <a:rPr lang="en-US" sz="1200">
                <a:solidFill>
                  <a:srgbClr val="6B7A90"/>
                </a:solidFill>
                <a:effectLst/>
                <a:latin typeface="Calibri" panose="020F0502020204030204" pitchFamily="34" charset="0"/>
              </a:rPr>
              <a:t>30 min</a:t>
            </a:r>
            <a:endParaRPr lang="en-US"/>
          </a:p>
        </p:txBody>
      </p:sp>
      <p:sp>
        <p:nvSpPr>
          <p:cNvPr id="23787" name="Rectangle 23786">
            <a:extLst>
              <a:ext uri="{FF2B5EF4-FFF2-40B4-BE49-F238E27FC236}">
                <a16:creationId xmlns:a16="http://schemas.microsoft.com/office/drawing/2014/main" id="{280B8B0F-741C-8B5B-A977-0F9B2BB19777}"/>
              </a:ext>
            </a:extLst>
          </p:cNvPr>
          <p:cNvSpPr/>
          <p:nvPr/>
        </p:nvSpPr>
        <p:spPr>
          <a:xfrm>
            <a:off x="8075600" y="142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04</a:t>
            </a:r>
          </a:p>
          <a:p>
            <a:pPr algn="l">
              <a:buNone/>
            </a:pPr>
            <a:r>
              <a:rPr lang="en-US" sz="1400" b="1">
                <a:solidFill>
                  <a:srgbClr val="0B1F3A"/>
                </a:solidFill>
                <a:effectLst/>
                <a:latin typeface="Calibri" panose="020F0502020204030204" pitchFamily="34" charset="0"/>
              </a:rPr>
              <a:t>RDM Kafka stream</a:t>
            </a:r>
          </a:p>
          <a:p>
            <a:pPr algn="l">
              <a:buNone/>
            </a:pPr>
            <a:r>
              <a:rPr lang="en-US" sz="1200">
                <a:solidFill>
                  <a:srgbClr val="6B7A90"/>
                </a:solidFill>
                <a:effectLst/>
                <a:latin typeface="Calibri" panose="020F0502020204030204" pitchFamily="34" charset="0"/>
              </a:rPr>
              <a:t>30 min</a:t>
            </a:r>
            <a:endParaRPr lang="en-US"/>
          </a:p>
        </p:txBody>
      </p:sp>
      <p:sp>
        <p:nvSpPr>
          <p:cNvPr id="23809" name="Rectangle 23808">
            <a:extLst>
              <a:ext uri="{FF2B5EF4-FFF2-40B4-BE49-F238E27FC236}">
                <a16:creationId xmlns:a16="http://schemas.microsoft.com/office/drawing/2014/main" id="{6DD67610-15B6-7FE6-C2A2-F3C17CE13E48}"/>
              </a:ext>
            </a:extLst>
          </p:cNvPr>
          <p:cNvSpPr/>
          <p:nvPr/>
        </p:nvSpPr>
        <p:spPr>
          <a:xfrm>
            <a:off x="9980200" y="142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04b</a:t>
            </a:r>
          </a:p>
          <a:p>
            <a:pPr algn="l">
              <a:buNone/>
            </a:pPr>
            <a:r>
              <a:rPr lang="en-US" sz="1400" b="1">
                <a:solidFill>
                  <a:srgbClr val="0B1F3A"/>
                </a:solidFill>
                <a:effectLst/>
                <a:latin typeface="Calibri" panose="020F0502020204030204" pitchFamily="34" charset="0"/>
              </a:rPr>
              <a:t>Darwin Push Port</a:t>
            </a:r>
          </a:p>
          <a:p>
            <a:pPr algn="l">
              <a:buNone/>
            </a:pPr>
            <a:r>
              <a:rPr lang="en-US" sz="1200">
                <a:solidFill>
                  <a:srgbClr val="6B7A90"/>
                </a:solidFill>
                <a:effectLst/>
                <a:latin typeface="Calibri" panose="020F0502020204030204" pitchFamily="34" charset="0"/>
              </a:rPr>
              <a:t>25 min · optional</a:t>
            </a:r>
            <a:endParaRPr lang="en-US"/>
          </a:p>
        </p:txBody>
      </p:sp>
      <p:sp>
        <p:nvSpPr>
          <p:cNvPr id="23832" name="Rectangle 23831">
            <a:extLst>
              <a:ext uri="{FF2B5EF4-FFF2-40B4-BE49-F238E27FC236}">
                <a16:creationId xmlns:a16="http://schemas.microsoft.com/office/drawing/2014/main" id="{8A8A1566-3378-72BD-719C-E45B19217D1F}"/>
              </a:ext>
            </a:extLst>
          </p:cNvPr>
          <p:cNvSpPr/>
          <p:nvPr/>
        </p:nvSpPr>
        <p:spPr>
          <a:xfrm>
            <a:off x="457200" y="275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05a</a:t>
            </a:r>
          </a:p>
          <a:p>
            <a:pPr algn="l">
              <a:buNone/>
            </a:pPr>
            <a:r>
              <a:rPr lang="en-US" sz="1400" b="1">
                <a:solidFill>
                  <a:srgbClr val="0B1F3A"/>
                </a:solidFill>
                <a:effectLst/>
                <a:latin typeface="Calibri" panose="020F0502020204030204" pitchFamily="34" charset="0"/>
              </a:rPr>
              <a:t>Bridge, local</a:t>
            </a:r>
          </a:p>
          <a:p>
            <a:pPr algn="l">
              <a:buNone/>
            </a:pPr>
            <a:r>
              <a:rPr lang="en-US" sz="1200">
                <a:solidFill>
                  <a:srgbClr val="6B7A90"/>
                </a:solidFill>
                <a:effectLst/>
                <a:latin typeface="Calibri" panose="020F0502020204030204" pitchFamily="34" charset="0"/>
              </a:rPr>
              <a:t>40 min</a:t>
            </a:r>
            <a:endParaRPr lang="en-US"/>
          </a:p>
        </p:txBody>
      </p:sp>
      <p:sp>
        <p:nvSpPr>
          <p:cNvPr id="23856" name="Rectangle 23855">
            <a:extLst>
              <a:ext uri="{FF2B5EF4-FFF2-40B4-BE49-F238E27FC236}">
                <a16:creationId xmlns:a16="http://schemas.microsoft.com/office/drawing/2014/main" id="{45D3DE69-130A-5C68-B4AD-492B602F0C25}"/>
              </a:ext>
            </a:extLst>
          </p:cNvPr>
          <p:cNvSpPr/>
          <p:nvPr/>
        </p:nvSpPr>
        <p:spPr>
          <a:xfrm>
            <a:off x="2361800" y="275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05b</a:t>
            </a:r>
          </a:p>
          <a:p>
            <a:pPr algn="l">
              <a:buNone/>
            </a:pPr>
            <a:r>
              <a:rPr lang="en-US" sz="1400" b="1">
                <a:solidFill>
                  <a:srgbClr val="0B1F3A"/>
                </a:solidFill>
                <a:effectLst/>
                <a:latin typeface="Calibri" panose="020F0502020204030204" pitchFamily="34" charset="0"/>
              </a:rPr>
              <a:t>Bridge on Azure</a:t>
            </a:r>
          </a:p>
          <a:p>
            <a:pPr algn="l">
              <a:buNone/>
            </a:pPr>
            <a:r>
              <a:rPr lang="en-US" sz="1200">
                <a:solidFill>
                  <a:srgbClr val="6B7A90"/>
                </a:solidFill>
                <a:effectLst/>
                <a:latin typeface="Calibri" panose="020F0502020204030204" pitchFamily="34" charset="0"/>
              </a:rPr>
              <a:t>30 min</a:t>
            </a:r>
            <a:endParaRPr lang="en-US"/>
          </a:p>
        </p:txBody>
      </p:sp>
      <p:sp>
        <p:nvSpPr>
          <p:cNvPr id="23881" name="Rectangle 23880">
            <a:extLst>
              <a:ext uri="{FF2B5EF4-FFF2-40B4-BE49-F238E27FC236}">
                <a16:creationId xmlns:a16="http://schemas.microsoft.com/office/drawing/2014/main" id="{07A0BB46-79BD-A7D2-A2C1-56502F466C72}"/>
              </a:ext>
            </a:extLst>
          </p:cNvPr>
          <p:cNvSpPr/>
          <p:nvPr/>
        </p:nvSpPr>
        <p:spPr>
          <a:xfrm>
            <a:off x="4266400" y="275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05c</a:t>
            </a:r>
          </a:p>
          <a:p>
            <a:pPr algn="l">
              <a:buNone/>
            </a:pPr>
            <a:r>
              <a:rPr lang="en-US" sz="1400" b="1">
                <a:solidFill>
                  <a:srgbClr val="0B1F3A"/>
                </a:solidFill>
                <a:effectLst/>
                <a:latin typeface="Calibri" panose="020F0502020204030204" pitchFamily="34" charset="0"/>
              </a:rPr>
              <a:t>Shared Event Hub</a:t>
            </a:r>
          </a:p>
          <a:p>
            <a:pPr algn="l">
              <a:buNone/>
            </a:pPr>
            <a:r>
              <a:rPr lang="en-US" sz="1200">
                <a:solidFill>
                  <a:srgbClr val="6B7A90"/>
                </a:solidFill>
                <a:effectLst/>
                <a:latin typeface="Calibri" panose="020F0502020204030204" pitchFamily="34" charset="0"/>
              </a:rPr>
              <a:t>45 min · optional</a:t>
            </a:r>
            <a:endParaRPr lang="en-US"/>
          </a:p>
        </p:txBody>
      </p:sp>
      <p:sp>
        <p:nvSpPr>
          <p:cNvPr id="23907" name="Rectangle 23906">
            <a:extLst>
              <a:ext uri="{FF2B5EF4-FFF2-40B4-BE49-F238E27FC236}">
                <a16:creationId xmlns:a16="http://schemas.microsoft.com/office/drawing/2014/main" id="{C8397026-4D90-30A3-7B69-5144FE350666}"/>
              </a:ext>
            </a:extLst>
          </p:cNvPr>
          <p:cNvSpPr/>
          <p:nvPr/>
        </p:nvSpPr>
        <p:spPr>
          <a:xfrm>
            <a:off x="6171000" y="275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06</a:t>
            </a:r>
          </a:p>
          <a:p>
            <a:pPr algn="l">
              <a:buNone/>
            </a:pPr>
            <a:r>
              <a:rPr lang="en-US" sz="1400" b="1">
                <a:solidFill>
                  <a:srgbClr val="0B1F3A"/>
                </a:solidFill>
                <a:effectLst/>
                <a:latin typeface="Calibri" panose="020F0502020204030204" pitchFamily="34" charset="0"/>
              </a:rPr>
              <a:t>KQL transforms</a:t>
            </a:r>
          </a:p>
          <a:p>
            <a:pPr algn="l">
              <a:buNone/>
            </a:pPr>
            <a:r>
              <a:rPr lang="en-US" sz="1200">
                <a:solidFill>
                  <a:srgbClr val="6B7A90"/>
                </a:solidFill>
                <a:effectLst/>
                <a:latin typeface="Calibri" panose="020F0502020204030204" pitchFamily="34" charset="0"/>
              </a:rPr>
              <a:t>40 min</a:t>
            </a:r>
            <a:endParaRPr lang="en-US"/>
          </a:p>
        </p:txBody>
      </p:sp>
      <p:sp>
        <p:nvSpPr>
          <p:cNvPr id="23934" name="Rectangle 23933">
            <a:extLst>
              <a:ext uri="{FF2B5EF4-FFF2-40B4-BE49-F238E27FC236}">
                <a16:creationId xmlns:a16="http://schemas.microsoft.com/office/drawing/2014/main" id="{F9F61B56-EAD5-9481-BDA7-EE73F4375C4D}"/>
              </a:ext>
            </a:extLst>
          </p:cNvPr>
          <p:cNvSpPr/>
          <p:nvPr/>
        </p:nvSpPr>
        <p:spPr>
          <a:xfrm>
            <a:off x="8075600" y="275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07</a:t>
            </a:r>
          </a:p>
          <a:p>
            <a:pPr algn="l">
              <a:buNone/>
            </a:pPr>
            <a:r>
              <a:rPr lang="en-US" sz="1400" b="1">
                <a:solidFill>
                  <a:srgbClr val="0B1F3A"/>
                </a:solidFill>
                <a:effectLst/>
                <a:latin typeface="Calibri" panose="020F0502020204030204" pitchFamily="34" charset="0"/>
              </a:rPr>
              <a:t>Activator alerts</a:t>
            </a:r>
          </a:p>
          <a:p>
            <a:pPr algn="l">
              <a:buNone/>
            </a:pPr>
            <a:r>
              <a:rPr lang="en-US" sz="1200">
                <a:solidFill>
                  <a:srgbClr val="6B7A90"/>
                </a:solidFill>
                <a:effectLst/>
                <a:latin typeface="Calibri" panose="020F0502020204030204" pitchFamily="34" charset="0"/>
              </a:rPr>
              <a:t>30 min</a:t>
            </a:r>
            <a:endParaRPr lang="en-US"/>
          </a:p>
        </p:txBody>
      </p:sp>
      <p:sp>
        <p:nvSpPr>
          <p:cNvPr id="23962" name="Rectangle 23961">
            <a:extLst>
              <a:ext uri="{FF2B5EF4-FFF2-40B4-BE49-F238E27FC236}">
                <a16:creationId xmlns:a16="http://schemas.microsoft.com/office/drawing/2014/main" id="{06EBA373-74E8-9190-30D7-6EE91572EAC8}"/>
              </a:ext>
            </a:extLst>
          </p:cNvPr>
          <p:cNvSpPr/>
          <p:nvPr/>
        </p:nvSpPr>
        <p:spPr>
          <a:xfrm>
            <a:off x="9980200" y="275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08</a:t>
            </a:r>
          </a:p>
          <a:p>
            <a:pPr algn="l">
              <a:buNone/>
            </a:pPr>
            <a:r>
              <a:rPr lang="en-US" sz="1400" b="1">
                <a:solidFill>
                  <a:srgbClr val="0B1F3A"/>
                </a:solidFill>
                <a:effectLst/>
                <a:latin typeface="Calibri" panose="020F0502020204030204" pitchFamily="34" charset="0"/>
              </a:rPr>
              <a:t>Dashboard and Power BI</a:t>
            </a:r>
          </a:p>
          <a:p>
            <a:pPr algn="l">
              <a:buNone/>
            </a:pPr>
            <a:r>
              <a:rPr lang="en-US" sz="1200">
                <a:solidFill>
                  <a:srgbClr val="6B7A90"/>
                </a:solidFill>
                <a:effectLst/>
                <a:latin typeface="Calibri" panose="020F0502020204030204" pitchFamily="34" charset="0"/>
              </a:rPr>
              <a:t>45 min</a:t>
            </a:r>
            <a:endParaRPr lang="en-US"/>
          </a:p>
        </p:txBody>
      </p:sp>
      <p:sp>
        <p:nvSpPr>
          <p:cNvPr id="23991" name="Rectangle 23990">
            <a:extLst>
              <a:ext uri="{FF2B5EF4-FFF2-40B4-BE49-F238E27FC236}">
                <a16:creationId xmlns:a16="http://schemas.microsoft.com/office/drawing/2014/main" id="{5A75C142-2D3A-B588-7082-53CEA55F9F30}"/>
              </a:ext>
            </a:extLst>
          </p:cNvPr>
          <p:cNvSpPr/>
          <p:nvPr/>
        </p:nvSpPr>
        <p:spPr>
          <a:xfrm>
            <a:off x="457200" y="408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09</a:t>
            </a:r>
          </a:p>
          <a:p>
            <a:pPr algn="l">
              <a:buNone/>
            </a:pPr>
            <a:r>
              <a:rPr lang="en-US" sz="1400" b="1">
                <a:solidFill>
                  <a:srgbClr val="0B1F3A"/>
                </a:solidFill>
                <a:effectLst/>
                <a:latin typeface="Calibri" panose="020F0502020204030204" pitchFamily="34" charset="0"/>
              </a:rPr>
              <a:t>Fabric data agent</a:t>
            </a:r>
          </a:p>
          <a:p>
            <a:pPr algn="l">
              <a:buNone/>
            </a:pPr>
            <a:r>
              <a:rPr lang="en-US" sz="1200">
                <a:solidFill>
                  <a:srgbClr val="6B7A90"/>
                </a:solidFill>
                <a:effectLst/>
                <a:latin typeface="Calibri" panose="020F0502020204030204" pitchFamily="34" charset="0"/>
              </a:rPr>
              <a:t>30 min</a:t>
            </a:r>
            <a:endParaRPr lang="en-US"/>
          </a:p>
        </p:txBody>
      </p:sp>
      <p:sp>
        <p:nvSpPr>
          <p:cNvPr id="24021" name="Rectangle 24020">
            <a:extLst>
              <a:ext uri="{FF2B5EF4-FFF2-40B4-BE49-F238E27FC236}">
                <a16:creationId xmlns:a16="http://schemas.microsoft.com/office/drawing/2014/main" id="{18FF7E3F-BFBE-A700-7106-6AAB807EE0D8}"/>
              </a:ext>
            </a:extLst>
          </p:cNvPr>
          <p:cNvSpPr/>
          <p:nvPr/>
        </p:nvSpPr>
        <p:spPr>
          <a:xfrm>
            <a:off x="2361800" y="408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10</a:t>
            </a:r>
          </a:p>
          <a:p>
            <a:pPr algn="l">
              <a:buNone/>
            </a:pPr>
            <a:r>
              <a:rPr lang="en-US" sz="1400" b="1">
                <a:solidFill>
                  <a:srgbClr val="0B1F3A"/>
                </a:solidFill>
                <a:effectLst/>
                <a:latin typeface="Calibri" panose="020F0502020204030204" pitchFamily="34" charset="0"/>
              </a:rPr>
              <a:t>Foundry agent</a:t>
            </a:r>
          </a:p>
          <a:p>
            <a:pPr algn="l">
              <a:buNone/>
            </a:pPr>
            <a:r>
              <a:rPr lang="en-US" sz="1200">
                <a:solidFill>
                  <a:srgbClr val="6B7A90"/>
                </a:solidFill>
                <a:effectLst/>
                <a:latin typeface="Calibri" panose="020F0502020204030204" pitchFamily="34" charset="0"/>
              </a:rPr>
              <a:t>30 min</a:t>
            </a:r>
            <a:endParaRPr lang="en-US"/>
          </a:p>
        </p:txBody>
      </p:sp>
      <p:sp>
        <p:nvSpPr>
          <p:cNvPr id="24052" name="Rectangle 24051">
            <a:extLst>
              <a:ext uri="{FF2B5EF4-FFF2-40B4-BE49-F238E27FC236}">
                <a16:creationId xmlns:a16="http://schemas.microsoft.com/office/drawing/2014/main" id="{1FB0B41E-1CCD-6A7E-C71E-1C2A7AAD6F5F}"/>
              </a:ext>
            </a:extLst>
          </p:cNvPr>
          <p:cNvSpPr/>
          <p:nvPr/>
        </p:nvSpPr>
        <p:spPr>
          <a:xfrm>
            <a:off x="4266400" y="408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10b</a:t>
            </a:r>
          </a:p>
          <a:p>
            <a:pPr algn="l">
              <a:buNone/>
            </a:pPr>
            <a:r>
              <a:rPr lang="en-US" sz="1400" b="1">
                <a:solidFill>
                  <a:srgbClr val="0B1F3A"/>
                </a:solidFill>
                <a:effectLst/>
                <a:latin typeface="Calibri" panose="020F0502020204030204" pitchFamily="34" charset="0"/>
              </a:rPr>
              <a:t>Live semantic model</a:t>
            </a:r>
          </a:p>
          <a:p>
            <a:pPr algn="l">
              <a:buNone/>
            </a:pPr>
            <a:r>
              <a:rPr lang="en-US" sz="1200">
                <a:solidFill>
                  <a:srgbClr val="6B7A90"/>
                </a:solidFill>
                <a:effectLst/>
                <a:latin typeface="Calibri" panose="020F0502020204030204" pitchFamily="34" charset="0"/>
              </a:rPr>
              <a:t>25 min</a:t>
            </a:r>
            <a:endParaRPr lang="en-US"/>
          </a:p>
        </p:txBody>
      </p:sp>
      <p:sp>
        <p:nvSpPr>
          <p:cNvPr id="24084" name="Rectangle 24083">
            <a:extLst>
              <a:ext uri="{FF2B5EF4-FFF2-40B4-BE49-F238E27FC236}">
                <a16:creationId xmlns:a16="http://schemas.microsoft.com/office/drawing/2014/main" id="{09D3CCED-10D1-80C1-55AC-0A16B42DB28C}"/>
              </a:ext>
            </a:extLst>
          </p:cNvPr>
          <p:cNvSpPr/>
          <p:nvPr/>
        </p:nvSpPr>
        <p:spPr>
          <a:xfrm>
            <a:off x="6171000" y="408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11</a:t>
            </a:r>
          </a:p>
          <a:p>
            <a:pPr algn="l">
              <a:buNone/>
            </a:pPr>
            <a:r>
              <a:rPr lang="en-US" sz="1400" b="1">
                <a:solidFill>
                  <a:srgbClr val="0B1F3A"/>
                </a:solidFill>
                <a:effectLst/>
                <a:latin typeface="Calibri" panose="020F0502020204030204" pitchFamily="34" charset="0"/>
              </a:rPr>
              <a:t>Rayfin app</a:t>
            </a:r>
          </a:p>
          <a:p>
            <a:pPr algn="l">
              <a:buNone/>
            </a:pPr>
            <a:r>
              <a:rPr lang="en-US" sz="1200">
                <a:solidFill>
                  <a:srgbClr val="6B7A90"/>
                </a:solidFill>
                <a:effectLst/>
                <a:latin typeface="Calibri" panose="020F0502020204030204" pitchFamily="34" charset="0"/>
              </a:rPr>
              <a:t>60 min</a:t>
            </a:r>
            <a:endParaRPr lang="en-US"/>
          </a:p>
        </p:txBody>
      </p:sp>
      <p:sp>
        <p:nvSpPr>
          <p:cNvPr id="24117" name="Rectangle 24116">
            <a:extLst>
              <a:ext uri="{FF2B5EF4-FFF2-40B4-BE49-F238E27FC236}">
                <a16:creationId xmlns:a16="http://schemas.microsoft.com/office/drawing/2014/main" id="{5D7941FD-05FA-1217-C3F7-19EB62059229}"/>
              </a:ext>
            </a:extLst>
          </p:cNvPr>
          <p:cNvSpPr/>
          <p:nvPr/>
        </p:nvSpPr>
        <p:spPr>
          <a:xfrm>
            <a:off x="8075600" y="408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11b</a:t>
            </a:r>
          </a:p>
          <a:p>
            <a:pPr algn="l">
              <a:buNone/>
            </a:pPr>
            <a:r>
              <a:rPr lang="en-US" sz="1400" b="1">
                <a:solidFill>
                  <a:srgbClr val="0B1F3A"/>
                </a:solidFill>
                <a:effectLst/>
                <a:latin typeface="Calibri" panose="020F0502020204030204" pitchFamily="34" charset="0"/>
              </a:rPr>
              <a:t>Azure Maps map</a:t>
            </a:r>
          </a:p>
          <a:p>
            <a:pPr algn="l">
              <a:buNone/>
            </a:pPr>
            <a:r>
              <a:rPr lang="en-US" sz="1200">
                <a:solidFill>
                  <a:srgbClr val="6B7A90"/>
                </a:solidFill>
                <a:effectLst/>
                <a:latin typeface="Calibri" panose="020F0502020204030204" pitchFamily="34" charset="0"/>
              </a:rPr>
              <a:t>45 min · optional</a:t>
            </a:r>
            <a:endParaRPr lang="en-US"/>
          </a:p>
        </p:txBody>
      </p:sp>
      <p:sp>
        <p:nvSpPr>
          <p:cNvPr id="24151" name="Rectangle 24150">
            <a:extLst>
              <a:ext uri="{FF2B5EF4-FFF2-40B4-BE49-F238E27FC236}">
                <a16:creationId xmlns:a16="http://schemas.microsoft.com/office/drawing/2014/main" id="{691F1484-7875-F278-5432-E458BFE30D9F}"/>
              </a:ext>
            </a:extLst>
          </p:cNvPr>
          <p:cNvSpPr/>
          <p:nvPr/>
        </p:nvSpPr>
        <p:spPr>
          <a:xfrm>
            <a:off x="9980200" y="4080000"/>
            <a:ext cx="1754600" cy="11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17865"/>
                </a:solidFill>
                <a:effectLst/>
                <a:latin typeface="Calibri" panose="020F0502020204030204" pitchFamily="34" charset="0"/>
              </a:rPr>
              <a:t>12</a:t>
            </a:r>
          </a:p>
          <a:p>
            <a:pPr algn="l">
              <a:buNone/>
            </a:pPr>
            <a:r>
              <a:rPr lang="en-US" sz="1400" b="1">
                <a:solidFill>
                  <a:srgbClr val="0B1F3A"/>
                </a:solidFill>
                <a:effectLst/>
                <a:latin typeface="Calibri" panose="020F0502020204030204" pitchFamily="34" charset="0"/>
              </a:rPr>
              <a:t>Clean-up</a:t>
            </a:r>
          </a:p>
          <a:p>
            <a:pPr algn="l">
              <a:buNone/>
            </a:pPr>
            <a:r>
              <a:rPr lang="en-US" sz="1200">
                <a:solidFill>
                  <a:srgbClr val="6B7A90"/>
                </a:solidFill>
                <a:effectLst/>
                <a:latin typeface="Calibri" panose="020F0502020204030204" pitchFamily="34" charset="0"/>
              </a:rPr>
              <a:t>10 min</a:t>
            </a:r>
            <a:endParaRPr lang="en-US"/>
          </a:p>
        </p:txBody>
      </p:sp>
      <p:sp>
        <p:nvSpPr>
          <p:cNvPr id="24186" name="Rectangle 24185">
            <a:extLst>
              <a:ext uri="{FF2B5EF4-FFF2-40B4-BE49-F238E27FC236}">
                <a16:creationId xmlns:a16="http://schemas.microsoft.com/office/drawing/2014/main" id="{45410B90-CB2C-2D9E-E606-F430D4CB2E65}"/>
              </a:ext>
            </a:extLst>
          </p:cNvPr>
          <p:cNvSpPr/>
          <p:nvPr/>
        </p:nvSpPr>
        <p:spPr>
          <a:xfrm>
            <a:off x="457200" y="5490000"/>
            <a:ext cx="11277600" cy="63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Ingest (02–05c)  →  shape (06)  →  act and see (07–08)  →  ask (09–10)  →  build the app (10b–11b)</a:t>
            </a:r>
          </a:p>
          <a:p>
            <a:pPr algn="l">
              <a:buNone/>
            </a:pPr>
            <a:r>
              <a:rPr lang="en-US" sz="100">
                <a:effectLst/>
              </a:rPr>
              <a:t> </a:t>
            </a:r>
            <a:endParaRPr lang="en-US"/>
          </a:p>
        </p:txBody>
      </p:sp>
    </p:spTree>
    <p:extLst>
      <p:ext uri="{BB962C8B-B14F-4D97-AF65-F5344CB8AC3E}">
        <p14:creationId xmlns:p14="http://schemas.microsoft.com/office/powerpoint/2010/main" val="465254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4222" name="Rectangle 24221">
            <a:extLst>
              <a:ext uri="{FF2B5EF4-FFF2-40B4-BE49-F238E27FC236}">
                <a16:creationId xmlns:a16="http://schemas.microsoft.com/office/drawing/2014/main" id="{82B1D8F4-F5D7-2D4C-EEBD-36A2897BE446}"/>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LABS 00–01 · OVERVIEW AND PREREQUISITES · 65 MIN</a:t>
            </a:r>
          </a:p>
          <a:p>
            <a:pPr algn="l">
              <a:buNone/>
            </a:pPr>
            <a:r>
              <a:rPr lang="en-US" sz="100">
                <a:effectLst/>
              </a:rPr>
              <a:t> </a:t>
            </a:r>
            <a:endParaRPr lang="en-US"/>
          </a:p>
        </p:txBody>
      </p:sp>
      <p:sp>
        <p:nvSpPr>
          <p:cNvPr id="24259" name="Rectangle 24258">
            <a:extLst>
              <a:ext uri="{FF2B5EF4-FFF2-40B4-BE49-F238E27FC236}">
                <a16:creationId xmlns:a16="http://schemas.microsoft.com/office/drawing/2014/main" id="{72730699-33DB-F0FB-E4BD-90FDE233114C}"/>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Size the capacity before you start</a:t>
            </a:r>
          </a:p>
          <a:p>
            <a:pPr algn="l">
              <a:buNone/>
            </a:pPr>
            <a:r>
              <a:rPr lang="en-US" sz="100">
                <a:effectLst/>
              </a:rPr>
              <a:t> </a:t>
            </a:r>
            <a:endParaRPr lang="en-US"/>
          </a:p>
        </p:txBody>
      </p:sp>
      <p:sp>
        <p:nvSpPr>
          <p:cNvPr id="24297" name="Rectangle 24296">
            <a:extLst>
              <a:ext uri="{FF2B5EF4-FFF2-40B4-BE49-F238E27FC236}">
                <a16:creationId xmlns:a16="http://schemas.microsoft.com/office/drawing/2014/main" id="{0E8C537D-9448-AE1C-30E6-F071C18AF563}"/>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336" name="Rectangle 24335">
            <a:extLst>
              <a:ext uri="{FF2B5EF4-FFF2-40B4-BE49-F238E27FC236}">
                <a16:creationId xmlns:a16="http://schemas.microsoft.com/office/drawing/2014/main" id="{537284F7-09DF-6585-5936-8BD4AA7043F8}"/>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24376" name="Rectangle 24375">
            <a:extLst>
              <a:ext uri="{FF2B5EF4-FFF2-40B4-BE49-F238E27FC236}">
                <a16:creationId xmlns:a16="http://schemas.microsoft.com/office/drawing/2014/main" id="{85BE24C4-3C11-2EDD-2FA5-E956FC87034A}"/>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24417" name="Rectangle 24416">
            <a:extLst>
              <a:ext uri="{FF2B5EF4-FFF2-40B4-BE49-F238E27FC236}">
                <a16:creationId xmlns:a16="http://schemas.microsoft.com/office/drawing/2014/main" id="{4E1F8C3F-9453-4D20-F13C-9712AEE4E851}"/>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Pick your path in Lab 00: solo, instructor or student.</a:t>
            </a:r>
          </a:p>
          <a:p>
            <a:pPr algn="l">
              <a:buNone/>
            </a:pPr>
            <a:r>
              <a:rPr lang="en-US" sz="100">
                <a:effectLst/>
              </a:rPr>
              <a:t> </a:t>
            </a:r>
            <a:endParaRPr lang="en-US"/>
          </a:p>
        </p:txBody>
      </p:sp>
      <p:sp>
        <p:nvSpPr>
          <p:cNvPr id="24459" name="Rectangle 24458">
            <a:extLst>
              <a:ext uri="{FF2B5EF4-FFF2-40B4-BE49-F238E27FC236}">
                <a16:creationId xmlns:a16="http://schemas.microsoft.com/office/drawing/2014/main" id="{2BA15608-9CCD-A1B6-0B90-8C76DF379A94}"/>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24502" name="Rectangle 24501">
            <a:extLst>
              <a:ext uri="{FF2B5EF4-FFF2-40B4-BE49-F238E27FC236}">
                <a16:creationId xmlns:a16="http://schemas.microsoft.com/office/drawing/2014/main" id="{1C2FB2C4-4C21-AEDE-4861-CC605399F0C1}"/>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Register for NROD and RDM; approval can take days.</a:t>
            </a:r>
          </a:p>
          <a:p>
            <a:pPr algn="l">
              <a:buNone/>
            </a:pPr>
            <a:r>
              <a:rPr lang="en-US" sz="100">
                <a:effectLst/>
              </a:rPr>
              <a:t> </a:t>
            </a:r>
            <a:endParaRPr lang="en-US"/>
          </a:p>
        </p:txBody>
      </p:sp>
      <p:sp>
        <p:nvSpPr>
          <p:cNvPr id="24546" name="Rectangle 24545">
            <a:extLst>
              <a:ext uri="{FF2B5EF4-FFF2-40B4-BE49-F238E27FC236}">
                <a16:creationId xmlns:a16="http://schemas.microsoft.com/office/drawing/2014/main" id="{9CAB4ADA-62E7-9B85-4BA2-565F6625967C}"/>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24591" name="Rectangle 24590">
            <a:extLst>
              <a:ext uri="{FF2B5EF4-FFF2-40B4-BE49-F238E27FC236}">
                <a16:creationId xmlns:a16="http://schemas.microsoft.com/office/drawing/2014/main" id="{05269FCC-86C1-4764-F97C-F70246B65796}"/>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Turn on tenant settings: data agent, Fabric Apps, Execute Queries API.</a:t>
            </a:r>
          </a:p>
          <a:p>
            <a:pPr algn="l">
              <a:buNone/>
            </a:pPr>
            <a:r>
              <a:rPr lang="en-US" sz="100">
                <a:effectLst/>
              </a:rPr>
              <a:t> </a:t>
            </a:r>
            <a:endParaRPr lang="en-US"/>
          </a:p>
        </p:txBody>
      </p:sp>
      <p:sp>
        <p:nvSpPr>
          <p:cNvPr id="24637" name="Rectangle 24636">
            <a:extLst>
              <a:ext uri="{FF2B5EF4-FFF2-40B4-BE49-F238E27FC236}">
                <a16:creationId xmlns:a16="http://schemas.microsoft.com/office/drawing/2014/main" id="{121BC2BD-E9EA-02BC-D396-4BD714201307}"/>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24684" name="Rectangle 24683">
            <a:extLst>
              <a:ext uri="{FF2B5EF4-FFF2-40B4-BE49-F238E27FC236}">
                <a16:creationId xmlns:a16="http://schemas.microsoft.com/office/drawing/2014/main" id="{43670998-0E24-A421-7E1D-C9F4910BC632}"/>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Install az, Python, Git, Node.js and Functions Core Tools.</a:t>
            </a:r>
          </a:p>
          <a:p>
            <a:pPr algn="l">
              <a:buNone/>
            </a:pPr>
            <a:r>
              <a:rPr lang="en-US" sz="100">
                <a:effectLst/>
              </a:rPr>
              <a:t> </a:t>
            </a:r>
            <a:endParaRPr lang="en-US"/>
          </a:p>
        </p:txBody>
      </p:sp>
      <p:sp>
        <p:nvSpPr>
          <p:cNvPr id="24732" name="Rectangle 24731">
            <a:extLst>
              <a:ext uri="{FF2B5EF4-FFF2-40B4-BE49-F238E27FC236}">
                <a16:creationId xmlns:a16="http://schemas.microsoft.com/office/drawing/2014/main" id="{47F26C1B-CB33-82E7-439E-28F1B168D2F7}"/>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Check regions first: App (preview) in Fabric, gpt-5.4/5.5 in Foundry (none in UK West when tested). Some installs need admin rights.</a:t>
            </a:r>
            <a:endParaRPr lang="en-US"/>
          </a:p>
        </p:txBody>
      </p:sp>
      <p:sp>
        <p:nvSpPr>
          <p:cNvPr id="24781" name="Rectangle 24780">
            <a:extLst>
              <a:ext uri="{FF2B5EF4-FFF2-40B4-BE49-F238E27FC236}">
                <a16:creationId xmlns:a16="http://schemas.microsoft.com/office/drawing/2014/main" id="{8DDCD12E-45F7-005C-3D64-802CB7641B80}"/>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docs/labs/01-prerequisites.md · docs/capacity-planning.md</a:t>
            </a:r>
          </a:p>
          <a:p>
            <a:pPr algn="l">
              <a:buNone/>
            </a:pPr>
            <a:r>
              <a:rPr lang="en-US" sz="100">
                <a:effectLst/>
              </a:rPr>
              <a:t> </a:t>
            </a:r>
            <a:endParaRPr lang="en-US"/>
          </a:p>
        </p:txBody>
      </p:sp>
      <p:sp>
        <p:nvSpPr>
          <p:cNvPr id="24831" name="Rectangle 24830">
            <a:extLst>
              <a:ext uri="{FF2B5EF4-FFF2-40B4-BE49-F238E27FC236}">
                <a16:creationId xmlns:a16="http://schemas.microsoft.com/office/drawing/2014/main" id="{FD215FAD-4752-2B27-2DB4-D2F5FE37DD01}"/>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24882" name="Rectangle 24881">
            <a:extLst>
              <a:ext uri="{FF2B5EF4-FFF2-40B4-BE49-F238E27FC236}">
                <a16:creationId xmlns:a16="http://schemas.microsoft.com/office/drawing/2014/main" id="{BF2DDD4B-5A8C-BE72-CFD2-3FB309707F85}"/>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Always-on Eventstreams draw capacity all day</a:t>
            </a:r>
          </a:p>
          <a:p>
            <a:pPr algn="l">
              <a:buNone/>
            </a:pPr>
            <a:r>
              <a:rPr lang="en-US" sz="100">
                <a:effectLst/>
              </a:rPr>
              <a:t> </a:t>
            </a:r>
            <a:endParaRPr lang="en-US"/>
          </a:p>
        </p:txBody>
      </p:sp>
      <p:sp>
        <p:nvSpPr>
          <p:cNvPr id="24934" name="Rectangle 24933">
            <a:extLst>
              <a:ext uri="{FF2B5EF4-FFF2-40B4-BE49-F238E27FC236}">
                <a16:creationId xmlns:a16="http://schemas.microsoft.com/office/drawing/2014/main" id="{9E3C7C87-637B-D664-8A22-9AE211379D24}"/>
              </a:ext>
            </a:extLst>
          </p:cNvPr>
          <p:cNvSpPr/>
          <p:nvPr/>
        </p:nvSpPr>
        <p:spPr>
          <a:xfrm>
            <a:off x="5900000" y="2280000"/>
            <a:ext cx="58348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One Kafka Eventstream</a:t>
            </a:r>
          </a:p>
          <a:p>
            <a:pPr algn="l">
              <a:buNone/>
            </a:pPr>
            <a:r>
              <a:rPr lang="en-US" sz="100">
                <a:effectLst/>
              </a:rPr>
              <a:t> </a:t>
            </a:r>
            <a:endParaRPr lang="en-US"/>
          </a:p>
        </p:txBody>
      </p:sp>
      <p:sp>
        <p:nvSpPr>
          <p:cNvPr id="24987" name="Rectangle 24986">
            <a:extLst>
              <a:ext uri="{FF2B5EF4-FFF2-40B4-BE49-F238E27FC236}">
                <a16:creationId xmlns:a16="http://schemas.microsoft.com/office/drawing/2014/main" id="{16D8482A-57B8-B5DB-362B-8C869FF154E7}"/>
              </a:ext>
            </a:extLst>
          </p:cNvPr>
          <p:cNvSpPr/>
          <p:nvPr/>
        </p:nvSpPr>
        <p:spPr>
          <a:xfrm>
            <a:off x="5900000" y="2580000"/>
            <a:ext cx="3300000" cy="240000"/>
          </a:xfrm>
          <a:prstGeom prst="rect">
            <a:avLst/>
          </a:prstGeom>
          <a:solidFill>
            <a:srgbClr val="E6EBF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41" name="Rectangle 25040">
            <a:extLst>
              <a:ext uri="{FF2B5EF4-FFF2-40B4-BE49-F238E27FC236}">
                <a16:creationId xmlns:a16="http://schemas.microsoft.com/office/drawing/2014/main" id="{A4A238CD-1C35-47A6-679F-124FE2D812F1}"/>
              </a:ext>
            </a:extLst>
          </p:cNvPr>
          <p:cNvSpPr/>
          <p:nvPr/>
        </p:nvSpPr>
        <p:spPr>
          <a:xfrm>
            <a:off x="5900000" y="2580000"/>
            <a:ext cx="1369500" cy="240000"/>
          </a:xfrm>
          <a:prstGeom prst="rect">
            <a:avLst/>
          </a:prstGeom>
          <a:solidFill>
            <a:srgbClr val="9FB0C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96" name="Rectangle 25095">
            <a:extLst>
              <a:ext uri="{FF2B5EF4-FFF2-40B4-BE49-F238E27FC236}">
                <a16:creationId xmlns:a16="http://schemas.microsoft.com/office/drawing/2014/main" id="{AA680F4C-AA66-9663-4A52-6A1E92493C00}"/>
              </a:ext>
            </a:extLst>
          </p:cNvPr>
          <p:cNvSpPr/>
          <p:nvPr/>
        </p:nvSpPr>
        <p:spPr>
          <a:xfrm>
            <a:off x="9320000" y="2520000"/>
            <a:ext cx="24148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0.83 CU · 42% of an F2</a:t>
            </a:r>
          </a:p>
          <a:p>
            <a:pPr algn="l">
              <a:buNone/>
            </a:pPr>
            <a:r>
              <a:rPr lang="en-US" sz="100">
                <a:effectLst/>
              </a:rPr>
              <a:t> </a:t>
            </a:r>
            <a:endParaRPr lang="en-US"/>
          </a:p>
        </p:txBody>
      </p:sp>
      <p:sp>
        <p:nvSpPr>
          <p:cNvPr id="25152" name="Rectangle 25151">
            <a:extLst>
              <a:ext uri="{FF2B5EF4-FFF2-40B4-BE49-F238E27FC236}">
                <a16:creationId xmlns:a16="http://schemas.microsoft.com/office/drawing/2014/main" id="{31FE312E-50CC-E1BA-B920-9D9C232B85FE}"/>
              </a:ext>
            </a:extLst>
          </p:cNvPr>
          <p:cNvSpPr/>
          <p:nvPr/>
        </p:nvSpPr>
        <p:spPr>
          <a:xfrm>
            <a:off x="5900000" y="3050000"/>
            <a:ext cx="58348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Two Kafka Eventstreams</a:t>
            </a:r>
          </a:p>
          <a:p>
            <a:pPr algn="l">
              <a:buNone/>
            </a:pPr>
            <a:r>
              <a:rPr lang="en-US" sz="100">
                <a:effectLst/>
              </a:rPr>
              <a:t> </a:t>
            </a:r>
            <a:endParaRPr lang="en-US"/>
          </a:p>
        </p:txBody>
      </p:sp>
      <p:sp>
        <p:nvSpPr>
          <p:cNvPr id="25209" name="Rectangle 25208">
            <a:extLst>
              <a:ext uri="{FF2B5EF4-FFF2-40B4-BE49-F238E27FC236}">
                <a16:creationId xmlns:a16="http://schemas.microsoft.com/office/drawing/2014/main" id="{040666CF-5A84-B580-FB19-61C04F43522A}"/>
              </a:ext>
            </a:extLst>
          </p:cNvPr>
          <p:cNvSpPr/>
          <p:nvPr/>
        </p:nvSpPr>
        <p:spPr>
          <a:xfrm>
            <a:off x="5900000" y="3350000"/>
            <a:ext cx="3300000" cy="240000"/>
          </a:xfrm>
          <a:prstGeom prst="rect">
            <a:avLst/>
          </a:prstGeom>
          <a:solidFill>
            <a:srgbClr val="E6EBF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67" name="Rectangle 25266">
            <a:extLst>
              <a:ext uri="{FF2B5EF4-FFF2-40B4-BE49-F238E27FC236}">
                <a16:creationId xmlns:a16="http://schemas.microsoft.com/office/drawing/2014/main" id="{3E59811D-F605-D65C-0006-9625D3A37788}"/>
              </a:ext>
            </a:extLst>
          </p:cNvPr>
          <p:cNvSpPr/>
          <p:nvPr/>
        </p:nvSpPr>
        <p:spPr>
          <a:xfrm>
            <a:off x="5900000" y="3350000"/>
            <a:ext cx="2739000" cy="240000"/>
          </a:xfrm>
          <a:prstGeom prst="rect">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26" name="Rectangle 25325">
            <a:extLst>
              <a:ext uri="{FF2B5EF4-FFF2-40B4-BE49-F238E27FC236}">
                <a16:creationId xmlns:a16="http://schemas.microsoft.com/office/drawing/2014/main" id="{133E4AE2-FBE1-56DE-7723-211295CF0B33}"/>
              </a:ext>
            </a:extLst>
          </p:cNvPr>
          <p:cNvSpPr/>
          <p:nvPr/>
        </p:nvSpPr>
        <p:spPr>
          <a:xfrm>
            <a:off x="9320000" y="3290000"/>
            <a:ext cx="24148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1.66 CU · 83% of an F2</a:t>
            </a:r>
          </a:p>
          <a:p>
            <a:pPr algn="l">
              <a:buNone/>
            </a:pPr>
            <a:r>
              <a:rPr lang="en-US" sz="100">
                <a:effectLst/>
              </a:rPr>
              <a:t> </a:t>
            </a:r>
            <a:endParaRPr lang="en-US"/>
          </a:p>
        </p:txBody>
      </p:sp>
      <p:sp>
        <p:nvSpPr>
          <p:cNvPr id="25386" name="Rectangle 25385">
            <a:extLst>
              <a:ext uri="{FF2B5EF4-FFF2-40B4-BE49-F238E27FC236}">
                <a16:creationId xmlns:a16="http://schemas.microsoft.com/office/drawing/2014/main" id="{B2543DEA-2CA2-71F2-9142-722962ED885D}"/>
              </a:ext>
            </a:extLst>
          </p:cNvPr>
          <p:cNvSpPr/>
          <p:nvPr/>
        </p:nvSpPr>
        <p:spPr>
          <a:xfrm>
            <a:off x="5900000" y="3820000"/>
            <a:ext cx="58348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F2 capacity</a:t>
            </a:r>
          </a:p>
          <a:p>
            <a:pPr algn="l">
              <a:buNone/>
            </a:pPr>
            <a:r>
              <a:rPr lang="en-US" sz="100">
                <a:effectLst/>
              </a:rPr>
              <a:t> </a:t>
            </a:r>
            <a:endParaRPr lang="en-US"/>
          </a:p>
        </p:txBody>
      </p:sp>
      <p:sp>
        <p:nvSpPr>
          <p:cNvPr id="25447" name="Rectangle 25446">
            <a:extLst>
              <a:ext uri="{FF2B5EF4-FFF2-40B4-BE49-F238E27FC236}">
                <a16:creationId xmlns:a16="http://schemas.microsoft.com/office/drawing/2014/main" id="{90676F23-3BE0-D352-CDBF-BFD6153A2C0E}"/>
              </a:ext>
            </a:extLst>
          </p:cNvPr>
          <p:cNvSpPr/>
          <p:nvPr/>
        </p:nvSpPr>
        <p:spPr>
          <a:xfrm>
            <a:off x="5900000" y="4120000"/>
            <a:ext cx="3300000" cy="240000"/>
          </a:xfrm>
          <a:prstGeom prst="rect">
            <a:avLst/>
          </a:prstGeom>
          <a:solidFill>
            <a:srgbClr val="E6EBF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509" name="Rectangle 25508">
            <a:extLst>
              <a:ext uri="{FF2B5EF4-FFF2-40B4-BE49-F238E27FC236}">
                <a16:creationId xmlns:a16="http://schemas.microsoft.com/office/drawing/2014/main" id="{A604A94C-F5D6-2206-2598-D914DFF56849}"/>
              </a:ext>
            </a:extLst>
          </p:cNvPr>
          <p:cNvSpPr/>
          <p:nvPr/>
        </p:nvSpPr>
        <p:spPr>
          <a:xfrm>
            <a:off x="5900000" y="4120000"/>
            <a:ext cx="3300000" cy="240000"/>
          </a:xfrm>
          <a:prstGeom prst="rect">
            <a:avLst/>
          </a:prstGeom>
          <a:solidFill>
            <a:srgbClr val="9FB0C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572" name="Rectangle 25571">
            <a:extLst>
              <a:ext uri="{FF2B5EF4-FFF2-40B4-BE49-F238E27FC236}">
                <a16:creationId xmlns:a16="http://schemas.microsoft.com/office/drawing/2014/main" id="{04B39942-32C1-8D30-6DDA-D34D05B097EC}"/>
              </a:ext>
            </a:extLst>
          </p:cNvPr>
          <p:cNvSpPr/>
          <p:nvPr/>
        </p:nvSpPr>
        <p:spPr>
          <a:xfrm>
            <a:off x="9320000" y="4060000"/>
            <a:ext cx="24148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2 CU</a:t>
            </a:r>
          </a:p>
          <a:p>
            <a:pPr algn="l">
              <a:buNone/>
            </a:pPr>
            <a:r>
              <a:rPr lang="en-US" sz="100">
                <a:effectLst/>
              </a:rPr>
              <a:t> </a:t>
            </a:r>
            <a:endParaRPr lang="en-US"/>
          </a:p>
        </p:txBody>
      </p:sp>
      <p:sp>
        <p:nvSpPr>
          <p:cNvPr id="25636" name="Rectangle 25635">
            <a:extLst>
              <a:ext uri="{FF2B5EF4-FFF2-40B4-BE49-F238E27FC236}">
                <a16:creationId xmlns:a16="http://schemas.microsoft.com/office/drawing/2014/main" id="{FFF9CD2C-94C3-0B14-7784-D76169A5E0AD}"/>
              </a:ext>
            </a:extLst>
          </p:cNvPr>
          <p:cNvSpPr/>
          <p:nvPr/>
        </p:nvSpPr>
        <p:spPr>
          <a:xfrm>
            <a:off x="5900000" y="4530000"/>
            <a:ext cx="58348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Bars share one scale: 0 to 2 CU (one F2).</a:t>
            </a:r>
          </a:p>
          <a:p>
            <a:pPr algn="l">
              <a:buNone/>
            </a:pPr>
            <a:r>
              <a:rPr lang="en-US" sz="100">
                <a:effectLst/>
              </a:rPr>
              <a:t> </a:t>
            </a:r>
            <a:endParaRPr lang="en-US"/>
          </a:p>
        </p:txBody>
      </p:sp>
      <p:sp>
        <p:nvSpPr>
          <p:cNvPr id="25701" name="Rectangle 25700">
            <a:extLst>
              <a:ext uri="{FF2B5EF4-FFF2-40B4-BE49-F238E27FC236}">
                <a16:creationId xmlns:a16="http://schemas.microsoft.com/office/drawing/2014/main" id="{A6B2DAA9-CB9E-A9A5-5B56-F0BCDE69ED7A}"/>
              </a:ext>
            </a:extLst>
          </p:cNvPr>
          <p:cNvSpPr/>
          <p:nvPr/>
        </p:nvSpPr>
        <p:spPr>
          <a:xfrm>
            <a:off x="5900000" y="4890000"/>
            <a:ext cx="32174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D4F66"/>
                </a:solidFill>
                <a:effectLst/>
                <a:latin typeface="Calibri" panose="020F0502020204030204" pitchFamily="34" charset="0"/>
              </a:rPr>
              <a:t>Single builder, Train Movements</a:t>
            </a:r>
          </a:p>
          <a:p>
            <a:pPr algn="l">
              <a:buNone/>
            </a:pPr>
            <a:r>
              <a:rPr lang="en-US" sz="100">
                <a:effectLst/>
              </a:rPr>
              <a:t> </a:t>
            </a:r>
            <a:endParaRPr lang="en-US"/>
          </a:p>
        </p:txBody>
      </p:sp>
      <p:sp>
        <p:nvSpPr>
          <p:cNvPr id="25767" name="Rectangle 25766">
            <a:extLst>
              <a:ext uri="{FF2B5EF4-FFF2-40B4-BE49-F238E27FC236}">
                <a16:creationId xmlns:a16="http://schemas.microsoft.com/office/drawing/2014/main" id="{AEC932B8-D68B-7CE6-5BBE-090D120E4005}"/>
              </a:ext>
            </a:extLst>
          </p:cNvPr>
          <p:cNvSpPr/>
          <p:nvPr/>
        </p:nvSpPr>
        <p:spPr>
          <a:xfrm>
            <a:off x="9117400" y="4890000"/>
            <a:ext cx="26174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0B1F3A"/>
                </a:solidFill>
                <a:effectLst/>
                <a:latin typeface="Calibri" panose="020F0502020204030204" pitchFamily="34" charset="0"/>
              </a:rPr>
              <a:t>F2 tight · F4 comfortable</a:t>
            </a:r>
          </a:p>
          <a:p>
            <a:pPr algn="l">
              <a:buNone/>
            </a:pPr>
            <a:r>
              <a:rPr lang="en-US" sz="100">
                <a:effectLst/>
              </a:rPr>
              <a:t> </a:t>
            </a:r>
            <a:endParaRPr lang="en-US"/>
          </a:p>
        </p:txBody>
      </p:sp>
      <p:sp>
        <p:nvSpPr>
          <p:cNvPr id="25834" name="Rectangle 25833">
            <a:extLst>
              <a:ext uri="{FF2B5EF4-FFF2-40B4-BE49-F238E27FC236}">
                <a16:creationId xmlns:a16="http://schemas.microsoft.com/office/drawing/2014/main" id="{6F65DF5B-1E53-EFBC-1AB7-CE5ABE9A8A69}"/>
              </a:ext>
            </a:extLst>
          </p:cNvPr>
          <p:cNvSpPr/>
          <p:nvPr/>
        </p:nvSpPr>
        <p:spPr>
          <a:xfrm>
            <a:off x="5900000" y="5210000"/>
            <a:ext cx="32174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D4F66"/>
                </a:solidFill>
                <a:effectLst/>
                <a:latin typeface="Calibri" panose="020F0502020204030204" pitchFamily="34" charset="0"/>
              </a:rPr>
              <a:t>Plus Darwin or the NROD bridge</a:t>
            </a:r>
          </a:p>
          <a:p>
            <a:pPr algn="l">
              <a:buNone/>
            </a:pPr>
            <a:r>
              <a:rPr lang="en-US" sz="100">
                <a:effectLst/>
              </a:rPr>
              <a:t> </a:t>
            </a:r>
            <a:endParaRPr lang="en-US"/>
          </a:p>
        </p:txBody>
      </p:sp>
      <p:sp>
        <p:nvSpPr>
          <p:cNvPr id="25902" name="Rectangle 25901">
            <a:extLst>
              <a:ext uri="{FF2B5EF4-FFF2-40B4-BE49-F238E27FC236}">
                <a16:creationId xmlns:a16="http://schemas.microsoft.com/office/drawing/2014/main" id="{CAD622B8-51DB-8F06-9F42-1BBCE8F261E0}"/>
              </a:ext>
            </a:extLst>
          </p:cNvPr>
          <p:cNvSpPr/>
          <p:nvPr/>
        </p:nvSpPr>
        <p:spPr>
          <a:xfrm>
            <a:off x="9117400" y="5210000"/>
            <a:ext cx="26174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0B1F3A"/>
                </a:solidFill>
                <a:effectLst/>
                <a:latin typeface="Calibri" panose="020F0502020204030204" pitchFamily="34" charset="0"/>
              </a:rPr>
              <a:t>F4 minimum · F8 with heavy use</a:t>
            </a:r>
          </a:p>
          <a:p>
            <a:pPr algn="l">
              <a:buNone/>
            </a:pPr>
            <a:r>
              <a:rPr lang="en-US" sz="100">
                <a:effectLst/>
              </a:rPr>
              <a:t> </a:t>
            </a:r>
            <a:endParaRPr lang="en-US"/>
          </a:p>
        </p:txBody>
      </p:sp>
      <p:sp>
        <p:nvSpPr>
          <p:cNvPr id="25971" name="Rectangle 25970">
            <a:extLst>
              <a:ext uri="{FF2B5EF4-FFF2-40B4-BE49-F238E27FC236}">
                <a16:creationId xmlns:a16="http://schemas.microsoft.com/office/drawing/2014/main" id="{3AAC15BF-E948-8B73-8A46-60815B4100B3}"/>
              </a:ext>
            </a:extLst>
          </p:cNvPr>
          <p:cNvSpPr/>
          <p:nvPr/>
        </p:nvSpPr>
        <p:spPr>
          <a:xfrm>
            <a:off x="5900000" y="5530000"/>
            <a:ext cx="32174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D4F66"/>
                </a:solidFill>
                <a:effectLst/>
                <a:latin typeface="Calibri" panose="020F0502020204030204" pitchFamily="34" charset="0"/>
              </a:rPr>
              <a:t>Class, own pipeline each</a:t>
            </a:r>
          </a:p>
          <a:p>
            <a:pPr algn="l">
              <a:buNone/>
            </a:pPr>
            <a:r>
              <a:rPr lang="en-US" sz="100">
                <a:effectLst/>
              </a:rPr>
              <a:t> </a:t>
            </a:r>
            <a:endParaRPr lang="en-US"/>
          </a:p>
        </p:txBody>
      </p:sp>
      <p:sp>
        <p:nvSpPr>
          <p:cNvPr id="26041" name="Rectangle 26040">
            <a:extLst>
              <a:ext uri="{FF2B5EF4-FFF2-40B4-BE49-F238E27FC236}">
                <a16:creationId xmlns:a16="http://schemas.microsoft.com/office/drawing/2014/main" id="{4F8A940A-2E98-B524-BA32-187F75C67C5C}"/>
              </a:ext>
            </a:extLst>
          </p:cNvPr>
          <p:cNvSpPr/>
          <p:nvPr/>
        </p:nvSpPr>
        <p:spPr>
          <a:xfrm>
            <a:off x="9117400" y="5530000"/>
            <a:ext cx="26174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0B1F3A"/>
                </a:solidFill>
                <a:effectLst/>
                <a:latin typeface="Calibri" panose="020F0502020204030204" pitchFamily="34" charset="0"/>
              </a:rPr>
              <a:t>~1.5–2 CU per student</a:t>
            </a:r>
          </a:p>
          <a:p>
            <a:pPr algn="l">
              <a:buNone/>
            </a:pPr>
            <a:r>
              <a:rPr lang="en-US" sz="100">
                <a:effectLst/>
              </a:rPr>
              <a:t> </a:t>
            </a:r>
            <a:endParaRPr lang="en-US"/>
          </a:p>
        </p:txBody>
      </p:sp>
    </p:spTree>
    <p:extLst>
      <p:ext uri="{BB962C8B-B14F-4D97-AF65-F5344CB8AC3E}">
        <p14:creationId xmlns:p14="http://schemas.microsoft.com/office/powerpoint/2010/main" val="353134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6044" name="Rectangle 26043">
            <a:extLst>
              <a:ext uri="{FF2B5EF4-FFF2-40B4-BE49-F238E27FC236}">
                <a16:creationId xmlns:a16="http://schemas.microsoft.com/office/drawing/2014/main" id="{E6D2DA07-60E5-180A-A0BC-7B98291D006F}"/>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02 · FABRIC WORKSPACE · 20 MIN</a:t>
            </a:r>
          </a:p>
          <a:p>
            <a:pPr algn="l">
              <a:buNone/>
            </a:pPr>
            <a:r>
              <a:rPr lang="en-US" sz="100">
                <a:effectLst/>
              </a:rPr>
              <a:t> </a:t>
            </a:r>
            <a:endParaRPr lang="en-US"/>
          </a:p>
        </p:txBody>
      </p:sp>
      <p:sp>
        <p:nvSpPr>
          <p:cNvPr id="26046" name="Rectangle 26045">
            <a:extLst>
              <a:ext uri="{FF2B5EF4-FFF2-40B4-BE49-F238E27FC236}">
                <a16:creationId xmlns:a16="http://schemas.microsoft.com/office/drawing/2014/main" id="{324B9548-13E1-7D1E-38C6-C1DB98D967A2}"/>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One workspace holds the whole pipeline</a:t>
            </a:r>
          </a:p>
          <a:p>
            <a:pPr algn="l">
              <a:buNone/>
            </a:pPr>
            <a:r>
              <a:rPr lang="en-US" sz="100">
                <a:effectLst/>
              </a:rPr>
              <a:t> </a:t>
            </a:r>
            <a:endParaRPr lang="en-US"/>
          </a:p>
        </p:txBody>
      </p:sp>
      <p:sp>
        <p:nvSpPr>
          <p:cNvPr id="26049" name="Rectangle 26048">
            <a:extLst>
              <a:ext uri="{FF2B5EF4-FFF2-40B4-BE49-F238E27FC236}">
                <a16:creationId xmlns:a16="http://schemas.microsoft.com/office/drawing/2014/main" id="{62FA92D3-0C2C-4BDD-E05E-7080E183810C}"/>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53" name="Rectangle 26052">
            <a:extLst>
              <a:ext uri="{FF2B5EF4-FFF2-40B4-BE49-F238E27FC236}">
                <a16:creationId xmlns:a16="http://schemas.microsoft.com/office/drawing/2014/main" id="{E024E0D4-BFC6-32C6-A745-2BF794C76D57}"/>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26058" name="Rectangle 26057">
            <a:extLst>
              <a:ext uri="{FF2B5EF4-FFF2-40B4-BE49-F238E27FC236}">
                <a16:creationId xmlns:a16="http://schemas.microsoft.com/office/drawing/2014/main" id="{529744FF-084E-CBAE-F6BA-368F96D8E300}"/>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26064" name="Rectangle 26063">
            <a:extLst>
              <a:ext uri="{FF2B5EF4-FFF2-40B4-BE49-F238E27FC236}">
                <a16:creationId xmlns:a16="http://schemas.microsoft.com/office/drawing/2014/main" id="{13006D10-ECAE-1E09-A186-D947A95B3A18}"/>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Run fabric-setup, or create the items in the portal.</a:t>
            </a:r>
          </a:p>
          <a:p>
            <a:pPr algn="l">
              <a:buNone/>
            </a:pPr>
            <a:r>
              <a:rPr lang="en-US" sz="100">
                <a:effectLst/>
              </a:rPr>
              <a:t> </a:t>
            </a:r>
            <a:endParaRPr lang="en-US"/>
          </a:p>
        </p:txBody>
      </p:sp>
      <p:sp>
        <p:nvSpPr>
          <p:cNvPr id="26071" name="Rectangle 26070">
            <a:extLst>
              <a:ext uri="{FF2B5EF4-FFF2-40B4-BE49-F238E27FC236}">
                <a16:creationId xmlns:a16="http://schemas.microsoft.com/office/drawing/2014/main" id="{0D7ADBA3-47C5-7E52-8D71-300E105CADB1}"/>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26079" name="Rectangle 26078">
            <a:extLst>
              <a:ext uri="{FF2B5EF4-FFF2-40B4-BE49-F238E27FC236}">
                <a16:creationId xmlns:a16="http://schemas.microsoft.com/office/drawing/2014/main" id="{7247C858-A6D6-FE1A-54BC-621C458FD017}"/>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Eventhouse RailEventhouse, KQL database RailKQL, Lakehouse RailLakehouse.</a:t>
            </a:r>
          </a:p>
          <a:p>
            <a:pPr algn="l">
              <a:buNone/>
            </a:pPr>
            <a:r>
              <a:rPr lang="en-US" sz="100">
                <a:effectLst/>
              </a:rPr>
              <a:t> </a:t>
            </a:r>
            <a:endParaRPr lang="en-US"/>
          </a:p>
        </p:txBody>
      </p:sp>
      <p:sp>
        <p:nvSpPr>
          <p:cNvPr id="26088" name="Rectangle 26087">
            <a:extLst>
              <a:ext uri="{FF2B5EF4-FFF2-40B4-BE49-F238E27FC236}">
                <a16:creationId xmlns:a16="http://schemas.microsoft.com/office/drawing/2014/main" id="{1956C741-9F50-707B-3877-2913D20945B7}"/>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26098" name="Rectangle 26097">
            <a:extLst>
              <a:ext uri="{FF2B5EF4-FFF2-40B4-BE49-F238E27FC236}">
                <a16:creationId xmlns:a16="http://schemas.microsoft.com/office/drawing/2014/main" id="{7049E863-2576-A3F3-2D69-5D8A7E18410B}"/>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Three empty Eventstreams: Rdm, Nrod and Darwin.</a:t>
            </a:r>
          </a:p>
          <a:p>
            <a:pPr algn="l">
              <a:buNone/>
            </a:pPr>
            <a:r>
              <a:rPr lang="en-US" sz="100">
                <a:effectLst/>
              </a:rPr>
              <a:t> </a:t>
            </a:r>
            <a:endParaRPr lang="en-US"/>
          </a:p>
        </p:txBody>
      </p:sp>
      <p:sp>
        <p:nvSpPr>
          <p:cNvPr id="26109" name="Rectangle 26108">
            <a:extLst>
              <a:ext uri="{FF2B5EF4-FFF2-40B4-BE49-F238E27FC236}">
                <a16:creationId xmlns:a16="http://schemas.microsoft.com/office/drawing/2014/main" id="{F2E68F45-DBA1-3328-93DD-F8E1326F0E3B}"/>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26121" name="Rectangle 26120">
            <a:extLst>
              <a:ext uri="{FF2B5EF4-FFF2-40B4-BE49-F238E27FC236}">
                <a16:creationId xmlns:a16="http://schemas.microsoft.com/office/drawing/2014/main" id="{2F653DF3-7928-1028-3408-1F92CFA042CF}"/>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Create the raw tables and JSON mappings before any data arrives.</a:t>
            </a:r>
          </a:p>
          <a:p>
            <a:pPr algn="l">
              <a:buNone/>
            </a:pPr>
            <a:r>
              <a:rPr lang="en-US" sz="100">
                <a:effectLst/>
              </a:rPr>
              <a:t> </a:t>
            </a:r>
            <a:endParaRPr lang="en-US"/>
          </a:p>
        </p:txBody>
      </p:sp>
      <p:sp>
        <p:nvSpPr>
          <p:cNvPr id="26134" name="Rectangle 26133">
            <a:extLst>
              <a:ext uri="{FF2B5EF4-FFF2-40B4-BE49-F238E27FC236}">
                <a16:creationId xmlns:a16="http://schemas.microsoft.com/office/drawing/2014/main" id="{75656141-BAB9-A2A1-3CD8-354E32B2848F}"/>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Copy the KQL Query URI into .env as KUSTO_QUERY_URI. Later labs use it.</a:t>
            </a:r>
            <a:endParaRPr lang="en-US"/>
          </a:p>
        </p:txBody>
      </p:sp>
      <p:sp>
        <p:nvSpPr>
          <p:cNvPr id="26148" name="Rectangle 26147">
            <a:extLst>
              <a:ext uri="{FF2B5EF4-FFF2-40B4-BE49-F238E27FC236}">
                <a16:creationId xmlns:a16="http://schemas.microsoft.com/office/drawing/2014/main" id="{BE9117FA-3716-457F-E709-636866E055B6}"/>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docs/labs/02-fabric-workspace.md · scripts/fabric-setup.sh</a:t>
            </a:r>
          </a:p>
          <a:p>
            <a:pPr algn="l">
              <a:buNone/>
            </a:pPr>
            <a:r>
              <a:rPr lang="en-US" sz="100">
                <a:effectLst/>
              </a:rPr>
              <a:t> </a:t>
            </a:r>
            <a:endParaRPr lang="en-US"/>
          </a:p>
        </p:txBody>
      </p:sp>
      <p:sp>
        <p:nvSpPr>
          <p:cNvPr id="26163" name="Rectangle 26162">
            <a:extLst>
              <a:ext uri="{FF2B5EF4-FFF2-40B4-BE49-F238E27FC236}">
                <a16:creationId xmlns:a16="http://schemas.microsoft.com/office/drawing/2014/main" id="{2ECDEE7E-38B7-20BF-8721-D9CF1A114751}"/>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26179" name="Rectangle 26178">
            <a:extLst>
              <a:ext uri="{FF2B5EF4-FFF2-40B4-BE49-F238E27FC236}">
                <a16:creationId xmlns:a16="http://schemas.microsoft.com/office/drawing/2014/main" id="{981EE4BC-F994-F7B6-6B5E-041D661BBEA6}"/>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Four Fabric items, four jobs</a:t>
            </a:r>
          </a:p>
          <a:p>
            <a:pPr algn="l">
              <a:buNone/>
            </a:pPr>
            <a:r>
              <a:rPr lang="en-US" sz="100">
                <a:effectLst/>
              </a:rPr>
              <a:t> </a:t>
            </a:r>
            <a:endParaRPr lang="en-US"/>
          </a:p>
        </p:txBody>
      </p:sp>
      <p:sp>
        <p:nvSpPr>
          <p:cNvPr id="26196" name="Rectangle 26195">
            <a:extLst>
              <a:ext uri="{FF2B5EF4-FFF2-40B4-BE49-F238E27FC236}">
                <a16:creationId xmlns:a16="http://schemas.microsoft.com/office/drawing/2014/main" id="{F040B62F-CC03-A7CF-AC4F-8514C46B829C}"/>
              </a:ext>
            </a:extLst>
          </p:cNvPr>
          <p:cNvSpPr/>
          <p:nvPr/>
        </p:nvSpPr>
        <p:spPr>
          <a:xfrm>
            <a:off x="5900000" y="2280000"/>
            <a:ext cx="2817400" cy="14334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Eventstream</a:t>
            </a:r>
          </a:p>
          <a:p>
            <a:pPr algn="l">
              <a:buNone/>
            </a:pPr>
            <a:r>
              <a:rPr lang="en-US" sz="1300">
                <a:solidFill>
                  <a:srgbClr val="3D4F66"/>
                </a:solidFill>
                <a:effectLst/>
                <a:latin typeface="Calibri" panose="020F0502020204030204" pitchFamily="34" charset="0"/>
              </a:rPr>
              <a:t>Moves events in real time from Kafka, Event Hubs or a custom endpoint. Stores nothing.</a:t>
            </a:r>
            <a:endParaRPr lang="en-US"/>
          </a:p>
        </p:txBody>
      </p:sp>
      <p:sp>
        <p:nvSpPr>
          <p:cNvPr id="26214" name="Rectangle 26213">
            <a:extLst>
              <a:ext uri="{FF2B5EF4-FFF2-40B4-BE49-F238E27FC236}">
                <a16:creationId xmlns:a16="http://schemas.microsoft.com/office/drawing/2014/main" id="{7EAE7AD0-B0DA-6C53-B758-E0DC2720EE61}"/>
              </a:ext>
            </a:extLst>
          </p:cNvPr>
          <p:cNvSpPr/>
          <p:nvPr/>
        </p:nvSpPr>
        <p:spPr>
          <a:xfrm>
            <a:off x="8917400" y="2280000"/>
            <a:ext cx="2817400" cy="14334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Eventhouse · KQL database</a:t>
            </a:r>
          </a:p>
          <a:p>
            <a:pPr algn="l">
              <a:buNone/>
            </a:pPr>
            <a:r>
              <a:rPr lang="en-US" sz="1300">
                <a:solidFill>
                  <a:srgbClr val="3D4F66"/>
                </a:solidFill>
                <a:effectLst/>
                <a:latin typeface="Calibri" panose="020F0502020204030204" pitchFamily="34" charset="0"/>
              </a:rPr>
              <a:t>Stores streaming data and queries it in KQL within seconds of arrival.</a:t>
            </a:r>
            <a:endParaRPr lang="en-US"/>
          </a:p>
        </p:txBody>
      </p:sp>
      <p:sp>
        <p:nvSpPr>
          <p:cNvPr id="26233" name="Rectangle 26232">
            <a:extLst>
              <a:ext uri="{FF2B5EF4-FFF2-40B4-BE49-F238E27FC236}">
                <a16:creationId xmlns:a16="http://schemas.microsoft.com/office/drawing/2014/main" id="{5D79824F-0318-994E-1F47-CA93FFFD87DE}"/>
              </a:ext>
            </a:extLst>
          </p:cNvPr>
          <p:cNvSpPr/>
          <p:nvPr/>
        </p:nvSpPr>
        <p:spPr>
          <a:xfrm>
            <a:off x="5900000" y="3913480"/>
            <a:ext cx="2817400" cy="14334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Lakehouse</a:t>
            </a:r>
          </a:p>
          <a:p>
            <a:pPr algn="l">
              <a:buNone/>
            </a:pPr>
            <a:r>
              <a:rPr lang="en-US" sz="1300">
                <a:solidFill>
                  <a:srgbClr val="3D4F66"/>
                </a:solidFill>
                <a:effectLst/>
                <a:latin typeface="Calibri" panose="020F0502020204030204" pitchFamily="34" charset="0"/>
              </a:rPr>
              <a:t>Delta tables and files in OneLake: reference data and history.</a:t>
            </a:r>
            <a:endParaRPr lang="en-US"/>
          </a:p>
        </p:txBody>
      </p:sp>
      <p:sp>
        <p:nvSpPr>
          <p:cNvPr id="26253" name="Rectangle 26252">
            <a:extLst>
              <a:ext uri="{FF2B5EF4-FFF2-40B4-BE49-F238E27FC236}">
                <a16:creationId xmlns:a16="http://schemas.microsoft.com/office/drawing/2014/main" id="{03E3396B-775F-A1DF-3888-4CF6B803E1C0}"/>
              </a:ext>
            </a:extLst>
          </p:cNvPr>
          <p:cNvSpPr/>
          <p:nvPr/>
        </p:nvSpPr>
        <p:spPr>
          <a:xfrm>
            <a:off x="8917400" y="3913480"/>
            <a:ext cx="2817400" cy="14334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Activator</a:t>
            </a:r>
          </a:p>
          <a:p>
            <a:pPr algn="l">
              <a:buNone/>
            </a:pPr>
            <a:r>
              <a:rPr lang="en-US" sz="1300">
                <a:solidFill>
                  <a:srgbClr val="3D4F66"/>
                </a:solidFill>
                <a:effectLst/>
                <a:latin typeface="Calibri" panose="020F0502020204030204" pitchFamily="34" charset="0"/>
              </a:rPr>
              <a:t>Watches the data and acts: email or Teams when a rule fires (Lab 07).</a:t>
            </a:r>
            <a:endParaRPr lang="en-US"/>
          </a:p>
        </p:txBody>
      </p:sp>
    </p:spTree>
    <p:extLst>
      <p:ext uri="{BB962C8B-B14F-4D97-AF65-F5344CB8AC3E}">
        <p14:creationId xmlns:p14="http://schemas.microsoft.com/office/powerpoint/2010/main" val="2553673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6274" name="Rectangle 26273">
            <a:extLst>
              <a:ext uri="{FF2B5EF4-FFF2-40B4-BE49-F238E27FC236}">
                <a16:creationId xmlns:a16="http://schemas.microsoft.com/office/drawing/2014/main" id="{6DDFA4A1-EA39-8DAC-CCF4-08EE9B575DFD}"/>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03 · REFERENCE DATA · 30 MIN</a:t>
            </a:r>
          </a:p>
          <a:p>
            <a:pPr algn="l">
              <a:buNone/>
            </a:pPr>
            <a:r>
              <a:rPr lang="en-US" sz="100">
                <a:effectLst/>
              </a:rPr>
              <a:t> </a:t>
            </a:r>
            <a:endParaRPr lang="en-US"/>
          </a:p>
        </p:txBody>
      </p:sp>
      <p:sp>
        <p:nvSpPr>
          <p:cNvPr id="26296" name="Rectangle 26295">
            <a:extLst>
              <a:ext uri="{FF2B5EF4-FFF2-40B4-BE49-F238E27FC236}">
                <a16:creationId xmlns:a16="http://schemas.microsoft.com/office/drawing/2014/main" id="{36C0D964-9288-66FE-F060-49EF4A15D5ED}"/>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Turn location codes into map points</a:t>
            </a:r>
          </a:p>
          <a:p>
            <a:pPr algn="l">
              <a:buNone/>
            </a:pPr>
            <a:r>
              <a:rPr lang="en-US" sz="100">
                <a:effectLst/>
              </a:rPr>
              <a:t> </a:t>
            </a:r>
            <a:endParaRPr lang="en-US"/>
          </a:p>
        </p:txBody>
      </p:sp>
      <p:sp>
        <p:nvSpPr>
          <p:cNvPr id="26319" name="Rectangle 26318">
            <a:extLst>
              <a:ext uri="{FF2B5EF4-FFF2-40B4-BE49-F238E27FC236}">
                <a16:creationId xmlns:a16="http://schemas.microsoft.com/office/drawing/2014/main" id="{5233158E-9B93-84E9-3F50-BD6A28EFF2BB}"/>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343" name="Rectangle 26342">
            <a:extLst>
              <a:ext uri="{FF2B5EF4-FFF2-40B4-BE49-F238E27FC236}">
                <a16:creationId xmlns:a16="http://schemas.microsoft.com/office/drawing/2014/main" id="{93BBEB60-E172-23F1-3EC9-4064DD2EE320}"/>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26368" name="Rectangle 26367">
            <a:extLst>
              <a:ext uri="{FF2B5EF4-FFF2-40B4-BE49-F238E27FC236}">
                <a16:creationId xmlns:a16="http://schemas.microsoft.com/office/drawing/2014/main" id="{09FA84C6-F4AA-056F-5E9D-20191A86BC47}"/>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26394" name="Rectangle 26393">
            <a:extLst>
              <a:ext uri="{FF2B5EF4-FFF2-40B4-BE49-F238E27FC236}">
                <a16:creationId xmlns:a16="http://schemas.microsoft.com/office/drawing/2014/main" id="{401FF317-B2BB-7656-5145-B0B9BE1DA9B3}"/>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Download CORPUS and SMART with your NROD login.</a:t>
            </a:r>
          </a:p>
          <a:p>
            <a:pPr algn="l">
              <a:buNone/>
            </a:pPr>
            <a:r>
              <a:rPr lang="en-US" sz="100">
                <a:effectLst/>
              </a:rPr>
              <a:t> </a:t>
            </a:r>
            <a:endParaRPr lang="en-US"/>
          </a:p>
        </p:txBody>
      </p:sp>
      <p:sp>
        <p:nvSpPr>
          <p:cNvPr id="26421" name="Rectangle 26420">
            <a:extLst>
              <a:ext uri="{FF2B5EF4-FFF2-40B4-BE49-F238E27FC236}">
                <a16:creationId xmlns:a16="http://schemas.microsoft.com/office/drawing/2014/main" id="{E3E3D536-7A2C-838B-3F7C-344FFD65B714}"/>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26449" name="Rectangle 26448">
            <a:extLst>
              <a:ext uri="{FF2B5EF4-FFF2-40B4-BE49-F238E27FC236}">
                <a16:creationId xmlns:a16="http://schemas.microsoft.com/office/drawing/2014/main" id="{85B9AF91-B294-8853-F578-6EF98C23CC20}"/>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Download NaPTAN rail stations for coordinates.</a:t>
            </a:r>
          </a:p>
          <a:p>
            <a:pPr algn="l">
              <a:buNone/>
            </a:pPr>
            <a:r>
              <a:rPr lang="en-US" sz="100">
                <a:effectLst/>
              </a:rPr>
              <a:t> </a:t>
            </a:r>
            <a:endParaRPr lang="en-US"/>
          </a:p>
        </p:txBody>
      </p:sp>
      <p:sp>
        <p:nvSpPr>
          <p:cNvPr id="26478" name="Rectangle 26477">
            <a:extLst>
              <a:ext uri="{FF2B5EF4-FFF2-40B4-BE49-F238E27FC236}">
                <a16:creationId xmlns:a16="http://schemas.microsoft.com/office/drawing/2014/main" id="{A03B12DB-51E5-81E4-6315-ACB7189633DC}"/>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26508" name="Rectangle 26507">
            <a:extLst>
              <a:ext uri="{FF2B5EF4-FFF2-40B4-BE49-F238E27FC236}">
                <a16:creationId xmlns:a16="http://schemas.microsoft.com/office/drawing/2014/main" id="{72540337-4500-7E4E-3095-502C75F873EB}"/>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Load the Lakehouse and the KQL Locations table (script or notebook).</a:t>
            </a:r>
          </a:p>
          <a:p>
            <a:pPr algn="l">
              <a:buNone/>
            </a:pPr>
            <a:r>
              <a:rPr lang="en-US" sz="100">
                <a:effectLst/>
              </a:rPr>
              <a:t> </a:t>
            </a:r>
            <a:endParaRPr lang="en-US"/>
          </a:p>
        </p:txBody>
      </p:sp>
      <p:sp>
        <p:nvSpPr>
          <p:cNvPr id="26539" name="Rectangle 26538">
            <a:extLst>
              <a:ext uri="{FF2B5EF4-FFF2-40B4-BE49-F238E27FC236}">
                <a16:creationId xmlns:a16="http://schemas.microsoft.com/office/drawing/2014/main" id="{53C3E3CF-9B2E-4E1D-5475-56D1AE380BBA}"/>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26571" name="Rectangle 26570">
            <a:extLst>
              <a:ext uri="{FF2B5EF4-FFF2-40B4-BE49-F238E27FC236}">
                <a16:creationId xmlns:a16="http://schemas.microsoft.com/office/drawing/2014/main" id="{060865EC-32B1-1A1C-C6D7-E8DAB0FD0C5F}"/>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Classroom: shortcut to the instructor's Lakehouse instead (Option C).</a:t>
            </a:r>
          </a:p>
          <a:p>
            <a:pPr algn="l">
              <a:buNone/>
            </a:pPr>
            <a:r>
              <a:rPr lang="en-US" sz="100">
                <a:effectLst/>
              </a:rPr>
              <a:t> </a:t>
            </a:r>
            <a:endParaRPr lang="en-US"/>
          </a:p>
        </p:txBody>
      </p:sp>
      <p:sp>
        <p:nvSpPr>
          <p:cNvPr id="26604" name="Rectangle 26603">
            <a:extLst>
              <a:ext uri="{FF2B5EF4-FFF2-40B4-BE49-F238E27FC236}">
                <a16:creationId xmlns:a16="http://schemas.microsoft.com/office/drawing/2014/main" id="{EFDB8C17-37AE-BBC8-B871-BD1B4B76C2F9}"/>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The NROD file server sends an incomplete certificate chain. Never turn off verification; see the lab's troubleshooting.</a:t>
            </a:r>
            <a:endParaRPr lang="en-US"/>
          </a:p>
        </p:txBody>
      </p:sp>
      <p:sp>
        <p:nvSpPr>
          <p:cNvPr id="26638" name="Rectangle 26637">
            <a:extLst>
              <a:ext uri="{FF2B5EF4-FFF2-40B4-BE49-F238E27FC236}">
                <a16:creationId xmlns:a16="http://schemas.microsoft.com/office/drawing/2014/main" id="{0FC9E14B-DBA0-9643-F6E9-25B3B5DCEDC8}"/>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docs/labs/03-reference-data.md · fabric/scripts/load_reference_data.py</a:t>
            </a:r>
          </a:p>
          <a:p>
            <a:pPr algn="l">
              <a:buNone/>
            </a:pPr>
            <a:r>
              <a:rPr lang="en-US" sz="100">
                <a:effectLst/>
              </a:rPr>
              <a:t> </a:t>
            </a:r>
            <a:endParaRPr lang="en-US"/>
          </a:p>
        </p:txBody>
      </p:sp>
      <p:sp>
        <p:nvSpPr>
          <p:cNvPr id="26673" name="Rectangle 26672">
            <a:extLst>
              <a:ext uri="{FF2B5EF4-FFF2-40B4-BE49-F238E27FC236}">
                <a16:creationId xmlns:a16="http://schemas.microsoft.com/office/drawing/2014/main" id="{A53D9E25-294F-D7EA-F038-2984962721BB}"/>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26709" name="Rectangle 26708">
            <a:extLst>
              <a:ext uri="{FF2B5EF4-FFF2-40B4-BE49-F238E27FC236}">
                <a16:creationId xmlns:a16="http://schemas.microsoft.com/office/drawing/2014/main" id="{6D20DEEE-A34A-CA42-7280-5F1E18D0DA49}"/>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From STANOX to latitude and longitude</a:t>
            </a:r>
          </a:p>
          <a:p>
            <a:pPr algn="l">
              <a:buNone/>
            </a:pPr>
            <a:r>
              <a:rPr lang="en-US" sz="100">
                <a:effectLst/>
              </a:rPr>
              <a:t> </a:t>
            </a:r>
            <a:endParaRPr lang="en-US"/>
          </a:p>
        </p:txBody>
      </p:sp>
      <p:sp>
        <p:nvSpPr>
          <p:cNvPr id="26746" name="Rectangle 26745">
            <a:extLst>
              <a:ext uri="{FF2B5EF4-FFF2-40B4-BE49-F238E27FC236}">
                <a16:creationId xmlns:a16="http://schemas.microsoft.com/office/drawing/2014/main" id="{AE9602C9-47E3-2EE5-9446-FB48C7CCD911}"/>
              </a:ext>
            </a:extLst>
          </p:cNvPr>
          <p:cNvSpPr/>
          <p:nvPr/>
        </p:nvSpPr>
        <p:spPr>
          <a:xfrm>
            <a:off x="5900000" y="226000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TRUST movement</a:t>
            </a:r>
          </a:p>
          <a:p>
            <a:pPr algn="l">
              <a:buNone/>
            </a:pPr>
            <a:r>
              <a:rPr lang="en-US" sz="1200">
                <a:solidFill>
                  <a:srgbClr val="3D4F66"/>
                </a:solidFill>
                <a:effectLst/>
                <a:latin typeface="Calibri" panose="020F0502020204030204" pitchFamily="34" charset="0"/>
              </a:rPr>
              <a:t>loc_stanox = 17132</a:t>
            </a:r>
            <a:endParaRPr lang="en-US"/>
          </a:p>
        </p:txBody>
      </p:sp>
      <p:sp>
        <p:nvSpPr>
          <p:cNvPr id="26784" name="Arrow: Down 26783">
            <a:extLst>
              <a:ext uri="{FF2B5EF4-FFF2-40B4-BE49-F238E27FC236}">
                <a16:creationId xmlns:a16="http://schemas.microsoft.com/office/drawing/2014/main" id="{A0054179-CDB5-70EA-E299-502585A6F8E6}"/>
              </a:ext>
            </a:extLst>
          </p:cNvPr>
          <p:cNvSpPr/>
          <p:nvPr/>
        </p:nvSpPr>
        <p:spPr>
          <a:xfrm>
            <a:off x="8687400" y="3002680"/>
            <a:ext cx="260000" cy="19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23" name="Rectangle 26822">
            <a:extLst>
              <a:ext uri="{FF2B5EF4-FFF2-40B4-BE49-F238E27FC236}">
                <a16:creationId xmlns:a16="http://schemas.microsoft.com/office/drawing/2014/main" id="{33410948-DCE2-D91A-B069-9B6D57755D03}"/>
              </a:ext>
            </a:extLst>
          </p:cNvPr>
          <p:cNvSpPr/>
          <p:nvPr/>
        </p:nvSpPr>
        <p:spPr>
          <a:xfrm>
            <a:off x="5900000" y="324768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CORPUS</a:t>
            </a:r>
          </a:p>
          <a:p>
            <a:pPr algn="l">
              <a:buNone/>
            </a:pPr>
            <a:r>
              <a:rPr lang="en-US" sz="1200">
                <a:solidFill>
                  <a:srgbClr val="3D4F66"/>
                </a:solidFill>
                <a:effectLst/>
                <a:latin typeface="Calibri" panose="020F0502020204030204" pitchFamily="34" charset="0"/>
              </a:rPr>
              <a:t>STANOX 17132 → TIPLOC LEEDS, CRS LDS</a:t>
            </a:r>
            <a:endParaRPr lang="en-US"/>
          </a:p>
        </p:txBody>
      </p:sp>
      <p:sp>
        <p:nvSpPr>
          <p:cNvPr id="26863" name="Arrow: Down 26862">
            <a:extLst>
              <a:ext uri="{FF2B5EF4-FFF2-40B4-BE49-F238E27FC236}">
                <a16:creationId xmlns:a16="http://schemas.microsoft.com/office/drawing/2014/main" id="{1E7E8A19-EA03-44C9-C752-A6EFCBFD279D}"/>
              </a:ext>
            </a:extLst>
          </p:cNvPr>
          <p:cNvSpPr/>
          <p:nvPr/>
        </p:nvSpPr>
        <p:spPr>
          <a:xfrm>
            <a:off x="8687400" y="3990360"/>
            <a:ext cx="260000" cy="19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04" name="Rectangle 26903">
            <a:extLst>
              <a:ext uri="{FF2B5EF4-FFF2-40B4-BE49-F238E27FC236}">
                <a16:creationId xmlns:a16="http://schemas.microsoft.com/office/drawing/2014/main" id="{9025358E-9C58-AF3E-6786-CF68428EB6BD}"/>
              </a:ext>
            </a:extLst>
          </p:cNvPr>
          <p:cNvSpPr/>
          <p:nvPr/>
        </p:nvSpPr>
        <p:spPr>
          <a:xfrm>
            <a:off x="5900000" y="423536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NaPTAN</a:t>
            </a:r>
          </a:p>
          <a:p>
            <a:pPr algn="l">
              <a:buNone/>
            </a:pPr>
            <a:r>
              <a:rPr lang="en-US" sz="1200">
                <a:solidFill>
                  <a:srgbClr val="3D4F66"/>
                </a:solidFill>
                <a:effectLst/>
                <a:latin typeface="Calibri" panose="020F0502020204030204" pitchFamily="34" charset="0"/>
              </a:rPr>
              <a:t>ATCO 9100LEEDS → 53.795, −1.548</a:t>
            </a:r>
            <a:endParaRPr lang="en-US"/>
          </a:p>
        </p:txBody>
      </p:sp>
      <p:sp>
        <p:nvSpPr>
          <p:cNvPr id="26946" name="Arrow: Down 26945">
            <a:extLst>
              <a:ext uri="{FF2B5EF4-FFF2-40B4-BE49-F238E27FC236}">
                <a16:creationId xmlns:a16="http://schemas.microsoft.com/office/drawing/2014/main" id="{3385D4FB-483E-1D25-C118-E57D5F3B505C}"/>
              </a:ext>
            </a:extLst>
          </p:cNvPr>
          <p:cNvSpPr/>
          <p:nvPr/>
        </p:nvSpPr>
        <p:spPr>
          <a:xfrm>
            <a:off x="8687400" y="4978040"/>
            <a:ext cx="260000" cy="19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89" name="Rectangle 26988">
            <a:extLst>
              <a:ext uri="{FF2B5EF4-FFF2-40B4-BE49-F238E27FC236}">
                <a16:creationId xmlns:a16="http://schemas.microsoft.com/office/drawing/2014/main" id="{925F9988-8745-1753-4C48-23B51CFF009E}"/>
              </a:ext>
            </a:extLst>
          </p:cNvPr>
          <p:cNvSpPr/>
          <p:nvPr/>
        </p:nvSpPr>
        <p:spPr>
          <a:xfrm>
            <a:off x="5900000" y="522304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Locations (KQL)</a:t>
            </a:r>
          </a:p>
          <a:p>
            <a:pPr algn="l">
              <a:buNone/>
            </a:pPr>
            <a:r>
              <a:rPr lang="en-US" sz="1200">
                <a:solidFill>
                  <a:srgbClr val="3D4F66"/>
                </a:solidFill>
                <a:effectLst/>
                <a:latin typeface="Calibri" panose="020F0502020204030204" pitchFamily="34" charset="0"/>
              </a:rPr>
              <a:t>One row per STANOX: name, CRS, latitude, longitude</a:t>
            </a:r>
            <a:endParaRPr lang="en-US"/>
          </a:p>
        </p:txBody>
      </p:sp>
    </p:spTree>
    <p:extLst>
      <p:ext uri="{BB962C8B-B14F-4D97-AF65-F5344CB8AC3E}">
        <p14:creationId xmlns:p14="http://schemas.microsoft.com/office/powerpoint/2010/main" val="3111642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7033" name="Rectangle 27032">
            <a:extLst>
              <a:ext uri="{FF2B5EF4-FFF2-40B4-BE49-F238E27FC236}">
                <a16:creationId xmlns:a16="http://schemas.microsoft.com/office/drawing/2014/main" id="{67B7728A-8761-1A47-3F17-16675753580D}"/>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04 · RDM KAFKA INGEST · 30 MIN</a:t>
            </a:r>
          </a:p>
          <a:p>
            <a:pPr algn="l">
              <a:buNone/>
            </a:pPr>
            <a:r>
              <a:rPr lang="en-US" sz="100">
                <a:effectLst/>
              </a:rPr>
              <a:t> </a:t>
            </a:r>
            <a:endParaRPr lang="en-US"/>
          </a:p>
        </p:txBody>
      </p:sp>
      <p:sp>
        <p:nvSpPr>
          <p:cNvPr id="27078" name="Rectangle 27077">
            <a:extLst>
              <a:ext uri="{FF2B5EF4-FFF2-40B4-BE49-F238E27FC236}">
                <a16:creationId xmlns:a16="http://schemas.microsoft.com/office/drawing/2014/main" id="{CFA14183-9B5F-2DE5-1D78-4DACDD8E0B09}"/>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Stream TRUST movements with no code</a:t>
            </a:r>
          </a:p>
          <a:p>
            <a:pPr algn="l">
              <a:buNone/>
            </a:pPr>
            <a:r>
              <a:rPr lang="en-US" sz="100">
                <a:effectLst/>
              </a:rPr>
              <a:t> </a:t>
            </a:r>
            <a:endParaRPr lang="en-US"/>
          </a:p>
        </p:txBody>
      </p:sp>
      <p:sp>
        <p:nvSpPr>
          <p:cNvPr id="27124" name="Rectangle 27123">
            <a:extLst>
              <a:ext uri="{FF2B5EF4-FFF2-40B4-BE49-F238E27FC236}">
                <a16:creationId xmlns:a16="http://schemas.microsoft.com/office/drawing/2014/main" id="{81DF52DD-53AD-2A36-1854-E5C01B3BE46B}"/>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71" name="Rectangle 27170">
            <a:extLst>
              <a:ext uri="{FF2B5EF4-FFF2-40B4-BE49-F238E27FC236}">
                <a16:creationId xmlns:a16="http://schemas.microsoft.com/office/drawing/2014/main" id="{07C0F6B5-47DA-9FE0-64A4-B462AEFBD82B}"/>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27219" name="Rectangle 27218">
            <a:extLst>
              <a:ext uri="{FF2B5EF4-FFF2-40B4-BE49-F238E27FC236}">
                <a16:creationId xmlns:a16="http://schemas.microsoft.com/office/drawing/2014/main" id="{DFE24526-152F-9394-6A1F-605233EB3B19}"/>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27268" name="Rectangle 27267">
            <a:extLst>
              <a:ext uri="{FF2B5EF4-FFF2-40B4-BE49-F238E27FC236}">
                <a16:creationId xmlns:a16="http://schemas.microsoft.com/office/drawing/2014/main" id="{DF6BE57B-A7E9-4B23-B6E8-682728B473D3}"/>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Subscribe to NWR Train Movements on the Rail Data Marketplace.</a:t>
            </a:r>
          </a:p>
          <a:p>
            <a:pPr algn="l">
              <a:buNone/>
            </a:pPr>
            <a:r>
              <a:rPr lang="en-US" sz="100">
                <a:effectLst/>
              </a:rPr>
              <a:t> </a:t>
            </a:r>
            <a:endParaRPr lang="en-US"/>
          </a:p>
        </p:txBody>
      </p:sp>
      <p:sp>
        <p:nvSpPr>
          <p:cNvPr id="27318" name="Rectangle 27317">
            <a:extLst>
              <a:ext uri="{FF2B5EF4-FFF2-40B4-BE49-F238E27FC236}">
                <a16:creationId xmlns:a16="http://schemas.microsoft.com/office/drawing/2014/main" id="{9D0580EF-7D5E-1C0A-3A47-786A6930B83F}"/>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27369" name="Rectangle 27368">
            <a:extLst>
              <a:ext uri="{FF2B5EF4-FFF2-40B4-BE49-F238E27FC236}">
                <a16:creationId xmlns:a16="http://schemas.microsoft.com/office/drawing/2014/main" id="{E258B4DE-6D28-A8AE-8492-F1D6B1083382}"/>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Kafka source on RailEventstreamRdm: bootstrap server, topic, group.</a:t>
            </a:r>
          </a:p>
          <a:p>
            <a:pPr algn="l">
              <a:buNone/>
            </a:pPr>
            <a:r>
              <a:rPr lang="en-US" sz="100">
                <a:effectLst/>
              </a:rPr>
              <a:t> </a:t>
            </a:r>
            <a:endParaRPr lang="en-US"/>
          </a:p>
        </p:txBody>
      </p:sp>
      <p:sp>
        <p:nvSpPr>
          <p:cNvPr id="27421" name="Rectangle 27420">
            <a:extLst>
              <a:ext uri="{FF2B5EF4-FFF2-40B4-BE49-F238E27FC236}">
                <a16:creationId xmlns:a16="http://schemas.microsoft.com/office/drawing/2014/main" id="{B5813EE8-1DD1-8838-BD1F-52B516FCD0BA}"/>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27474" name="Rectangle 27473">
            <a:extLst>
              <a:ext uri="{FF2B5EF4-FFF2-40B4-BE49-F238E27FC236}">
                <a16:creationId xmlns:a16="http://schemas.microsoft.com/office/drawing/2014/main" id="{E11AD3E3-B0A1-A1C4-9981-11D6457E64B0}"/>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Use SASL_SSL with PLAIN: API key is the username, secret is the password.</a:t>
            </a:r>
          </a:p>
          <a:p>
            <a:pPr algn="l">
              <a:buNone/>
            </a:pPr>
            <a:r>
              <a:rPr lang="en-US" sz="100">
                <a:effectLst/>
              </a:rPr>
              <a:t> </a:t>
            </a:r>
            <a:endParaRPr lang="en-US"/>
          </a:p>
        </p:txBody>
      </p:sp>
      <p:sp>
        <p:nvSpPr>
          <p:cNvPr id="27528" name="Rectangle 27527">
            <a:extLst>
              <a:ext uri="{FF2B5EF4-FFF2-40B4-BE49-F238E27FC236}">
                <a16:creationId xmlns:a16="http://schemas.microsoft.com/office/drawing/2014/main" id="{5E9534BA-410C-112D-6B71-14A4321831CA}"/>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27583" name="Rectangle 27582">
            <a:extLst>
              <a:ext uri="{FF2B5EF4-FFF2-40B4-BE49-F238E27FC236}">
                <a16:creationId xmlns:a16="http://schemas.microsoft.com/office/drawing/2014/main" id="{5BE24851-931A-397F-47EE-9952AE90CCD1}"/>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Destination: Direct ingestion into the existing RdmTrustRaw and its mapping.</a:t>
            </a:r>
          </a:p>
          <a:p>
            <a:pPr algn="l">
              <a:buNone/>
            </a:pPr>
            <a:r>
              <a:rPr lang="en-US" sz="100">
                <a:effectLst/>
              </a:rPr>
              <a:t> </a:t>
            </a:r>
            <a:endParaRPr lang="en-US"/>
          </a:p>
        </p:txBody>
      </p:sp>
      <p:sp>
        <p:nvSpPr>
          <p:cNvPr id="27639" name="Rectangle 27638">
            <a:extLst>
              <a:ext uri="{FF2B5EF4-FFF2-40B4-BE49-F238E27FC236}">
                <a16:creationId xmlns:a16="http://schemas.microsoft.com/office/drawing/2014/main" id="{9788F4BE-4E89-2BE0-FF06-8CDCEC11B51E}"/>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Don't use the Darwin topic here: each RDM product has its own topic, group and credentials.</a:t>
            </a:r>
            <a:endParaRPr lang="en-US"/>
          </a:p>
        </p:txBody>
      </p:sp>
      <p:sp>
        <p:nvSpPr>
          <p:cNvPr id="27696" name="Rectangle 27695">
            <a:extLst>
              <a:ext uri="{FF2B5EF4-FFF2-40B4-BE49-F238E27FC236}">
                <a16:creationId xmlns:a16="http://schemas.microsoft.com/office/drawing/2014/main" id="{27345503-608A-43EE-B94A-EB294491822A}"/>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docs/labs/04-rdm-kafka-eventstream.md</a:t>
            </a:r>
          </a:p>
          <a:p>
            <a:pPr algn="l">
              <a:buNone/>
            </a:pPr>
            <a:r>
              <a:rPr lang="en-US" sz="100">
                <a:effectLst/>
              </a:rPr>
              <a:t> </a:t>
            </a:r>
            <a:endParaRPr lang="en-US"/>
          </a:p>
        </p:txBody>
      </p:sp>
      <p:sp>
        <p:nvSpPr>
          <p:cNvPr id="27754" name="Rectangle 27753">
            <a:extLst>
              <a:ext uri="{FF2B5EF4-FFF2-40B4-BE49-F238E27FC236}">
                <a16:creationId xmlns:a16="http://schemas.microsoft.com/office/drawing/2014/main" id="{BBA3EF6F-4264-D053-0FFD-8A3A0D3BF555}"/>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27813" name="Rectangle 27812">
            <a:extLst>
              <a:ext uri="{FF2B5EF4-FFF2-40B4-BE49-F238E27FC236}">
                <a16:creationId xmlns:a16="http://schemas.microsoft.com/office/drawing/2014/main" id="{90024E81-7C52-2BBE-852C-343F112C1545}"/>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Topics, partitions and consumer groups</a:t>
            </a:r>
          </a:p>
          <a:p>
            <a:pPr algn="l">
              <a:buNone/>
            </a:pPr>
            <a:r>
              <a:rPr lang="en-US" sz="100">
                <a:effectLst/>
              </a:rPr>
              <a:t> </a:t>
            </a:r>
            <a:endParaRPr lang="en-US"/>
          </a:p>
        </p:txBody>
      </p:sp>
      <p:sp>
        <p:nvSpPr>
          <p:cNvPr id="27873" name="Rectangle 27872">
            <a:extLst>
              <a:ext uri="{FF2B5EF4-FFF2-40B4-BE49-F238E27FC236}">
                <a16:creationId xmlns:a16="http://schemas.microsoft.com/office/drawing/2014/main" id="{4C8C42DF-80C3-0F48-61A7-316E1657B07C}"/>
              </a:ext>
            </a:extLst>
          </p:cNvPr>
          <p:cNvSpPr/>
          <p:nvPr/>
        </p:nvSpPr>
        <p:spPr>
          <a:xfrm>
            <a:off x="5900000" y="226000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RDM topic (TRUST)</a:t>
            </a:r>
          </a:p>
          <a:p>
            <a:pPr algn="l">
              <a:buNone/>
            </a:pPr>
            <a:r>
              <a:rPr lang="en-US" sz="1200">
                <a:solidFill>
                  <a:srgbClr val="3D4F66"/>
                </a:solidFill>
                <a:effectLst/>
                <a:latin typeface="Calibri" panose="020F0502020204030204" pitchFamily="34" charset="0"/>
              </a:rPr>
              <a:t>Messages spread across partitions and kept for a retention period.</a:t>
            </a:r>
            <a:endParaRPr lang="en-US"/>
          </a:p>
        </p:txBody>
      </p:sp>
      <p:sp>
        <p:nvSpPr>
          <p:cNvPr id="27934" name="Arrow: Down 27933">
            <a:extLst>
              <a:ext uri="{FF2B5EF4-FFF2-40B4-BE49-F238E27FC236}">
                <a16:creationId xmlns:a16="http://schemas.microsoft.com/office/drawing/2014/main" id="{F96A99DB-9363-D76B-20C1-3EE32349B3C4}"/>
              </a:ext>
            </a:extLst>
          </p:cNvPr>
          <p:cNvSpPr/>
          <p:nvPr/>
        </p:nvSpPr>
        <p:spPr>
          <a:xfrm>
            <a:off x="8687400" y="300268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96" name="Rectangle 27995">
            <a:extLst>
              <a:ext uri="{FF2B5EF4-FFF2-40B4-BE49-F238E27FC236}">
                <a16:creationId xmlns:a16="http://schemas.microsoft.com/office/drawing/2014/main" id="{610011CC-191F-4798-8468-E936E35A4929}"/>
              </a:ext>
            </a:extLst>
          </p:cNvPr>
          <p:cNvSpPr/>
          <p:nvPr/>
        </p:nvSpPr>
        <p:spPr>
          <a:xfrm>
            <a:off x="5900000" y="3277680"/>
            <a:ext cx="5834800" cy="87056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Your consumer group</a:t>
            </a:r>
          </a:p>
          <a:p>
            <a:pPr algn="l">
              <a:buNone/>
            </a:pPr>
            <a:r>
              <a:rPr lang="en-US" sz="1200">
                <a:solidFill>
                  <a:srgbClr val="3D4F66"/>
                </a:solidFill>
                <a:effectLst/>
                <a:latin typeface="Calibri" panose="020F0502020204030204" pitchFamily="34" charset="0"/>
              </a:rPr>
              <a:t>Tracks your read position (offset). Readers in one group share the partitions.</a:t>
            </a:r>
            <a:endParaRPr lang="en-US"/>
          </a:p>
        </p:txBody>
      </p:sp>
      <p:sp>
        <p:nvSpPr>
          <p:cNvPr id="28059" name="Arrow: Down 28058">
            <a:extLst>
              <a:ext uri="{FF2B5EF4-FFF2-40B4-BE49-F238E27FC236}">
                <a16:creationId xmlns:a16="http://schemas.microsoft.com/office/drawing/2014/main" id="{BEFB1A44-2FFC-6323-75A7-6984869B064C}"/>
              </a:ext>
            </a:extLst>
          </p:cNvPr>
          <p:cNvSpPr/>
          <p:nvPr/>
        </p:nvSpPr>
        <p:spPr>
          <a:xfrm>
            <a:off x="8687400" y="420324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23" name="Rectangle 28122">
            <a:extLst>
              <a:ext uri="{FF2B5EF4-FFF2-40B4-BE49-F238E27FC236}">
                <a16:creationId xmlns:a16="http://schemas.microsoft.com/office/drawing/2014/main" id="{7DB6D341-75C3-8D41-FD01-5425166A635D}"/>
              </a:ext>
            </a:extLst>
          </p:cNvPr>
          <p:cNvSpPr/>
          <p:nvPr/>
        </p:nvSpPr>
        <p:spPr>
          <a:xfrm>
            <a:off x="5900000" y="447824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Eventstream → Eventhouse</a:t>
            </a:r>
          </a:p>
          <a:p>
            <a:pPr algn="l">
              <a:buNone/>
            </a:pPr>
            <a:r>
              <a:rPr lang="en-US" sz="1200">
                <a:solidFill>
                  <a:srgbClr val="3D4F66"/>
                </a:solidFill>
                <a:effectLst/>
                <a:latin typeface="Calibri" panose="020F0502020204030204" pitchFamily="34" charset="0"/>
              </a:rPr>
              <a:t>Reads continuously into RdmTrustRaw while it runs.</a:t>
            </a:r>
            <a:endParaRPr lang="en-US"/>
          </a:p>
        </p:txBody>
      </p:sp>
      <p:sp>
        <p:nvSpPr>
          <p:cNvPr id="28188" name="Rectangle 28187">
            <a:extLst>
              <a:ext uri="{FF2B5EF4-FFF2-40B4-BE49-F238E27FC236}">
                <a16:creationId xmlns:a16="http://schemas.microsoft.com/office/drawing/2014/main" id="{D97B362C-FC61-5A71-A55A-C2658F9219CE}"/>
              </a:ext>
            </a:extLst>
          </p:cNvPr>
          <p:cNvSpPr/>
          <p:nvPr/>
        </p:nvSpPr>
        <p:spPr>
          <a:xfrm>
            <a:off x="5900000" y="5315920"/>
            <a:ext cx="5834800"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Two readers in the same group split the data between them: never share a group.</a:t>
            </a:r>
          </a:p>
          <a:p>
            <a:pPr algn="l">
              <a:buNone/>
            </a:pPr>
            <a:r>
              <a:rPr lang="en-US" sz="100">
                <a:effectLst/>
              </a:rPr>
              <a:t> </a:t>
            </a:r>
            <a:endParaRPr lang="en-US"/>
          </a:p>
        </p:txBody>
      </p:sp>
    </p:spTree>
    <p:extLst>
      <p:ext uri="{BB962C8B-B14F-4D97-AF65-F5344CB8AC3E}">
        <p14:creationId xmlns:p14="http://schemas.microsoft.com/office/powerpoint/2010/main" val="3970289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8254" name="Rectangle 28253">
            <a:extLst>
              <a:ext uri="{FF2B5EF4-FFF2-40B4-BE49-F238E27FC236}">
                <a16:creationId xmlns:a16="http://schemas.microsoft.com/office/drawing/2014/main" id="{97638B6C-7E69-CEDE-2285-2ED5B6304E20}"/>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CONCEPT · JSON INGESTION MAPPING · LABS 02–05</a:t>
            </a:r>
          </a:p>
          <a:p>
            <a:pPr algn="l">
              <a:buNone/>
            </a:pPr>
            <a:r>
              <a:rPr lang="en-US" sz="100">
                <a:effectLst/>
              </a:rPr>
              <a:t> </a:t>
            </a:r>
            <a:endParaRPr lang="en-US"/>
          </a:p>
        </p:txBody>
      </p:sp>
      <p:sp>
        <p:nvSpPr>
          <p:cNvPr id="28321" name="Rectangle 28320">
            <a:extLst>
              <a:ext uri="{FF2B5EF4-FFF2-40B4-BE49-F238E27FC236}">
                <a16:creationId xmlns:a16="http://schemas.microsoft.com/office/drawing/2014/main" id="{FDC12036-EBB4-FD56-7814-0603DB8E115A}"/>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Land the raw JSON first, parse it later</a:t>
            </a:r>
          </a:p>
          <a:p>
            <a:pPr algn="l">
              <a:buNone/>
            </a:pPr>
            <a:r>
              <a:rPr lang="en-US" sz="100">
                <a:effectLst/>
              </a:rPr>
              <a:t> </a:t>
            </a:r>
            <a:endParaRPr lang="en-US"/>
          </a:p>
        </p:txBody>
      </p:sp>
      <p:sp>
        <p:nvSpPr>
          <p:cNvPr id="28389" name="Rectangle 28388">
            <a:extLst>
              <a:ext uri="{FF2B5EF4-FFF2-40B4-BE49-F238E27FC236}">
                <a16:creationId xmlns:a16="http://schemas.microsoft.com/office/drawing/2014/main" id="{BE1E5856-159C-05F9-F456-487CB308D786}"/>
              </a:ext>
            </a:extLst>
          </p:cNvPr>
          <p:cNvSpPr/>
          <p:nvPr/>
        </p:nvSpPr>
        <p:spPr>
          <a:xfrm>
            <a:off x="457200" y="1400000"/>
            <a:ext cx="535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ONE RDM TRUST BATCH (SIMPLIFIED)</a:t>
            </a:r>
          </a:p>
          <a:p>
            <a:pPr algn="l">
              <a:buNone/>
            </a:pPr>
            <a:r>
              <a:rPr lang="en-US" sz="100">
                <a:effectLst/>
              </a:rPr>
              <a:t> </a:t>
            </a:r>
            <a:endParaRPr lang="en-US"/>
          </a:p>
        </p:txBody>
      </p:sp>
      <p:sp>
        <p:nvSpPr>
          <p:cNvPr id="28458" name="Rectangle 28457">
            <a:extLst>
              <a:ext uri="{FF2B5EF4-FFF2-40B4-BE49-F238E27FC236}">
                <a16:creationId xmlns:a16="http://schemas.microsoft.com/office/drawing/2014/main" id="{0B1D7557-CFA2-B269-AB59-A3B7D1746D57}"/>
              </a:ext>
            </a:extLst>
          </p:cNvPr>
          <p:cNvSpPr/>
          <p:nvPr/>
        </p:nvSpPr>
        <p:spPr>
          <a:xfrm>
            <a:off x="457200" y="1720000"/>
            <a:ext cx="5350000" cy="2223120"/>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E6EBF1"/>
                </a:solidFill>
                <a:effectLst/>
                <a:latin typeface="Courier New" panose="02070309020205020404" pitchFamily="49" charset="0"/>
              </a:rPr>
              <a:t>[</a:t>
            </a:r>
          </a:p>
          <a:p>
            <a:pPr algn="l">
              <a:buNone/>
            </a:pPr>
            <a:r>
              <a:rPr lang="en-US" sz="1200">
                <a:solidFill>
                  <a:srgbClr val="E6EBF1"/>
                </a:solidFill>
                <a:effectLst/>
                <a:latin typeface="Courier New" panose="02070309020205020404" pitchFamily="49" charset="0"/>
              </a:rPr>
              <a:t>  { "header": { "msg_type": "0003" },</a:t>
            </a:r>
          </a:p>
          <a:p>
            <a:pPr algn="l">
              <a:buNone/>
            </a:pPr>
            <a:r>
              <a:rPr lang="en-US" sz="1200">
                <a:solidFill>
                  <a:srgbClr val="E6EBF1"/>
                </a:solidFill>
                <a:effectLst/>
                <a:latin typeface="Courier New" panose="02070309020205020404" pitchFamily="49" charset="0"/>
              </a:rPr>
              <a:t>    "body": {</a:t>
            </a:r>
          </a:p>
          <a:p>
            <a:pPr algn="l">
              <a:buNone/>
            </a:pPr>
            <a:r>
              <a:rPr lang="en-US" sz="1200">
                <a:solidFill>
                  <a:srgbClr val="E6EBF1"/>
                </a:solidFill>
                <a:effectLst/>
                <a:latin typeface="Courier New" panose="02070309020205020404" pitchFamily="49" charset="0"/>
              </a:rPr>
              <a:t>      "train_id": "172U47MZ27",</a:t>
            </a:r>
          </a:p>
          <a:p>
            <a:pPr algn="l">
              <a:buNone/>
            </a:pPr>
            <a:r>
              <a:rPr lang="en-US" sz="1200">
                <a:solidFill>
                  <a:srgbClr val="E6EBF1"/>
                </a:solidFill>
                <a:effectLst/>
                <a:latin typeface="Courier New" panose="02070309020205020404" pitchFamily="49" charset="0"/>
              </a:rPr>
              <a:t>      "loc_stanox": "17132",</a:t>
            </a:r>
          </a:p>
          <a:p>
            <a:pPr algn="l">
              <a:buNone/>
            </a:pPr>
            <a:r>
              <a:rPr lang="en-US" sz="1200">
                <a:solidFill>
                  <a:srgbClr val="E6EBF1"/>
                </a:solidFill>
                <a:effectLst/>
                <a:latin typeface="Courier New" panose="02070309020205020404" pitchFamily="49" charset="0"/>
              </a:rPr>
              <a:t>      "event_type": "ARRIVAL",</a:t>
            </a:r>
          </a:p>
          <a:p>
            <a:pPr algn="l">
              <a:buNone/>
            </a:pPr>
            <a:r>
              <a:rPr lang="en-US" sz="1200">
                <a:solidFill>
                  <a:srgbClr val="E6EBF1"/>
                </a:solidFill>
                <a:effectLst/>
                <a:latin typeface="Courier New" panose="02070309020205020404" pitchFamily="49" charset="0"/>
              </a:rPr>
              <a:t>      "actual_timestamp": "1761570000000",</a:t>
            </a:r>
          </a:p>
          <a:p>
            <a:pPr algn="l">
              <a:buNone/>
            </a:pPr>
            <a:r>
              <a:rPr lang="en-US" sz="1200">
                <a:solidFill>
                  <a:srgbClr val="E6EBF1"/>
                </a:solidFill>
                <a:effectLst/>
                <a:latin typeface="Courier New" panose="02070309020205020404" pitchFamily="49" charset="0"/>
              </a:rPr>
              <a:t>      "variation_status": "LATE" } },</a:t>
            </a:r>
          </a:p>
          <a:p>
            <a:pPr algn="l">
              <a:buNone/>
            </a:pPr>
            <a:r>
              <a:rPr lang="en-US" sz="1200">
                <a:solidFill>
                  <a:srgbClr val="E6EBF1"/>
                </a:solidFill>
                <a:effectLst/>
                <a:latin typeface="Courier New" panose="02070309020205020404" pitchFamily="49" charset="0"/>
              </a:rPr>
              <a:t>  { "header": { "msg_type": "0001" },</a:t>
            </a:r>
          </a:p>
          <a:p>
            <a:pPr algn="l">
              <a:buNone/>
            </a:pPr>
            <a:r>
              <a:rPr lang="en-US" sz="1200">
                <a:solidFill>
                  <a:srgbClr val="E6EBF1"/>
                </a:solidFill>
                <a:effectLst/>
                <a:latin typeface="Courier New" panose="02070309020205020404" pitchFamily="49" charset="0"/>
              </a:rPr>
              <a:t>    "body": { ... } }</a:t>
            </a:r>
          </a:p>
          <a:p>
            <a:pPr algn="l">
              <a:buNone/>
            </a:pPr>
            <a:r>
              <a:rPr lang="en-US" sz="1200">
                <a:solidFill>
                  <a:srgbClr val="E6EBF1"/>
                </a:solidFill>
                <a:effectLst/>
                <a:latin typeface="Courier New" panose="02070309020205020404" pitchFamily="49" charset="0"/>
              </a:rPr>
              <a:t>]</a:t>
            </a:r>
            <a:endParaRPr lang="en-US"/>
          </a:p>
        </p:txBody>
      </p:sp>
      <p:sp>
        <p:nvSpPr>
          <p:cNvPr id="28528" name="Rectangle 28527">
            <a:extLst>
              <a:ext uri="{FF2B5EF4-FFF2-40B4-BE49-F238E27FC236}">
                <a16:creationId xmlns:a16="http://schemas.microsoft.com/office/drawing/2014/main" id="{B5C58A9D-D7ED-A030-7039-F78A848E9A26}"/>
              </a:ext>
            </a:extLst>
          </p:cNvPr>
          <p:cNvSpPr/>
          <p:nvPr/>
        </p:nvSpPr>
        <p:spPr>
          <a:xfrm>
            <a:off x="457200" y="4093120"/>
            <a:ext cx="5350000"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One Kafka message can carry several TRUST messages of different types.</a:t>
            </a:r>
          </a:p>
          <a:p>
            <a:pPr algn="l">
              <a:buNone/>
            </a:pPr>
            <a:r>
              <a:rPr lang="en-US" sz="100">
                <a:effectLst/>
              </a:rPr>
              <a:t> </a:t>
            </a:r>
            <a:endParaRPr lang="en-US"/>
          </a:p>
        </p:txBody>
      </p:sp>
      <p:sp>
        <p:nvSpPr>
          <p:cNvPr id="28599" name="Rectangle 28598">
            <a:extLst>
              <a:ext uri="{FF2B5EF4-FFF2-40B4-BE49-F238E27FC236}">
                <a16:creationId xmlns:a16="http://schemas.microsoft.com/office/drawing/2014/main" id="{BE8649D7-4B12-98DA-029F-0019112EC98A}"/>
              </a:ext>
            </a:extLst>
          </p:cNvPr>
          <p:cNvSpPr/>
          <p:nvPr/>
        </p:nvSpPr>
        <p:spPr>
          <a:xfrm>
            <a:off x="6100000" y="1400000"/>
            <a:ext cx="56348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RAW TABLE AND ITS MAPPING</a:t>
            </a:r>
          </a:p>
          <a:p>
            <a:pPr algn="l">
              <a:buNone/>
            </a:pPr>
            <a:r>
              <a:rPr lang="en-US" sz="100">
                <a:effectLst/>
              </a:rPr>
              <a:t> </a:t>
            </a:r>
            <a:endParaRPr lang="en-US"/>
          </a:p>
        </p:txBody>
      </p:sp>
      <p:sp>
        <p:nvSpPr>
          <p:cNvPr id="28671" name="Rectangle 28670">
            <a:extLst>
              <a:ext uri="{FF2B5EF4-FFF2-40B4-BE49-F238E27FC236}">
                <a16:creationId xmlns:a16="http://schemas.microsoft.com/office/drawing/2014/main" id="{B4C779D1-8912-BC3A-DFD1-2FCE8E836200}"/>
              </a:ext>
            </a:extLst>
          </p:cNvPr>
          <p:cNvSpPr/>
          <p:nvPr/>
        </p:nvSpPr>
        <p:spPr>
          <a:xfrm>
            <a:off x="6100000" y="1720000"/>
            <a:ext cx="5634800" cy="1674480"/>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E6EBF1"/>
                </a:solidFill>
                <a:effectLst/>
                <a:latin typeface="Courier New" panose="02070309020205020404" pitchFamily="49" charset="0"/>
              </a:rPr>
              <a:t>.create-merge table RdmTrustRaw</a:t>
            </a:r>
          </a:p>
          <a:p>
            <a:pPr algn="l">
              <a:buNone/>
            </a:pPr>
            <a:r>
              <a:rPr lang="en-US" sz="1200">
                <a:solidFill>
                  <a:srgbClr val="E6EBF1"/>
                </a:solidFill>
                <a:effectLst/>
                <a:latin typeface="Courier New" panose="02070309020205020404" pitchFamily="49" charset="0"/>
              </a:rPr>
              <a:t>    (payload: dynamic)</a:t>
            </a:r>
          </a:p>
          <a:p>
            <a:pPr algn="l">
              <a:buNone/>
            </a:pPr>
            <a:r>
              <a:rPr lang="en-US" sz="1200">
                <a:solidFill>
                  <a:srgbClr val="E6EBF1"/>
                </a:solidFill>
                <a:effectLst/>
                <a:latin typeface="Courier New" panose="02070309020205020404" pitchFamily="49" charset="0"/>
              </a:rPr>
              <a:t> </a:t>
            </a:r>
          </a:p>
          <a:p>
            <a:pPr algn="l">
              <a:buNone/>
            </a:pPr>
            <a:r>
              <a:rPr lang="en-US" sz="1200">
                <a:solidFill>
                  <a:srgbClr val="E6EBF1"/>
                </a:solidFill>
                <a:effectLst/>
                <a:latin typeface="Courier New" panose="02070309020205020404" pitchFamily="49" charset="0"/>
              </a:rPr>
              <a:t>.create-or-alter table RdmTrustRaw</a:t>
            </a:r>
          </a:p>
          <a:p>
            <a:pPr algn="l">
              <a:buNone/>
            </a:pPr>
            <a:r>
              <a:rPr lang="en-US" sz="1200">
                <a:solidFill>
                  <a:srgbClr val="E6EBF1"/>
                </a:solidFill>
                <a:effectLst/>
                <a:latin typeface="Courier New" panose="02070309020205020404" pitchFamily="49" charset="0"/>
              </a:rPr>
              <a:t>  ingestion json mapping</a:t>
            </a:r>
          </a:p>
          <a:p>
            <a:pPr algn="l">
              <a:buNone/>
            </a:pPr>
            <a:r>
              <a:rPr lang="en-US" sz="1200">
                <a:solidFill>
                  <a:srgbClr val="E6EBF1"/>
                </a:solidFill>
                <a:effectLst/>
                <a:latin typeface="Courier New" panose="02070309020205020404" pitchFamily="49" charset="0"/>
              </a:rPr>
              <a:t>  "RdmTrustRawMapping"</a:t>
            </a:r>
          </a:p>
          <a:p>
            <a:pPr algn="l">
              <a:buNone/>
            </a:pPr>
            <a:r>
              <a:rPr lang="en-US" sz="1200">
                <a:solidFill>
                  <a:srgbClr val="E6EBF1"/>
                </a:solidFill>
                <a:effectLst/>
                <a:latin typeface="Courier New" panose="02070309020205020404" pitchFamily="49" charset="0"/>
              </a:rPr>
              <a:t>  '[{"column":"payload",</a:t>
            </a:r>
          </a:p>
          <a:p>
            <a:pPr algn="l">
              <a:buNone/>
            </a:pPr>
            <a:r>
              <a:rPr lang="en-US" sz="1200">
                <a:solidFill>
                  <a:srgbClr val="E6EBF1"/>
                </a:solidFill>
                <a:effectLst/>
                <a:latin typeface="Courier New" panose="02070309020205020404" pitchFamily="49" charset="0"/>
              </a:rPr>
              <a:t>    "Properties":{"Path":"$"}}]'</a:t>
            </a:r>
            <a:endParaRPr lang="en-US"/>
          </a:p>
        </p:txBody>
      </p:sp>
      <p:sp>
        <p:nvSpPr>
          <p:cNvPr id="28744" name="Rectangle 28743">
            <a:extLst>
              <a:ext uri="{FF2B5EF4-FFF2-40B4-BE49-F238E27FC236}">
                <a16:creationId xmlns:a16="http://schemas.microsoft.com/office/drawing/2014/main" id="{28160A77-F60C-0566-0141-D1B1E99417A8}"/>
              </a:ext>
            </a:extLst>
          </p:cNvPr>
          <p:cNvSpPr/>
          <p:nvPr/>
        </p:nvSpPr>
        <p:spPr>
          <a:xfrm>
            <a:off x="6100000" y="361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28818" name="Rectangle 28817">
            <a:extLst>
              <a:ext uri="{FF2B5EF4-FFF2-40B4-BE49-F238E27FC236}">
                <a16:creationId xmlns:a16="http://schemas.microsoft.com/office/drawing/2014/main" id="{D35A82F3-8B79-AC56-96FD-E7CA204FF39A}"/>
              </a:ext>
            </a:extLst>
          </p:cNvPr>
          <p:cNvSpPr/>
          <p:nvPr/>
        </p:nvSpPr>
        <p:spPr>
          <a:xfrm>
            <a:off x="6430000" y="3614480"/>
            <a:ext cx="5304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 is the whole message: it lands untouched in one dynamic column.</a:t>
            </a:r>
          </a:p>
          <a:p>
            <a:pPr algn="l">
              <a:buNone/>
            </a:pPr>
            <a:r>
              <a:rPr lang="en-US" sz="100">
                <a:effectLst/>
              </a:rPr>
              <a:t> </a:t>
            </a:r>
            <a:endParaRPr lang="en-US"/>
          </a:p>
        </p:txBody>
      </p:sp>
      <p:sp>
        <p:nvSpPr>
          <p:cNvPr id="28893" name="Rectangle 28892">
            <a:extLst>
              <a:ext uri="{FF2B5EF4-FFF2-40B4-BE49-F238E27FC236}">
                <a16:creationId xmlns:a16="http://schemas.microsoft.com/office/drawing/2014/main" id="{5E311263-EC60-028C-056E-415530F39663}"/>
              </a:ext>
            </a:extLst>
          </p:cNvPr>
          <p:cNvSpPr/>
          <p:nvPr/>
        </p:nvSpPr>
        <p:spPr>
          <a:xfrm>
            <a:off x="6100000" y="425264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28969" name="Rectangle 28968">
            <a:extLst>
              <a:ext uri="{FF2B5EF4-FFF2-40B4-BE49-F238E27FC236}">
                <a16:creationId xmlns:a16="http://schemas.microsoft.com/office/drawing/2014/main" id="{5B7CA4FF-4405-B3C2-04DE-4EB2D54C34D3}"/>
              </a:ext>
            </a:extLst>
          </p:cNvPr>
          <p:cNvSpPr/>
          <p:nvPr/>
        </p:nvSpPr>
        <p:spPr>
          <a:xfrm>
            <a:off x="6430000" y="4252640"/>
            <a:ext cx="5304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Parsing happens in KQL afterwards, so a new field never breaks ingestion.</a:t>
            </a:r>
          </a:p>
          <a:p>
            <a:pPr algn="l">
              <a:buNone/>
            </a:pPr>
            <a:r>
              <a:rPr lang="en-US" sz="100">
                <a:effectLst/>
              </a:rPr>
              <a:t> </a:t>
            </a:r>
            <a:endParaRPr lang="en-US"/>
          </a:p>
        </p:txBody>
      </p:sp>
      <p:sp>
        <p:nvSpPr>
          <p:cNvPr id="29046" name="Rectangle 29045">
            <a:extLst>
              <a:ext uri="{FF2B5EF4-FFF2-40B4-BE49-F238E27FC236}">
                <a16:creationId xmlns:a16="http://schemas.microsoft.com/office/drawing/2014/main" id="{5695A276-6BEE-CB22-1A72-8475F039D652}"/>
              </a:ext>
            </a:extLst>
          </p:cNvPr>
          <p:cNvSpPr/>
          <p:nvPr/>
        </p:nvSpPr>
        <p:spPr>
          <a:xfrm>
            <a:off x="6100000" y="48908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29124" name="Rectangle 29123">
            <a:extLst>
              <a:ext uri="{FF2B5EF4-FFF2-40B4-BE49-F238E27FC236}">
                <a16:creationId xmlns:a16="http://schemas.microsoft.com/office/drawing/2014/main" id="{51ED7DC7-5228-A888-CA08-DD364774AA87}"/>
              </a:ext>
            </a:extLst>
          </p:cNvPr>
          <p:cNvSpPr/>
          <p:nvPr/>
        </p:nvSpPr>
        <p:spPr>
          <a:xfrm>
            <a:off x="6430000" y="4890800"/>
            <a:ext cx="5304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In the Eventstream, pick the existing table and mapping. Don't let the wizard create the table.</a:t>
            </a:r>
          </a:p>
          <a:p>
            <a:pPr algn="l">
              <a:buNone/>
            </a:pPr>
            <a:r>
              <a:rPr lang="en-US" sz="100">
                <a:effectLst/>
              </a:rPr>
              <a:t> </a:t>
            </a:r>
            <a:endParaRPr lang="en-US"/>
          </a:p>
        </p:txBody>
      </p:sp>
    </p:spTree>
    <p:extLst>
      <p:ext uri="{BB962C8B-B14F-4D97-AF65-F5344CB8AC3E}">
        <p14:creationId xmlns:p14="http://schemas.microsoft.com/office/powerpoint/2010/main" val="1659717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9203" name="Rectangle 29202">
            <a:extLst>
              <a:ext uri="{FF2B5EF4-FFF2-40B4-BE49-F238E27FC236}">
                <a16:creationId xmlns:a16="http://schemas.microsoft.com/office/drawing/2014/main" id="{25EA5398-CF91-AD85-85F5-4D97E9BB22C6}"/>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CONCEPT · UPDATE POLICIES · LAB 06</a:t>
            </a:r>
          </a:p>
          <a:p>
            <a:pPr algn="l">
              <a:buNone/>
            </a:pPr>
            <a:r>
              <a:rPr lang="en-US" sz="100">
                <a:effectLst/>
              </a:rPr>
              <a:t> </a:t>
            </a:r>
            <a:endParaRPr lang="en-US"/>
          </a:p>
        </p:txBody>
      </p:sp>
      <p:sp>
        <p:nvSpPr>
          <p:cNvPr id="29283" name="Rectangle 29282">
            <a:extLst>
              <a:ext uri="{FF2B5EF4-FFF2-40B4-BE49-F238E27FC236}">
                <a16:creationId xmlns:a16="http://schemas.microsoft.com/office/drawing/2014/main" id="{05DF310B-D65A-07F2-550B-AE87D8CC5FEB}"/>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One raw table fans out to typed tables</a:t>
            </a:r>
          </a:p>
          <a:p>
            <a:pPr algn="l">
              <a:buNone/>
            </a:pPr>
            <a:r>
              <a:rPr lang="en-US" sz="100">
                <a:effectLst/>
              </a:rPr>
              <a:t> </a:t>
            </a:r>
            <a:endParaRPr lang="en-US"/>
          </a:p>
        </p:txBody>
      </p:sp>
      <p:sp>
        <p:nvSpPr>
          <p:cNvPr id="29364" name="Rectangle 29363">
            <a:extLst>
              <a:ext uri="{FF2B5EF4-FFF2-40B4-BE49-F238E27FC236}">
                <a16:creationId xmlns:a16="http://schemas.microsoft.com/office/drawing/2014/main" id="{197C0B01-0CE2-20A8-A38F-3F2F4E9BA0DB}"/>
              </a:ext>
            </a:extLst>
          </p:cNvPr>
          <p:cNvSpPr/>
          <p:nvPr/>
        </p:nvSpPr>
        <p:spPr>
          <a:xfrm>
            <a:off x="457200" y="2700000"/>
            <a:ext cx="2400000" cy="110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RdmTrustRaw</a:t>
            </a:r>
          </a:p>
          <a:p>
            <a:pPr algn="l">
              <a:buNone/>
            </a:pPr>
            <a:r>
              <a:rPr lang="en-US" sz="1300">
                <a:solidFill>
                  <a:srgbClr val="3D4F66"/>
                </a:solidFill>
                <a:effectLst/>
                <a:latin typeface="Calibri" panose="020F0502020204030204" pitchFamily="34" charset="0"/>
              </a:rPr>
              <a:t>payload: dynamic (the whole batch)</a:t>
            </a:r>
            <a:endParaRPr lang="en-US"/>
          </a:p>
        </p:txBody>
      </p:sp>
      <p:sp>
        <p:nvSpPr>
          <p:cNvPr id="29446" name="Arrow: Right 29445">
            <a:extLst>
              <a:ext uri="{FF2B5EF4-FFF2-40B4-BE49-F238E27FC236}">
                <a16:creationId xmlns:a16="http://schemas.microsoft.com/office/drawing/2014/main" id="{650F0A57-3A8A-F233-5968-BC11C7264A8E}"/>
              </a:ext>
            </a:extLst>
          </p:cNvPr>
          <p:cNvSpPr/>
          <p:nvPr/>
        </p:nvSpPr>
        <p:spPr>
          <a:xfrm>
            <a:off x="2957200" y="3100000"/>
            <a:ext cx="500000" cy="300000"/>
          </a:xfrm>
          <a:prstGeom prst="right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29" name="Rectangle 29528">
            <a:extLst>
              <a:ext uri="{FF2B5EF4-FFF2-40B4-BE49-F238E27FC236}">
                <a16:creationId xmlns:a16="http://schemas.microsoft.com/office/drawing/2014/main" id="{54349F69-700C-697C-ABB5-515E5B3A203A}"/>
              </a:ext>
            </a:extLst>
          </p:cNvPr>
          <p:cNvSpPr/>
          <p:nvPr/>
        </p:nvSpPr>
        <p:spPr>
          <a:xfrm>
            <a:off x="3557200" y="2500000"/>
            <a:ext cx="3000000" cy="150000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B1F3A"/>
                </a:solidFill>
                <a:effectLst/>
                <a:latin typeface="Calibri" panose="020F0502020204030204" pitchFamily="34" charset="0"/>
              </a:rPr>
              <a:t>Update policy</a:t>
            </a:r>
          </a:p>
          <a:p>
            <a:pPr algn="l">
              <a:buNone/>
            </a:pPr>
            <a:r>
              <a:rPr lang="en-US" sz="1300">
                <a:solidFill>
                  <a:srgbClr val="3D4F66"/>
                </a:solidFill>
                <a:effectLst/>
                <a:latin typeface="Calibri" panose="020F0502020204030204" pitchFamily="34" charset="0"/>
              </a:rPr>
              <a:t>ExpandTrustRdm() splits each batch with mv-expand, then Parse…() picks the fields for each msg_type.</a:t>
            </a:r>
            <a:endParaRPr lang="en-US"/>
          </a:p>
        </p:txBody>
      </p:sp>
      <p:sp>
        <p:nvSpPr>
          <p:cNvPr id="29613" name="Rectangle 29612">
            <a:extLst>
              <a:ext uri="{FF2B5EF4-FFF2-40B4-BE49-F238E27FC236}">
                <a16:creationId xmlns:a16="http://schemas.microsoft.com/office/drawing/2014/main" id="{7999CECB-A2F7-153D-834C-B4D5EE01DB7D}"/>
              </a:ext>
            </a:extLst>
          </p:cNvPr>
          <p:cNvSpPr/>
          <p:nvPr/>
        </p:nvSpPr>
        <p:spPr>
          <a:xfrm>
            <a:off x="6557200" y="3237300"/>
            <a:ext cx="450000" cy="25400"/>
          </a:xfrm>
          <a:prstGeom prst="rect">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98" name="Rectangle 29697">
            <a:extLst>
              <a:ext uri="{FF2B5EF4-FFF2-40B4-BE49-F238E27FC236}">
                <a16:creationId xmlns:a16="http://schemas.microsoft.com/office/drawing/2014/main" id="{8AFCE592-4B7A-68F4-D082-A79E2D397038}"/>
              </a:ext>
            </a:extLst>
          </p:cNvPr>
          <p:cNvSpPr/>
          <p:nvPr/>
        </p:nvSpPr>
        <p:spPr>
          <a:xfrm>
            <a:off x="6994500" y="2020000"/>
            <a:ext cx="25400" cy="2460000"/>
          </a:xfrm>
          <a:prstGeom prst="rect">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84" name="Arrow: Right 29783">
            <a:extLst>
              <a:ext uri="{FF2B5EF4-FFF2-40B4-BE49-F238E27FC236}">
                <a16:creationId xmlns:a16="http://schemas.microsoft.com/office/drawing/2014/main" id="{F7C08569-413D-5C32-F2CA-4D444DF2CBF2}"/>
              </a:ext>
            </a:extLst>
          </p:cNvPr>
          <p:cNvSpPr/>
          <p:nvPr/>
        </p:nvSpPr>
        <p:spPr>
          <a:xfrm>
            <a:off x="7027200" y="1920000"/>
            <a:ext cx="420000" cy="200000"/>
          </a:xfrm>
          <a:prstGeom prst="right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71" name="Rectangle 29870">
            <a:extLst>
              <a:ext uri="{FF2B5EF4-FFF2-40B4-BE49-F238E27FC236}">
                <a16:creationId xmlns:a16="http://schemas.microsoft.com/office/drawing/2014/main" id="{9F21E4AE-C661-2174-FF0E-D7E89AF3E09C}"/>
              </a:ext>
            </a:extLst>
          </p:cNvPr>
          <p:cNvSpPr/>
          <p:nvPr/>
        </p:nvSpPr>
        <p:spPr>
          <a:xfrm>
            <a:off x="7507200" y="1700000"/>
            <a:ext cx="4227600" cy="64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TrustActivations</a:t>
            </a:r>
          </a:p>
          <a:p>
            <a:pPr algn="l">
              <a:buNone/>
            </a:pPr>
            <a:r>
              <a:rPr lang="en-US" sz="1200">
                <a:solidFill>
                  <a:srgbClr val="3D4F66"/>
                </a:solidFill>
                <a:effectLst/>
                <a:latin typeface="Calibri" panose="020F0502020204030204" pitchFamily="34" charset="0"/>
              </a:rPr>
              <a:t>0001 · activation</a:t>
            </a:r>
            <a:endParaRPr lang="en-US"/>
          </a:p>
        </p:txBody>
      </p:sp>
      <p:sp>
        <p:nvSpPr>
          <p:cNvPr id="29959" name="Arrow: Right 29958">
            <a:extLst>
              <a:ext uri="{FF2B5EF4-FFF2-40B4-BE49-F238E27FC236}">
                <a16:creationId xmlns:a16="http://schemas.microsoft.com/office/drawing/2014/main" id="{589E6538-DCEB-632C-E052-EC8014579678}"/>
              </a:ext>
            </a:extLst>
          </p:cNvPr>
          <p:cNvSpPr/>
          <p:nvPr/>
        </p:nvSpPr>
        <p:spPr>
          <a:xfrm>
            <a:off x="7027200" y="2740000"/>
            <a:ext cx="420000" cy="200000"/>
          </a:xfrm>
          <a:prstGeom prst="right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48" name="Rectangle 30047">
            <a:extLst>
              <a:ext uri="{FF2B5EF4-FFF2-40B4-BE49-F238E27FC236}">
                <a16:creationId xmlns:a16="http://schemas.microsoft.com/office/drawing/2014/main" id="{DF06D2D0-82E1-1665-EC46-E479F202695D}"/>
              </a:ext>
            </a:extLst>
          </p:cNvPr>
          <p:cNvSpPr/>
          <p:nvPr/>
        </p:nvSpPr>
        <p:spPr>
          <a:xfrm>
            <a:off x="7507200" y="2520000"/>
            <a:ext cx="4227600" cy="64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TrustCancellations</a:t>
            </a:r>
          </a:p>
          <a:p>
            <a:pPr algn="l">
              <a:buNone/>
            </a:pPr>
            <a:r>
              <a:rPr lang="en-US" sz="1200">
                <a:solidFill>
                  <a:srgbClr val="3D4F66"/>
                </a:solidFill>
                <a:effectLst/>
                <a:latin typeface="Calibri" panose="020F0502020204030204" pitchFamily="34" charset="0"/>
              </a:rPr>
              <a:t>0002 · cancellation</a:t>
            </a:r>
            <a:endParaRPr lang="en-US"/>
          </a:p>
        </p:txBody>
      </p:sp>
      <p:sp>
        <p:nvSpPr>
          <p:cNvPr id="30138" name="Arrow: Right 30137">
            <a:extLst>
              <a:ext uri="{FF2B5EF4-FFF2-40B4-BE49-F238E27FC236}">
                <a16:creationId xmlns:a16="http://schemas.microsoft.com/office/drawing/2014/main" id="{9B615FF3-B60A-23E3-298A-D202DE5D8B52}"/>
              </a:ext>
            </a:extLst>
          </p:cNvPr>
          <p:cNvSpPr/>
          <p:nvPr/>
        </p:nvSpPr>
        <p:spPr>
          <a:xfrm>
            <a:off x="7027200" y="3560000"/>
            <a:ext cx="420000" cy="200000"/>
          </a:xfrm>
          <a:prstGeom prst="right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29" name="Rectangle 30228">
            <a:extLst>
              <a:ext uri="{FF2B5EF4-FFF2-40B4-BE49-F238E27FC236}">
                <a16:creationId xmlns:a16="http://schemas.microsoft.com/office/drawing/2014/main" id="{A2638A49-1D1E-82AF-2BE1-F3B21DF3FD5E}"/>
              </a:ext>
            </a:extLst>
          </p:cNvPr>
          <p:cNvSpPr/>
          <p:nvPr/>
        </p:nvSpPr>
        <p:spPr>
          <a:xfrm>
            <a:off x="7507200" y="3340000"/>
            <a:ext cx="4227600" cy="64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TrustMovements</a:t>
            </a:r>
          </a:p>
          <a:p>
            <a:pPr algn="l">
              <a:buNone/>
            </a:pPr>
            <a:r>
              <a:rPr lang="en-US" sz="1200">
                <a:solidFill>
                  <a:srgbClr val="3D4F66"/>
                </a:solidFill>
                <a:effectLst/>
                <a:latin typeface="Calibri" panose="020F0502020204030204" pitchFamily="34" charset="0"/>
              </a:rPr>
              <a:t>0003 · movement</a:t>
            </a:r>
            <a:endParaRPr lang="en-US"/>
          </a:p>
        </p:txBody>
      </p:sp>
      <p:sp>
        <p:nvSpPr>
          <p:cNvPr id="30321" name="Arrow: Right 30320">
            <a:extLst>
              <a:ext uri="{FF2B5EF4-FFF2-40B4-BE49-F238E27FC236}">
                <a16:creationId xmlns:a16="http://schemas.microsoft.com/office/drawing/2014/main" id="{953E24D6-0A19-322C-5CF3-CE549C994C8E}"/>
              </a:ext>
            </a:extLst>
          </p:cNvPr>
          <p:cNvSpPr/>
          <p:nvPr/>
        </p:nvSpPr>
        <p:spPr>
          <a:xfrm>
            <a:off x="7027200" y="4380000"/>
            <a:ext cx="420000" cy="200000"/>
          </a:xfrm>
          <a:prstGeom prst="right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14" name="Rectangle 30413">
            <a:extLst>
              <a:ext uri="{FF2B5EF4-FFF2-40B4-BE49-F238E27FC236}">
                <a16:creationId xmlns:a16="http://schemas.microsoft.com/office/drawing/2014/main" id="{02FEF112-FEC9-66B7-23BC-B6410B7F89EC}"/>
              </a:ext>
            </a:extLst>
          </p:cNvPr>
          <p:cNvSpPr/>
          <p:nvPr/>
        </p:nvSpPr>
        <p:spPr>
          <a:xfrm>
            <a:off x="7507200" y="4160000"/>
            <a:ext cx="4227600" cy="64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TrustOtherEvents</a:t>
            </a:r>
          </a:p>
          <a:p>
            <a:pPr algn="l">
              <a:buNone/>
            </a:pPr>
            <a:r>
              <a:rPr lang="en-US" sz="1200">
                <a:solidFill>
                  <a:srgbClr val="3D4F66"/>
                </a:solidFill>
                <a:effectLst/>
                <a:latin typeface="Calibri" panose="020F0502020204030204" pitchFamily="34" charset="0"/>
              </a:rPr>
              <a:t>0004–0008 · other events</a:t>
            </a:r>
            <a:endParaRPr lang="en-US"/>
          </a:p>
        </p:txBody>
      </p:sp>
      <p:sp>
        <p:nvSpPr>
          <p:cNvPr id="30508" name="Rectangle 30507">
            <a:extLst>
              <a:ext uri="{FF2B5EF4-FFF2-40B4-BE49-F238E27FC236}">
                <a16:creationId xmlns:a16="http://schemas.microsoft.com/office/drawing/2014/main" id="{AD09D24F-D9C7-77E6-E015-5B117821AED0}"/>
              </a:ext>
            </a:extLst>
          </p:cNvPr>
          <p:cNvSpPr/>
          <p:nvPr/>
        </p:nvSpPr>
        <p:spPr>
          <a:xfrm>
            <a:off x="457200" y="5150000"/>
            <a:ext cx="3592533"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Runs on every ingestion, so rows are queryable within seconds.</a:t>
            </a:r>
          </a:p>
          <a:p>
            <a:pPr algn="l">
              <a:buNone/>
            </a:pPr>
            <a:r>
              <a:rPr lang="en-US" sz="100">
                <a:effectLst/>
              </a:rPr>
              <a:t> </a:t>
            </a:r>
            <a:endParaRPr lang="en-US"/>
          </a:p>
        </p:txBody>
      </p:sp>
      <p:sp>
        <p:nvSpPr>
          <p:cNvPr id="30603" name="Rectangle 30602">
            <a:extLst>
              <a:ext uri="{FF2B5EF4-FFF2-40B4-BE49-F238E27FC236}">
                <a16:creationId xmlns:a16="http://schemas.microsoft.com/office/drawing/2014/main" id="{F4F32022-F0AD-257E-AD15-AF2F92038AAF}"/>
              </a:ext>
            </a:extLst>
          </p:cNvPr>
          <p:cNvSpPr/>
          <p:nvPr/>
        </p:nvSpPr>
        <p:spPr>
          <a:xfrm>
            <a:off x="4299733" y="5150000"/>
            <a:ext cx="3592533"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mv-expand turns one batch into one row per TRUST message.</a:t>
            </a:r>
          </a:p>
          <a:p>
            <a:pPr algn="l">
              <a:buNone/>
            </a:pPr>
            <a:r>
              <a:rPr lang="en-US" sz="100">
                <a:effectLst/>
              </a:rPr>
              <a:t> </a:t>
            </a:r>
            <a:endParaRPr lang="en-US"/>
          </a:p>
        </p:txBody>
      </p:sp>
      <p:sp>
        <p:nvSpPr>
          <p:cNvPr id="30699" name="Rectangle 30698">
            <a:extLst>
              <a:ext uri="{FF2B5EF4-FFF2-40B4-BE49-F238E27FC236}">
                <a16:creationId xmlns:a16="http://schemas.microsoft.com/office/drawing/2014/main" id="{C310BB23-6132-E721-9507-C397B8BD3EEC}"/>
              </a:ext>
            </a:extLst>
          </p:cNvPr>
          <p:cNvSpPr/>
          <p:nvPr/>
        </p:nvSpPr>
        <p:spPr>
          <a:xfrm>
            <a:off x="8142266" y="5150000"/>
            <a:ext cx="3592533" cy="79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msg_type routes each row to its table; bad rows don't block the rest.</a:t>
            </a:r>
          </a:p>
          <a:p>
            <a:pPr algn="l">
              <a:buNone/>
            </a:pPr>
            <a:r>
              <a:rPr lang="en-US" sz="100">
                <a:effectLst/>
              </a:rPr>
              <a:t> </a:t>
            </a:r>
            <a:endParaRPr lang="en-US"/>
          </a:p>
        </p:txBody>
      </p:sp>
    </p:spTree>
    <p:extLst>
      <p:ext uri="{BB962C8B-B14F-4D97-AF65-F5344CB8AC3E}">
        <p14:creationId xmlns:p14="http://schemas.microsoft.com/office/powerpoint/2010/main" val="991609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0796" name="Rectangle 30795">
            <a:extLst>
              <a:ext uri="{FF2B5EF4-FFF2-40B4-BE49-F238E27FC236}">
                <a16:creationId xmlns:a16="http://schemas.microsoft.com/office/drawing/2014/main" id="{FDE72426-DA07-0FAD-6011-B11E67471D2C}"/>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04b · DARWIN PUSH PORT · 25 MIN · OPTIONAL</a:t>
            </a:r>
          </a:p>
          <a:p>
            <a:pPr algn="l">
              <a:buNone/>
            </a:pPr>
            <a:r>
              <a:rPr lang="en-US" sz="100">
                <a:effectLst/>
              </a:rPr>
              <a:t> </a:t>
            </a:r>
            <a:endParaRPr lang="en-US"/>
          </a:p>
        </p:txBody>
      </p:sp>
      <p:sp>
        <p:nvSpPr>
          <p:cNvPr id="30894" name="Rectangle 30893">
            <a:extLst>
              <a:ext uri="{FF2B5EF4-FFF2-40B4-BE49-F238E27FC236}">
                <a16:creationId xmlns:a16="http://schemas.microsoft.com/office/drawing/2014/main" id="{CE5F5A27-1596-7810-3361-34D1AF790E5A}"/>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Add forecasts and platforms from Darwin</a:t>
            </a:r>
          </a:p>
          <a:p>
            <a:pPr algn="l">
              <a:buNone/>
            </a:pPr>
            <a:r>
              <a:rPr lang="en-US" sz="100">
                <a:effectLst/>
              </a:rPr>
              <a:t> </a:t>
            </a:r>
            <a:endParaRPr lang="en-US"/>
          </a:p>
        </p:txBody>
      </p:sp>
      <p:sp>
        <p:nvSpPr>
          <p:cNvPr id="30993" name="Rectangle 30992">
            <a:extLst>
              <a:ext uri="{FF2B5EF4-FFF2-40B4-BE49-F238E27FC236}">
                <a16:creationId xmlns:a16="http://schemas.microsoft.com/office/drawing/2014/main" id="{85BCC529-C12C-9AFD-2599-BFDABA46D3EC}"/>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093" name="Rectangle 31092">
            <a:extLst>
              <a:ext uri="{FF2B5EF4-FFF2-40B4-BE49-F238E27FC236}">
                <a16:creationId xmlns:a16="http://schemas.microsoft.com/office/drawing/2014/main" id="{06CC61DB-754E-8CFF-BA21-80EEA04BA6AC}"/>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1194" name="Rectangle 31193">
            <a:extLst>
              <a:ext uri="{FF2B5EF4-FFF2-40B4-BE49-F238E27FC236}">
                <a16:creationId xmlns:a16="http://schemas.microsoft.com/office/drawing/2014/main" id="{42F04288-3B84-13F0-53F3-F745859D5DED}"/>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1296" name="Rectangle 31295">
            <a:extLst>
              <a:ext uri="{FF2B5EF4-FFF2-40B4-BE49-F238E27FC236}">
                <a16:creationId xmlns:a16="http://schemas.microsoft.com/office/drawing/2014/main" id="{B9A8AF3C-5826-1F35-60B4-9BB55ABCD7C5}"/>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Subscribe to Darwin Real Time Train Information (Push) on RDM.</a:t>
            </a:r>
          </a:p>
          <a:p>
            <a:pPr algn="l">
              <a:buNone/>
            </a:pPr>
            <a:r>
              <a:rPr lang="en-US" sz="100">
                <a:effectLst/>
              </a:rPr>
              <a:t> </a:t>
            </a:r>
            <a:endParaRPr lang="en-US"/>
          </a:p>
        </p:txBody>
      </p:sp>
      <p:sp>
        <p:nvSpPr>
          <p:cNvPr id="31399" name="Rectangle 31398">
            <a:extLst>
              <a:ext uri="{FF2B5EF4-FFF2-40B4-BE49-F238E27FC236}">
                <a16:creationId xmlns:a16="http://schemas.microsoft.com/office/drawing/2014/main" id="{F5EFB41F-1AB9-DFA4-E5F5-E5E5C2A32247}"/>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1503" name="Rectangle 31502">
            <a:extLst>
              <a:ext uri="{FF2B5EF4-FFF2-40B4-BE49-F238E27FC236}">
                <a16:creationId xmlns:a16="http://schemas.microsoft.com/office/drawing/2014/main" id="{1893FEC1-5341-797A-D100-3B8483E86B94}"/>
              </a:ext>
            </a:extLst>
          </p:cNvPr>
          <p:cNvSpPr/>
          <p:nvPr/>
        </p:nvSpPr>
        <p:spPr>
          <a:xfrm>
            <a:off x="1015800" y="2508160"/>
            <a:ext cx="4362800" cy="77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Kafka source on RailEventstreamDarwin, with its own topic, group and credentials.</a:t>
            </a:r>
          </a:p>
          <a:p>
            <a:pPr algn="l">
              <a:buNone/>
            </a:pPr>
            <a:r>
              <a:rPr lang="en-US" sz="100">
                <a:effectLst/>
              </a:rPr>
              <a:t> </a:t>
            </a:r>
            <a:endParaRPr lang="en-US"/>
          </a:p>
        </p:txBody>
      </p:sp>
      <p:sp>
        <p:nvSpPr>
          <p:cNvPr id="31608" name="Rectangle 31607">
            <a:extLst>
              <a:ext uri="{FF2B5EF4-FFF2-40B4-BE49-F238E27FC236}">
                <a16:creationId xmlns:a16="http://schemas.microsoft.com/office/drawing/2014/main" id="{95DD60B3-DD19-1006-08E2-EC54F34D06D1}"/>
              </a:ext>
            </a:extLst>
          </p:cNvPr>
          <p:cNvSpPr/>
          <p:nvPr/>
        </p:nvSpPr>
        <p:spPr>
          <a:xfrm>
            <a:off x="685800" y="33496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1714" name="Rectangle 31713">
            <a:extLst>
              <a:ext uri="{FF2B5EF4-FFF2-40B4-BE49-F238E27FC236}">
                <a16:creationId xmlns:a16="http://schemas.microsoft.com/office/drawing/2014/main" id="{6CA0218C-35D7-8A70-0976-6EF358EF4BFB}"/>
              </a:ext>
            </a:extLst>
          </p:cNvPr>
          <p:cNvSpPr/>
          <p:nvPr/>
        </p:nvSpPr>
        <p:spPr>
          <a:xfrm>
            <a:off x="1015800" y="33496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Send it to RdmDarwinRaw with RdmDarwinRawMapping.</a:t>
            </a:r>
          </a:p>
          <a:p>
            <a:pPr algn="l">
              <a:buNone/>
            </a:pPr>
            <a:r>
              <a:rPr lang="en-US" sz="100">
                <a:effectLst/>
              </a:rPr>
              <a:t> </a:t>
            </a:r>
            <a:endParaRPr lang="en-US"/>
          </a:p>
        </p:txBody>
      </p:sp>
      <p:sp>
        <p:nvSpPr>
          <p:cNvPr id="31821" name="Rectangle 31820">
            <a:extLst>
              <a:ext uri="{FF2B5EF4-FFF2-40B4-BE49-F238E27FC236}">
                <a16:creationId xmlns:a16="http://schemas.microsoft.com/office/drawing/2014/main" id="{BB536380-AA4C-C3BF-AD2B-1B9A0C23ADC8}"/>
              </a:ext>
            </a:extLst>
          </p:cNvPr>
          <p:cNvSpPr/>
          <p:nvPr/>
        </p:nvSpPr>
        <p:spPr>
          <a:xfrm>
            <a:off x="685800" y="397784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31929" name="Rectangle 31928">
            <a:extLst>
              <a:ext uri="{FF2B5EF4-FFF2-40B4-BE49-F238E27FC236}">
                <a16:creationId xmlns:a16="http://schemas.microsoft.com/office/drawing/2014/main" id="{138D1D1A-F15A-0A4B-24E6-80AD1D33B44D}"/>
              </a:ext>
            </a:extLst>
          </p:cNvPr>
          <p:cNvSpPr/>
          <p:nvPr/>
        </p:nvSpPr>
        <p:spPr>
          <a:xfrm>
            <a:off x="1015800" y="3977840"/>
            <a:ext cx="4362800" cy="77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Query DarwinLatest, DarwinUnconfirmedPlatforms and DarwinBiggestDelays.</a:t>
            </a:r>
          </a:p>
          <a:p>
            <a:pPr algn="l">
              <a:buNone/>
            </a:pPr>
            <a:r>
              <a:rPr lang="en-US" sz="100">
                <a:effectLst/>
              </a:rPr>
              <a:t> </a:t>
            </a:r>
            <a:endParaRPr lang="en-US"/>
          </a:p>
        </p:txBody>
      </p:sp>
      <p:sp>
        <p:nvSpPr>
          <p:cNvPr id="32038" name="Rectangle 32037">
            <a:extLst>
              <a:ext uri="{FF2B5EF4-FFF2-40B4-BE49-F238E27FC236}">
                <a16:creationId xmlns:a16="http://schemas.microsoft.com/office/drawing/2014/main" id="{118C1543-C3CC-0376-8B83-83E68E71F14A}"/>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Darwin adds a second always-on Kafka Eventstream: about 0.83 CU more.</a:t>
            </a:r>
            <a:endParaRPr lang="en-US"/>
          </a:p>
        </p:txBody>
      </p:sp>
      <p:sp>
        <p:nvSpPr>
          <p:cNvPr id="32148" name="Rectangle 32147">
            <a:extLst>
              <a:ext uri="{FF2B5EF4-FFF2-40B4-BE49-F238E27FC236}">
                <a16:creationId xmlns:a16="http://schemas.microsoft.com/office/drawing/2014/main" id="{EA59C852-A08B-F7AC-D171-6894A00E9DA0}"/>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docs/labs/04b-darwin-push-port.md</a:t>
            </a:r>
          </a:p>
          <a:p>
            <a:pPr algn="l">
              <a:buNone/>
            </a:pPr>
            <a:r>
              <a:rPr lang="en-US" sz="100">
                <a:effectLst/>
              </a:rPr>
              <a:t> </a:t>
            </a:r>
            <a:endParaRPr lang="en-US"/>
          </a:p>
        </p:txBody>
      </p:sp>
      <p:sp>
        <p:nvSpPr>
          <p:cNvPr id="32259" name="Rectangle 32258">
            <a:extLst>
              <a:ext uri="{FF2B5EF4-FFF2-40B4-BE49-F238E27FC236}">
                <a16:creationId xmlns:a16="http://schemas.microsoft.com/office/drawing/2014/main" id="{21E3D1CF-6573-445F-FE10-28AE8B1B4D9D}"/>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32371" name="Rectangle 32370">
            <a:extLst>
              <a:ext uri="{FF2B5EF4-FFF2-40B4-BE49-F238E27FC236}">
                <a16:creationId xmlns:a16="http://schemas.microsoft.com/office/drawing/2014/main" id="{960A2955-4F66-6851-D5D2-AFBDF2506841}"/>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Unwrap the envelope, then parse</a:t>
            </a:r>
          </a:p>
          <a:p>
            <a:pPr algn="l">
              <a:buNone/>
            </a:pPr>
            <a:r>
              <a:rPr lang="en-US" sz="100">
                <a:effectLst/>
              </a:rPr>
              <a:t> </a:t>
            </a:r>
            <a:endParaRPr lang="en-US"/>
          </a:p>
        </p:txBody>
      </p:sp>
      <p:sp>
        <p:nvSpPr>
          <p:cNvPr id="32484" name="Rectangle 32483">
            <a:extLst>
              <a:ext uri="{FF2B5EF4-FFF2-40B4-BE49-F238E27FC236}">
                <a16:creationId xmlns:a16="http://schemas.microsoft.com/office/drawing/2014/main" id="{E41048FE-F24A-5F2B-072A-7C0AAFB6A238}"/>
              </a:ext>
            </a:extLst>
          </p:cNvPr>
          <p:cNvSpPr/>
          <p:nvPr/>
        </p:nvSpPr>
        <p:spPr>
          <a:xfrm>
            <a:off x="5900000" y="2260000"/>
            <a:ext cx="5834800" cy="87056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Kafka message (envelope)</a:t>
            </a:r>
          </a:p>
          <a:p>
            <a:pPr algn="l">
              <a:buNone/>
            </a:pPr>
            <a:r>
              <a:rPr lang="en-US" sz="1200">
                <a:solidFill>
                  <a:srgbClr val="3D4F66"/>
                </a:solidFill>
                <a:effectLst/>
                <a:latin typeface="Calibri" panose="020F0502020204030204" pitchFamily="34" charset="0"/>
              </a:rPr>
              <a:t>Message metadata, with the real Darwin JSON stored as a string in bytes.</a:t>
            </a:r>
            <a:endParaRPr lang="en-US"/>
          </a:p>
        </p:txBody>
      </p:sp>
      <p:sp>
        <p:nvSpPr>
          <p:cNvPr id="32598" name="Arrow: Down 32597">
            <a:extLst>
              <a:ext uri="{FF2B5EF4-FFF2-40B4-BE49-F238E27FC236}">
                <a16:creationId xmlns:a16="http://schemas.microsoft.com/office/drawing/2014/main" id="{90647CBC-7B58-023B-47A5-81F4D3E0220A}"/>
              </a:ext>
            </a:extLst>
          </p:cNvPr>
          <p:cNvSpPr/>
          <p:nvPr/>
        </p:nvSpPr>
        <p:spPr>
          <a:xfrm>
            <a:off x="8687400" y="318556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13" name="Rectangle 32712">
            <a:extLst>
              <a:ext uri="{FF2B5EF4-FFF2-40B4-BE49-F238E27FC236}">
                <a16:creationId xmlns:a16="http://schemas.microsoft.com/office/drawing/2014/main" id="{189577B6-79B8-86B8-CFDF-E3E235D77C1B}"/>
              </a:ext>
            </a:extLst>
          </p:cNvPr>
          <p:cNvSpPr/>
          <p:nvPr/>
        </p:nvSpPr>
        <p:spPr>
          <a:xfrm>
            <a:off x="5900000" y="346056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UnwrapRdm()</a:t>
            </a:r>
          </a:p>
          <a:p>
            <a:pPr algn="l">
              <a:buNone/>
            </a:pPr>
            <a:r>
              <a:rPr lang="en-US" sz="1200">
                <a:solidFill>
                  <a:srgbClr val="3D4F66"/>
                </a:solidFill>
                <a:effectLst/>
                <a:latin typeface="Calibri" panose="020F0502020204030204" pitchFamily="34" charset="0"/>
              </a:rPr>
              <a:t>parse_json(bytes) turns the string back into JSON.</a:t>
            </a:r>
            <a:endParaRPr lang="en-US"/>
          </a:p>
        </p:txBody>
      </p:sp>
      <p:sp>
        <p:nvSpPr>
          <p:cNvPr id="32829" name="Arrow: Down 32828">
            <a:extLst>
              <a:ext uri="{FF2B5EF4-FFF2-40B4-BE49-F238E27FC236}">
                <a16:creationId xmlns:a16="http://schemas.microsoft.com/office/drawing/2014/main" id="{EAC5A070-A2C7-CE75-AE21-8472D459A67B}"/>
              </a:ext>
            </a:extLst>
          </p:cNvPr>
          <p:cNvSpPr/>
          <p:nvPr/>
        </p:nvSpPr>
        <p:spPr>
          <a:xfrm>
            <a:off x="8687400" y="420324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46" name="Rectangle 32945">
            <a:extLst>
              <a:ext uri="{FF2B5EF4-FFF2-40B4-BE49-F238E27FC236}">
                <a16:creationId xmlns:a16="http://schemas.microsoft.com/office/drawing/2014/main" id="{DA0E9106-2891-E2E4-4C0A-4E666B37B1DF}"/>
              </a:ext>
            </a:extLst>
          </p:cNvPr>
          <p:cNvSpPr/>
          <p:nvPr/>
        </p:nvSpPr>
        <p:spPr>
          <a:xfrm>
            <a:off x="5900000" y="4478240"/>
            <a:ext cx="5834800" cy="87056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DarwinLocations</a:t>
            </a:r>
          </a:p>
          <a:p>
            <a:pPr algn="l">
              <a:buNone/>
            </a:pPr>
            <a:r>
              <a:rPr lang="en-US" sz="1200">
                <a:solidFill>
                  <a:srgbClr val="3D4F66"/>
                </a:solidFill>
                <a:effectLst/>
                <a:latin typeface="Calibri" panose="020F0502020204030204" pitchFamily="34" charset="0"/>
              </a:rPr>
              <a:t>One row per service and location: forecast, actual, platform, delay.</a:t>
            </a:r>
            <a:endParaRPr lang="en-US"/>
          </a:p>
        </p:txBody>
      </p:sp>
    </p:spTree>
    <p:extLst>
      <p:ext uri="{BB962C8B-B14F-4D97-AF65-F5344CB8AC3E}">
        <p14:creationId xmlns:p14="http://schemas.microsoft.com/office/powerpoint/2010/main" val="3391696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2947" name="Rectangle 32946">
            <a:extLst>
              <a:ext uri="{FF2B5EF4-FFF2-40B4-BE49-F238E27FC236}">
                <a16:creationId xmlns:a16="http://schemas.microsoft.com/office/drawing/2014/main" id="{1C6EE1B5-9766-5CB8-A778-EF543CE1EBFA}"/>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LABS 05a–05b · STOMP BRIDGE · 70 MIN</a:t>
            </a:r>
          </a:p>
          <a:p>
            <a:pPr algn="l">
              <a:buNone/>
            </a:pPr>
            <a:r>
              <a:rPr lang="en-US" sz="100">
                <a:effectLst/>
              </a:rPr>
              <a:t> </a:t>
            </a:r>
            <a:endParaRPr lang="en-US"/>
          </a:p>
        </p:txBody>
      </p:sp>
      <p:sp>
        <p:nvSpPr>
          <p:cNvPr id="32949" name="Rectangle 32948">
            <a:extLst>
              <a:ext uri="{FF2B5EF4-FFF2-40B4-BE49-F238E27FC236}">
                <a16:creationId xmlns:a16="http://schemas.microsoft.com/office/drawing/2014/main" id="{5E128326-D8DD-6451-D081-9544C9D724EE}"/>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Bridge the ActiveMQ feeds into Fabric</a:t>
            </a:r>
          </a:p>
          <a:p>
            <a:pPr algn="l">
              <a:buNone/>
            </a:pPr>
            <a:r>
              <a:rPr lang="en-US" sz="100">
                <a:effectLst/>
              </a:rPr>
              <a:t> </a:t>
            </a:r>
            <a:endParaRPr lang="en-US"/>
          </a:p>
        </p:txBody>
      </p:sp>
      <p:sp>
        <p:nvSpPr>
          <p:cNvPr id="32952" name="Rectangle 32951">
            <a:extLst>
              <a:ext uri="{FF2B5EF4-FFF2-40B4-BE49-F238E27FC236}">
                <a16:creationId xmlns:a16="http://schemas.microsoft.com/office/drawing/2014/main" id="{2DDFF2AF-03D3-7161-43D9-15256617894D}"/>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56" name="Rectangle 32955">
            <a:extLst>
              <a:ext uri="{FF2B5EF4-FFF2-40B4-BE49-F238E27FC236}">
                <a16:creationId xmlns:a16="http://schemas.microsoft.com/office/drawing/2014/main" id="{AD3EACD7-AA40-0BE5-075D-90ACF24FC0A3}"/>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2961" name="Rectangle 32960">
            <a:extLst>
              <a:ext uri="{FF2B5EF4-FFF2-40B4-BE49-F238E27FC236}">
                <a16:creationId xmlns:a16="http://schemas.microsoft.com/office/drawing/2014/main" id="{70188DBD-9710-5B7C-85E2-2E481FC2DD72}"/>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2967" name="Rectangle 32966">
            <a:extLst>
              <a:ext uri="{FF2B5EF4-FFF2-40B4-BE49-F238E27FC236}">
                <a16:creationId xmlns:a16="http://schemas.microsoft.com/office/drawing/2014/main" id="{8D3D7FDC-0BE3-F181-63D3-D70C65740F8D}"/>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Replay the bundled sample messages offline (venv; Docker optional).</a:t>
            </a:r>
          </a:p>
          <a:p>
            <a:pPr algn="l">
              <a:buNone/>
            </a:pPr>
            <a:r>
              <a:rPr lang="en-US" sz="100">
                <a:effectLst/>
              </a:rPr>
              <a:t> </a:t>
            </a:r>
            <a:endParaRPr lang="en-US"/>
          </a:p>
        </p:txBody>
      </p:sp>
      <p:sp>
        <p:nvSpPr>
          <p:cNvPr id="32974" name="Rectangle 32973">
            <a:extLst>
              <a:ext uri="{FF2B5EF4-FFF2-40B4-BE49-F238E27FC236}">
                <a16:creationId xmlns:a16="http://schemas.microsoft.com/office/drawing/2014/main" id="{31AE1C83-692B-A50C-E2EC-00D3B0E2899C}"/>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2982" name="Rectangle 32981">
            <a:extLst>
              <a:ext uri="{FF2B5EF4-FFF2-40B4-BE49-F238E27FC236}">
                <a16:creationId xmlns:a16="http://schemas.microsoft.com/office/drawing/2014/main" id="{4FFFAB52-EEF0-B135-C065-AE2ADB755D54}"/>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Connect to NROD and write to a file, then to the Eventstream custom endpoint.</a:t>
            </a:r>
          </a:p>
          <a:p>
            <a:pPr algn="l">
              <a:buNone/>
            </a:pPr>
            <a:r>
              <a:rPr lang="en-US" sz="100">
                <a:effectLst/>
              </a:rPr>
              <a:t> </a:t>
            </a:r>
            <a:endParaRPr lang="en-US"/>
          </a:p>
        </p:txBody>
      </p:sp>
      <p:sp>
        <p:nvSpPr>
          <p:cNvPr id="32991" name="Rectangle 32990">
            <a:extLst>
              <a:ext uri="{FF2B5EF4-FFF2-40B4-BE49-F238E27FC236}">
                <a16:creationId xmlns:a16="http://schemas.microsoft.com/office/drawing/2014/main" id="{15529581-9AAD-69A3-160B-D3E7EE2A4463}"/>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3001" name="Rectangle 33000">
            <a:extLst>
              <a:ext uri="{FF2B5EF4-FFF2-40B4-BE49-F238E27FC236}">
                <a16:creationId xmlns:a16="http://schemas.microsoft.com/office/drawing/2014/main" id="{A5593FE0-E619-D71D-6C1E-90B9EABE0E26}"/>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Deploy to Container Apps with deploy-bridge; the image builds in Azure.</a:t>
            </a:r>
          </a:p>
          <a:p>
            <a:pPr algn="l">
              <a:buNone/>
            </a:pPr>
            <a:r>
              <a:rPr lang="en-US" sz="100">
                <a:effectLst/>
              </a:rPr>
              <a:t> </a:t>
            </a:r>
            <a:endParaRPr lang="en-US"/>
          </a:p>
        </p:txBody>
      </p:sp>
      <p:sp>
        <p:nvSpPr>
          <p:cNvPr id="33012" name="Rectangle 33011">
            <a:extLst>
              <a:ext uri="{FF2B5EF4-FFF2-40B4-BE49-F238E27FC236}">
                <a16:creationId xmlns:a16="http://schemas.microsoft.com/office/drawing/2014/main" id="{3885F030-94F7-4D36-4DF9-3924B46BED23}"/>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33024" name="Rectangle 33023">
            <a:extLst>
              <a:ext uri="{FF2B5EF4-FFF2-40B4-BE49-F238E27FC236}">
                <a16:creationId xmlns:a16="http://schemas.microsoft.com/office/drawing/2014/main" id="{9B606DD0-CEFE-1514-EB88-D161373B5439}"/>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Keep the credentials in the shared Key Vault.</a:t>
            </a:r>
          </a:p>
          <a:p>
            <a:pPr algn="l">
              <a:buNone/>
            </a:pPr>
            <a:r>
              <a:rPr lang="en-US" sz="100">
                <a:effectLst/>
              </a:rPr>
              <a:t> </a:t>
            </a:r>
            <a:endParaRPr lang="en-US"/>
          </a:p>
        </p:txBody>
      </p:sp>
      <p:sp>
        <p:nvSpPr>
          <p:cNvPr id="33037" name="Rectangle 33036">
            <a:extLst>
              <a:ext uri="{FF2B5EF4-FFF2-40B4-BE49-F238E27FC236}">
                <a16:creationId xmlns:a16="http://schemas.microsoft.com/office/drawing/2014/main" id="{A2396DDC-0AEE-8C2C-BF1E-E32D18AED988}"/>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NROD allows one connection per account. Rapid reconnects can trigger a temporary block (AMQ339009).</a:t>
            </a:r>
            <a:endParaRPr lang="en-US"/>
          </a:p>
        </p:txBody>
      </p:sp>
      <p:sp>
        <p:nvSpPr>
          <p:cNvPr id="33051" name="Rectangle 33050">
            <a:extLst>
              <a:ext uri="{FF2B5EF4-FFF2-40B4-BE49-F238E27FC236}">
                <a16:creationId xmlns:a16="http://schemas.microsoft.com/office/drawing/2014/main" id="{247CB94A-FEDB-3C79-B84E-077FA98B73C2}"/>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docs/labs/05a-bridge-local.md · 05b · src/bridge/</a:t>
            </a:r>
          </a:p>
          <a:p>
            <a:pPr algn="l">
              <a:buNone/>
            </a:pPr>
            <a:r>
              <a:rPr lang="en-US" sz="100">
                <a:effectLst/>
              </a:rPr>
              <a:t> </a:t>
            </a:r>
            <a:endParaRPr lang="en-US"/>
          </a:p>
        </p:txBody>
      </p:sp>
      <p:sp>
        <p:nvSpPr>
          <p:cNvPr id="33066" name="Rectangle 33065">
            <a:extLst>
              <a:ext uri="{FF2B5EF4-FFF2-40B4-BE49-F238E27FC236}">
                <a16:creationId xmlns:a16="http://schemas.microsoft.com/office/drawing/2014/main" id="{043C62F2-411A-2E50-B869-7EC1DFC6C658}"/>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33082" name="Rectangle 33081">
            <a:extLst>
              <a:ext uri="{FF2B5EF4-FFF2-40B4-BE49-F238E27FC236}">
                <a16:creationId xmlns:a16="http://schemas.microsoft.com/office/drawing/2014/main" id="{C1C37450-0B1C-36F7-92F7-7230392E196E}"/>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Never lose a message</a:t>
            </a:r>
          </a:p>
          <a:p>
            <a:pPr algn="l">
              <a:buNone/>
            </a:pPr>
            <a:r>
              <a:rPr lang="en-US" sz="100">
                <a:effectLst/>
              </a:rPr>
              <a:t> </a:t>
            </a:r>
            <a:endParaRPr lang="en-US"/>
          </a:p>
        </p:txBody>
      </p:sp>
      <p:sp>
        <p:nvSpPr>
          <p:cNvPr id="33099" name="Rectangle 33098">
            <a:extLst>
              <a:ext uri="{FF2B5EF4-FFF2-40B4-BE49-F238E27FC236}">
                <a16:creationId xmlns:a16="http://schemas.microsoft.com/office/drawing/2014/main" id="{DBEC011E-982F-C949-BDE9-91A0790945BA}"/>
              </a:ext>
            </a:extLst>
          </p:cNvPr>
          <p:cNvSpPr/>
          <p:nvPr/>
        </p:nvSpPr>
        <p:spPr>
          <a:xfrm>
            <a:off x="5900000" y="2260000"/>
            <a:ext cx="5834800" cy="87056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NROD ActiveMQ · STOMP 61618</a:t>
            </a:r>
          </a:p>
          <a:p>
            <a:pPr algn="l">
              <a:buNone/>
            </a:pPr>
            <a:r>
              <a:rPr lang="en-US" sz="1200">
                <a:solidFill>
                  <a:srgbClr val="3D4F66"/>
                </a:solidFill>
                <a:effectLst/>
                <a:latin typeface="Calibri" panose="020F0502020204030204" pitchFamily="34" charset="0"/>
              </a:rPr>
              <a:t>A durable subscription buffers about five minutes while you reconnect.</a:t>
            </a:r>
            <a:endParaRPr lang="en-US"/>
          </a:p>
        </p:txBody>
      </p:sp>
      <p:sp>
        <p:nvSpPr>
          <p:cNvPr id="33117" name="Arrow: Down 33116">
            <a:extLst>
              <a:ext uri="{FF2B5EF4-FFF2-40B4-BE49-F238E27FC236}">
                <a16:creationId xmlns:a16="http://schemas.microsoft.com/office/drawing/2014/main" id="{6A580774-D4BB-8402-AD56-89A820895EF0}"/>
              </a:ext>
            </a:extLst>
          </p:cNvPr>
          <p:cNvSpPr/>
          <p:nvPr/>
        </p:nvSpPr>
        <p:spPr>
          <a:xfrm>
            <a:off x="8687400" y="318556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36" name="Rectangle 33135">
            <a:extLst>
              <a:ext uri="{FF2B5EF4-FFF2-40B4-BE49-F238E27FC236}">
                <a16:creationId xmlns:a16="http://schemas.microsoft.com/office/drawing/2014/main" id="{6A99A937-E916-D8D4-8F7D-4C9D57B9F8FE}"/>
              </a:ext>
            </a:extLst>
          </p:cNvPr>
          <p:cNvSpPr/>
          <p:nvPr/>
        </p:nvSpPr>
        <p:spPr>
          <a:xfrm>
            <a:off x="5900000" y="346056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Bridge · 1 Container App replica</a:t>
            </a:r>
          </a:p>
          <a:p>
            <a:pPr algn="l">
              <a:buNone/>
            </a:pPr>
            <a:r>
              <a:rPr lang="en-US" sz="1200">
                <a:solidFill>
                  <a:srgbClr val="3D4F66"/>
                </a:solidFill>
                <a:effectLst/>
                <a:latin typeface="Calibri" panose="020F0502020204030204" pitchFamily="34" charset="0"/>
              </a:rPr>
              <a:t>ACKs a frame only after Fabric accepts it; backs off on errors.</a:t>
            </a:r>
            <a:endParaRPr lang="en-US"/>
          </a:p>
        </p:txBody>
      </p:sp>
      <p:sp>
        <p:nvSpPr>
          <p:cNvPr id="33156" name="Arrow: Down 33155">
            <a:extLst>
              <a:ext uri="{FF2B5EF4-FFF2-40B4-BE49-F238E27FC236}">
                <a16:creationId xmlns:a16="http://schemas.microsoft.com/office/drawing/2014/main" id="{BD1FF50C-7412-AEC8-12A6-519141DE2212}"/>
              </a:ext>
            </a:extLst>
          </p:cNvPr>
          <p:cNvSpPr/>
          <p:nvPr/>
        </p:nvSpPr>
        <p:spPr>
          <a:xfrm>
            <a:off x="8687400" y="420324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77" name="Rectangle 33176">
            <a:extLst>
              <a:ext uri="{FF2B5EF4-FFF2-40B4-BE49-F238E27FC236}">
                <a16:creationId xmlns:a16="http://schemas.microsoft.com/office/drawing/2014/main" id="{C91A9DA8-8842-DC60-852C-16951B86DEAA}"/>
              </a:ext>
            </a:extLst>
          </p:cNvPr>
          <p:cNvSpPr/>
          <p:nvPr/>
        </p:nvSpPr>
        <p:spPr>
          <a:xfrm>
            <a:off x="5900000" y="447824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Eventstream custom endpoint</a:t>
            </a:r>
          </a:p>
          <a:p>
            <a:pPr algn="l">
              <a:buNone/>
            </a:pPr>
            <a:r>
              <a:rPr lang="en-US" sz="1200">
                <a:solidFill>
                  <a:srgbClr val="3D4F66"/>
                </a:solidFill>
                <a:effectLst/>
                <a:latin typeface="Calibri" panose="020F0502020204030204" pitchFamily="34" charset="0"/>
              </a:rPr>
              <a:t>Event Hubs protocol into RawFeed in RailKQL.</a:t>
            </a:r>
            <a:endParaRPr lang="en-US"/>
          </a:p>
        </p:txBody>
      </p:sp>
      <p:sp>
        <p:nvSpPr>
          <p:cNvPr id="33199" name="Rectangle 33198">
            <a:extLst>
              <a:ext uri="{FF2B5EF4-FFF2-40B4-BE49-F238E27FC236}">
                <a16:creationId xmlns:a16="http://schemas.microsoft.com/office/drawing/2014/main" id="{AEA1A57F-0D7B-8095-9ABB-31377801546E}"/>
              </a:ext>
            </a:extLst>
          </p:cNvPr>
          <p:cNvSpPr/>
          <p:nvPr/>
        </p:nvSpPr>
        <p:spPr>
          <a:xfrm>
            <a:off x="5900000" y="5315920"/>
            <a:ext cx="5834800"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About $14 a month at 0.25 vCPU / 0.5 GiB (list-price estimate).</a:t>
            </a:r>
          </a:p>
          <a:p>
            <a:pPr algn="l">
              <a:buNone/>
            </a:pPr>
            <a:r>
              <a:rPr lang="en-US" sz="100">
                <a:effectLst/>
              </a:rPr>
              <a:t> </a:t>
            </a:r>
            <a:endParaRPr lang="en-US"/>
          </a:p>
        </p:txBody>
      </p:sp>
    </p:spTree>
    <p:extLst>
      <p:ext uri="{BB962C8B-B14F-4D97-AF65-F5344CB8AC3E}">
        <p14:creationId xmlns:p14="http://schemas.microsoft.com/office/powerpoint/2010/main" val="1332340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1467" name="title">
            <a:extLst>
              <a:ext uri="{FF2B5EF4-FFF2-40B4-BE49-F238E27FC236}">
                <a16:creationId xmlns:a16="http://schemas.microsoft.com/office/drawing/2014/main" id="{E657D3FF-0DAC-4BDD-08A1-717B6D5C83A3}"/>
              </a:ext>
            </a:extLst>
          </p:cNvPr>
          <p:cNvSpPr/>
          <p:nvPr/>
        </p:nvSpPr>
        <p:spPr>
          <a:xfrm>
            <a:off x="400000" y="250000"/>
            <a:ext cx="1139200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0B1F3A"/>
                </a:solidFill>
                <a:effectLst/>
                <a:latin typeface="Calibri" panose="020F0502020204030204" pitchFamily="34" charset="0"/>
              </a:rPr>
              <a:t>Optional: Shared Event Hub (multi-student &amp; overnight-pause mode)</a:t>
            </a:r>
          </a:p>
          <a:p>
            <a:pPr algn="l">
              <a:buNone/>
            </a:pPr>
            <a:r>
              <a:rPr lang="en-US" sz="100">
                <a:effectLst/>
              </a:rPr>
              <a:t> </a:t>
            </a:r>
            <a:endParaRPr lang="en-US"/>
          </a:p>
        </p:txBody>
      </p:sp>
      <p:sp>
        <p:nvSpPr>
          <p:cNvPr id="11469" name="lane-S">
            <a:extLst>
              <a:ext uri="{FF2B5EF4-FFF2-40B4-BE49-F238E27FC236}">
                <a16:creationId xmlns:a16="http://schemas.microsoft.com/office/drawing/2014/main" id="{A096C900-6646-73DC-3F29-66C26DB8E030}"/>
              </a:ext>
            </a:extLst>
          </p:cNvPr>
          <p:cNvSpPr/>
          <p:nvPr/>
        </p:nvSpPr>
        <p:spPr>
          <a:xfrm>
            <a:off x="400000" y="790000"/>
            <a:ext cx="1800000" cy="455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72" name="lane-A">
            <a:extLst>
              <a:ext uri="{FF2B5EF4-FFF2-40B4-BE49-F238E27FC236}">
                <a16:creationId xmlns:a16="http://schemas.microsoft.com/office/drawing/2014/main" id="{4C2E950B-649D-7FFC-2C7F-157C1D34FF65}"/>
              </a:ext>
            </a:extLst>
          </p:cNvPr>
          <p:cNvSpPr/>
          <p:nvPr/>
        </p:nvSpPr>
        <p:spPr>
          <a:xfrm>
            <a:off x="2400000" y="790000"/>
            <a:ext cx="4500000" cy="455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76" name="lane-F">
            <a:extLst>
              <a:ext uri="{FF2B5EF4-FFF2-40B4-BE49-F238E27FC236}">
                <a16:creationId xmlns:a16="http://schemas.microsoft.com/office/drawing/2014/main" id="{D7C0A3D9-07C5-CB78-604E-109693FA8F12}"/>
              </a:ext>
            </a:extLst>
          </p:cNvPr>
          <p:cNvSpPr/>
          <p:nvPr/>
        </p:nvSpPr>
        <p:spPr>
          <a:xfrm>
            <a:off x="7100000" y="790000"/>
            <a:ext cx="4692000" cy="4550000"/>
          </a:xfrm>
          <a:prstGeom prst="rect">
            <a:avLst/>
          </a:prstGeom>
          <a:solidFill>
            <a:srgbClr val="E6EBF1"/>
          </a:solidFill>
          <a:ln w="317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81" name="lanehead-S">
            <a:extLst>
              <a:ext uri="{FF2B5EF4-FFF2-40B4-BE49-F238E27FC236}">
                <a16:creationId xmlns:a16="http://schemas.microsoft.com/office/drawing/2014/main" id="{7FA20B28-E785-4DA3-14A8-47FFB82240FA}"/>
              </a:ext>
            </a:extLst>
          </p:cNvPr>
          <p:cNvSpPr/>
          <p:nvPr/>
        </p:nvSpPr>
        <p:spPr>
          <a:xfrm>
            <a:off x="430000" y="800000"/>
            <a:ext cx="17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1  SOURCES</a:t>
            </a:r>
          </a:p>
          <a:p>
            <a:pPr algn="l">
              <a:buNone/>
            </a:pPr>
            <a:r>
              <a:rPr lang="en-US" sz="100">
                <a:effectLst/>
              </a:rPr>
              <a:t> </a:t>
            </a:r>
            <a:endParaRPr lang="en-US"/>
          </a:p>
        </p:txBody>
      </p:sp>
      <p:sp>
        <p:nvSpPr>
          <p:cNvPr id="11487" name="lanehead-A">
            <a:extLst>
              <a:ext uri="{FF2B5EF4-FFF2-40B4-BE49-F238E27FC236}">
                <a16:creationId xmlns:a16="http://schemas.microsoft.com/office/drawing/2014/main" id="{8D9EC8C3-3558-0E9F-FD35-1CE34C7ECBF7}"/>
              </a:ext>
            </a:extLst>
          </p:cNvPr>
          <p:cNvSpPr/>
          <p:nvPr/>
        </p:nvSpPr>
        <p:spPr>
          <a:xfrm>
            <a:off x="2430000" y="800000"/>
            <a:ext cx="44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2  SHARED INGEST</a:t>
            </a:r>
          </a:p>
          <a:p>
            <a:pPr algn="l">
              <a:buNone/>
            </a:pPr>
            <a:r>
              <a:rPr lang="en-US" sz="100">
                <a:effectLst/>
              </a:rPr>
              <a:t> </a:t>
            </a:r>
            <a:endParaRPr lang="en-US"/>
          </a:p>
        </p:txBody>
      </p:sp>
      <p:sp>
        <p:nvSpPr>
          <p:cNvPr id="11494" name="lanehead-F">
            <a:extLst>
              <a:ext uri="{FF2B5EF4-FFF2-40B4-BE49-F238E27FC236}">
                <a16:creationId xmlns:a16="http://schemas.microsoft.com/office/drawing/2014/main" id="{99255098-C6CB-BC9B-023C-408133AFB2AF}"/>
              </a:ext>
            </a:extLst>
          </p:cNvPr>
          <p:cNvSpPr/>
          <p:nvPr/>
        </p:nvSpPr>
        <p:spPr>
          <a:xfrm>
            <a:off x="7130000" y="800000"/>
            <a:ext cx="4632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17865"/>
                </a:solidFill>
                <a:effectLst/>
                <a:latin typeface="Calibri" panose="020F0502020204030204" pitchFamily="34" charset="0"/>
              </a:rPr>
              <a:t>3  STUDENT WORKSPACES</a:t>
            </a:r>
          </a:p>
          <a:p>
            <a:pPr algn="l">
              <a:buNone/>
            </a:pPr>
            <a:r>
              <a:rPr lang="en-US" sz="100">
                <a:effectLst/>
              </a:rPr>
              <a:t> </a:t>
            </a:r>
            <a:endParaRPr lang="en-US"/>
          </a:p>
        </p:txBody>
      </p:sp>
      <p:sp>
        <p:nvSpPr>
          <p:cNvPr id="11502" name="azure-boundary">
            <a:extLst>
              <a:ext uri="{FF2B5EF4-FFF2-40B4-BE49-F238E27FC236}">
                <a16:creationId xmlns:a16="http://schemas.microsoft.com/office/drawing/2014/main" id="{38078F81-A7CF-871E-985A-EBDB4F74D4B7}"/>
              </a:ext>
            </a:extLst>
          </p:cNvPr>
          <p:cNvSpPr/>
          <p:nvPr/>
        </p:nvSpPr>
        <p:spPr>
          <a:xfrm>
            <a:off x="2400000" y="1160000"/>
            <a:ext cx="4500000" cy="3300000"/>
          </a:xfrm>
          <a:prstGeom prst="rect">
            <a:avLst/>
          </a:prstGeom>
          <a:solidFill>
            <a:srgbClr val="0B1F3A">
              <a:alpha val="5000"/>
            </a:srgbClr>
          </a:solidFill>
          <a:ln w="19050">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11" name="azure-label">
            <a:extLst>
              <a:ext uri="{FF2B5EF4-FFF2-40B4-BE49-F238E27FC236}">
                <a16:creationId xmlns:a16="http://schemas.microsoft.com/office/drawing/2014/main" id="{6D81907B-2265-05E4-F4BE-07F69DDC499B}"/>
              </a:ext>
            </a:extLst>
          </p:cNvPr>
          <p:cNvSpPr/>
          <p:nvPr/>
        </p:nvSpPr>
        <p:spPr>
          <a:xfrm>
            <a:off x="2500000" y="1170000"/>
            <a:ext cx="29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Azure – instructor subscription</a:t>
            </a:r>
          </a:p>
          <a:p>
            <a:pPr algn="l">
              <a:buNone/>
            </a:pPr>
            <a:r>
              <a:rPr lang="en-US" sz="100">
                <a:effectLst/>
              </a:rPr>
              <a:t> </a:t>
            </a:r>
            <a:endParaRPr lang="en-US"/>
          </a:p>
        </p:txBody>
      </p:sp>
      <p:sp>
        <p:nvSpPr>
          <p:cNvPr id="11521" name="pill-247">
            <a:extLst>
              <a:ext uri="{FF2B5EF4-FFF2-40B4-BE49-F238E27FC236}">
                <a16:creationId xmlns:a16="http://schemas.microsoft.com/office/drawing/2014/main" id="{021AE14B-E532-C760-A4FF-841A7ACF9D9C}"/>
              </a:ext>
            </a:extLst>
          </p:cNvPr>
          <p:cNvSpPr/>
          <p:nvPr/>
        </p:nvSpPr>
        <p:spPr>
          <a:xfrm>
            <a:off x="5770000" y="1180000"/>
            <a:ext cx="1050000" cy="270000"/>
          </a:xfrm>
          <a:prstGeom prst="round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a:solidFill>
                  <a:srgbClr val="FFFFFF"/>
                </a:solidFill>
                <a:effectLst/>
                <a:latin typeface="Calibri" panose="020F0502020204030204" pitchFamily="34" charset="0"/>
              </a:rPr>
              <a:t>RUNS 24×7</a:t>
            </a:r>
          </a:p>
          <a:p>
            <a:pPr algn="ctr">
              <a:buNone/>
            </a:pPr>
            <a:r>
              <a:rPr lang="en-US" sz="100">
                <a:effectLst/>
              </a:rPr>
              <a:t> </a:t>
            </a:r>
            <a:endParaRPr lang="en-US"/>
          </a:p>
        </p:txBody>
      </p:sp>
      <p:sp>
        <p:nvSpPr>
          <p:cNvPr id="11532" name="fabric-boundary">
            <a:extLst>
              <a:ext uri="{FF2B5EF4-FFF2-40B4-BE49-F238E27FC236}">
                <a16:creationId xmlns:a16="http://schemas.microsoft.com/office/drawing/2014/main" id="{2D6FC703-EFE8-9F04-B617-0DD2E19A70E9}"/>
              </a:ext>
            </a:extLst>
          </p:cNvPr>
          <p:cNvSpPr/>
          <p:nvPr/>
        </p:nvSpPr>
        <p:spPr>
          <a:xfrm>
            <a:off x="7100000" y="1160000"/>
            <a:ext cx="4692000" cy="4140000"/>
          </a:xfrm>
          <a:prstGeom prst="rect">
            <a:avLst/>
          </a:prstGeom>
          <a:solidFill>
            <a:srgbClr val="117865">
              <a:alpha val="7000"/>
            </a:srgbClr>
          </a:solidFill>
          <a:ln w="19050">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44" name="fabric-label">
            <a:extLst>
              <a:ext uri="{FF2B5EF4-FFF2-40B4-BE49-F238E27FC236}">
                <a16:creationId xmlns:a16="http://schemas.microsoft.com/office/drawing/2014/main" id="{45127176-C7C6-0E5F-5E00-B171860D4CD5}"/>
              </a:ext>
            </a:extLst>
          </p:cNvPr>
          <p:cNvSpPr/>
          <p:nvPr/>
        </p:nvSpPr>
        <p:spPr>
          <a:xfrm>
            <a:off x="7200000" y="1170000"/>
            <a:ext cx="44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spc="100">
                <a:solidFill>
                  <a:srgbClr val="117865"/>
                </a:solidFill>
                <a:effectLst/>
                <a:latin typeface="Calibri" panose="020F0502020204030204" pitchFamily="34" charset="0"/>
              </a:rPr>
              <a:t>MICROSOFT FABRIC  ·  ONE WORKSPACE PER STUDENT</a:t>
            </a:r>
          </a:p>
          <a:p>
            <a:pPr algn="l">
              <a:buNone/>
            </a:pPr>
            <a:r>
              <a:rPr lang="en-US" sz="100">
                <a:effectLst/>
              </a:rPr>
              <a:t> </a:t>
            </a:r>
            <a:endParaRPr lang="en-US"/>
          </a:p>
        </p:txBody>
      </p:sp>
      <p:sp>
        <p:nvSpPr>
          <p:cNvPr id="11557" name="src-nrod">
            <a:extLst>
              <a:ext uri="{FF2B5EF4-FFF2-40B4-BE49-F238E27FC236}">
                <a16:creationId xmlns:a16="http://schemas.microsoft.com/office/drawing/2014/main" id="{9D69AC20-2CB6-6B05-F356-553A26770203}"/>
              </a:ext>
            </a:extLst>
          </p:cNvPr>
          <p:cNvSpPr/>
          <p:nvPr/>
        </p:nvSpPr>
        <p:spPr>
          <a:xfrm>
            <a:off x="400000" y="1730000"/>
            <a:ext cx="1800000" cy="70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Network Rail Open Data</a:t>
            </a:r>
          </a:p>
          <a:p>
            <a:pPr algn="l">
              <a:buNone/>
            </a:pPr>
            <a:r>
              <a:rPr lang="en-US" sz="1000">
                <a:solidFill>
                  <a:srgbClr val="3D4F66"/>
                </a:solidFill>
                <a:effectLst/>
                <a:latin typeface="Calibri" panose="020F0502020204030204" pitchFamily="34" charset="0"/>
              </a:rPr>
              <a:t>(ActiveMQ / STOMP :61618)</a:t>
            </a:r>
            <a:endParaRPr lang="en-US"/>
          </a:p>
        </p:txBody>
      </p:sp>
      <p:sp>
        <p:nvSpPr>
          <p:cNvPr id="11571" name="src-rdm">
            <a:extLst>
              <a:ext uri="{FF2B5EF4-FFF2-40B4-BE49-F238E27FC236}">
                <a16:creationId xmlns:a16="http://schemas.microsoft.com/office/drawing/2014/main" id="{60233695-86BB-15F5-3C04-4785FE12619F}"/>
              </a:ext>
            </a:extLst>
          </p:cNvPr>
          <p:cNvSpPr/>
          <p:nvPr/>
        </p:nvSpPr>
        <p:spPr>
          <a:xfrm>
            <a:off x="400000" y="3520000"/>
            <a:ext cx="1800000" cy="70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Rail Data Marketplace</a:t>
            </a:r>
          </a:p>
          <a:p>
            <a:pPr algn="l">
              <a:buNone/>
            </a:pPr>
            <a:r>
              <a:rPr lang="en-US" sz="1000">
                <a:solidFill>
                  <a:srgbClr val="3D4F66"/>
                </a:solidFill>
                <a:effectLst/>
                <a:latin typeface="Calibri" panose="020F0502020204030204" pitchFamily="34" charset="0"/>
              </a:rPr>
              <a:t>(Kafka – NWR Train Movements)</a:t>
            </a:r>
            <a:endParaRPr lang="en-US"/>
          </a:p>
        </p:txBody>
      </p:sp>
      <p:sp>
        <p:nvSpPr>
          <p:cNvPr id="11586" name="bridge">
            <a:extLst>
              <a:ext uri="{FF2B5EF4-FFF2-40B4-BE49-F238E27FC236}">
                <a16:creationId xmlns:a16="http://schemas.microsoft.com/office/drawing/2014/main" id="{E30AD50A-0A37-E42E-36F3-0417BB0EF66E}"/>
              </a:ext>
            </a:extLst>
          </p:cNvPr>
          <p:cNvSpPr/>
          <p:nvPr/>
        </p:nvSpPr>
        <p:spPr>
          <a:xfrm>
            <a:off x="2500000" y="1780000"/>
            <a:ext cx="1600000" cy="60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STOMP bridge</a:t>
            </a:r>
          </a:p>
          <a:p>
            <a:pPr algn="l">
              <a:buNone/>
            </a:pPr>
            <a:r>
              <a:rPr lang="en-US" sz="1000">
                <a:solidFill>
                  <a:srgbClr val="3D4F66"/>
                </a:solidFill>
                <a:effectLst/>
                <a:latin typeface="Calibri" panose="020F0502020204030204" pitchFamily="34" charset="0"/>
              </a:rPr>
              <a:t>Container App (1 replica)</a:t>
            </a:r>
            <a:endParaRPr lang="en-US"/>
          </a:p>
        </p:txBody>
      </p:sp>
      <p:sp>
        <p:nvSpPr>
          <p:cNvPr id="11602" name="keyvault">
            <a:extLst>
              <a:ext uri="{FF2B5EF4-FFF2-40B4-BE49-F238E27FC236}">
                <a16:creationId xmlns:a16="http://schemas.microsoft.com/office/drawing/2014/main" id="{EE264643-63B3-A64E-5A2B-A8300AB0BBEC}"/>
              </a:ext>
            </a:extLst>
          </p:cNvPr>
          <p:cNvSpPr/>
          <p:nvPr/>
        </p:nvSpPr>
        <p:spPr>
          <a:xfrm>
            <a:off x="2500000" y="2550000"/>
            <a:ext cx="1600000" cy="72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Key Vault</a:t>
            </a:r>
          </a:p>
          <a:p>
            <a:pPr algn="l">
              <a:buNone/>
            </a:pPr>
            <a:r>
              <a:rPr lang="en-US" sz="1000">
                <a:solidFill>
                  <a:srgbClr val="3D4F66"/>
                </a:solidFill>
                <a:effectLst/>
                <a:latin typeface="Calibri" panose="020F0502020204030204" pitchFamily="34" charset="0"/>
              </a:rPr>
              <a:t>send / listen connection strings, NROD &amp; RDM credentials</a:t>
            </a:r>
            <a:endParaRPr lang="en-US"/>
          </a:p>
        </p:txBody>
      </p:sp>
      <p:sp>
        <p:nvSpPr>
          <p:cNvPr id="11619" name="relay">
            <a:extLst>
              <a:ext uri="{FF2B5EF4-FFF2-40B4-BE49-F238E27FC236}">
                <a16:creationId xmlns:a16="http://schemas.microsoft.com/office/drawing/2014/main" id="{CF1EDCED-60FC-06F5-D2FB-F0E12005618A}"/>
              </a:ext>
            </a:extLst>
          </p:cNvPr>
          <p:cNvSpPr/>
          <p:nvPr/>
        </p:nvSpPr>
        <p:spPr>
          <a:xfrm>
            <a:off x="2500000" y="3440000"/>
            <a:ext cx="1600000" cy="86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RDM relay</a:t>
            </a:r>
          </a:p>
          <a:p>
            <a:pPr algn="l">
              <a:buNone/>
            </a:pPr>
            <a:r>
              <a:rPr lang="en-US" sz="1000">
                <a:solidFill>
                  <a:srgbClr val="3D4F66"/>
                </a:solidFill>
                <a:effectLst/>
                <a:latin typeface="Calibri" panose="020F0502020204030204" pitchFamily="34" charset="0"/>
              </a:rPr>
              <a:t>Container App (same image, BRIDGE_SOURCE=kafka, 1 replica)</a:t>
            </a:r>
            <a:endParaRPr lang="en-US"/>
          </a:p>
        </p:txBody>
      </p:sp>
      <p:sp>
        <p:nvSpPr>
          <p:cNvPr id="11637" name="eh-ns">
            <a:extLst>
              <a:ext uri="{FF2B5EF4-FFF2-40B4-BE49-F238E27FC236}">
                <a16:creationId xmlns:a16="http://schemas.microsoft.com/office/drawing/2014/main" id="{6BE2C8B1-9512-B1A1-6016-E22DF731A2BC}"/>
              </a:ext>
            </a:extLst>
          </p:cNvPr>
          <p:cNvSpPr/>
          <p:nvPr/>
        </p:nvSpPr>
        <p:spPr>
          <a:xfrm>
            <a:off x="4250000" y="1450000"/>
            <a:ext cx="2570000" cy="299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56" name="eh-head">
            <a:extLst>
              <a:ext uri="{FF2B5EF4-FFF2-40B4-BE49-F238E27FC236}">
                <a16:creationId xmlns:a16="http://schemas.microsoft.com/office/drawing/2014/main" id="{841037A3-43D1-03BD-8382-1AB9FB191744}"/>
              </a:ext>
            </a:extLst>
          </p:cNvPr>
          <p:cNvSpPr/>
          <p:nvPr/>
        </p:nvSpPr>
        <p:spPr>
          <a:xfrm>
            <a:off x="4310000" y="1440000"/>
            <a:ext cx="245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Azure Event Hubs</a:t>
            </a:r>
          </a:p>
          <a:p>
            <a:pPr algn="l">
              <a:buNone/>
            </a:pPr>
            <a:r>
              <a:rPr lang="en-US" sz="1000">
                <a:solidFill>
                  <a:srgbClr val="3D4F66"/>
                </a:solidFill>
                <a:effectLst/>
                <a:latin typeface="Calibri" panose="020F0502020204030204" pitchFamily="34" charset="0"/>
              </a:rPr>
              <a:t>Standard, 1 TU, 7-day retention</a:t>
            </a:r>
            <a:endParaRPr lang="en-US"/>
          </a:p>
        </p:txBody>
      </p:sp>
      <p:sp>
        <p:nvSpPr>
          <p:cNvPr id="11676" name="hub-nrod">
            <a:extLst>
              <a:ext uri="{FF2B5EF4-FFF2-40B4-BE49-F238E27FC236}">
                <a16:creationId xmlns:a16="http://schemas.microsoft.com/office/drawing/2014/main" id="{2F7E3841-1603-6F9B-0103-EA5376CB4191}"/>
              </a:ext>
            </a:extLst>
          </p:cNvPr>
          <p:cNvSpPr/>
          <p:nvPr/>
        </p:nvSpPr>
        <p:spPr>
          <a:xfrm>
            <a:off x="4330000" y="1870000"/>
            <a:ext cx="800000" cy="420014"/>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Calibri" panose="020F0502020204030204" pitchFamily="34" charset="0"/>
              </a:rPr>
              <a:t>nrod-feed</a:t>
            </a:r>
          </a:p>
          <a:p>
            <a:pPr algn="ctr">
              <a:buNone/>
            </a:pPr>
            <a:r>
              <a:rPr lang="en-US" sz="100">
                <a:effectLst/>
              </a:rPr>
              <a:t> </a:t>
            </a:r>
            <a:endParaRPr lang="en-US"/>
          </a:p>
        </p:txBody>
      </p:sp>
      <p:sp>
        <p:nvSpPr>
          <p:cNvPr id="11697" name="hub-rdm">
            <a:extLst>
              <a:ext uri="{FF2B5EF4-FFF2-40B4-BE49-F238E27FC236}">
                <a16:creationId xmlns:a16="http://schemas.microsoft.com/office/drawing/2014/main" id="{F5E8C6C4-499C-8082-2E53-12ACA0F51B15}"/>
              </a:ext>
            </a:extLst>
          </p:cNvPr>
          <p:cNvSpPr/>
          <p:nvPr/>
        </p:nvSpPr>
        <p:spPr>
          <a:xfrm>
            <a:off x="4330000" y="3660000"/>
            <a:ext cx="800000" cy="420014"/>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Calibri" panose="020F0502020204030204" pitchFamily="34" charset="0"/>
              </a:rPr>
              <a:t>rdm-trust</a:t>
            </a:r>
          </a:p>
          <a:p>
            <a:pPr algn="ctr">
              <a:buNone/>
            </a:pPr>
            <a:r>
              <a:rPr lang="en-US" sz="100">
                <a:effectLst/>
              </a:rPr>
              <a:t> </a:t>
            </a:r>
            <a:endParaRPr lang="en-US"/>
          </a:p>
        </p:txBody>
      </p:sp>
      <p:sp>
        <p:nvSpPr>
          <p:cNvPr id="11719" name="cg-$Default">
            <a:extLst>
              <a:ext uri="{FF2B5EF4-FFF2-40B4-BE49-F238E27FC236}">
                <a16:creationId xmlns:a16="http://schemas.microsoft.com/office/drawing/2014/main" id="{8C0007E5-F9D3-CF1C-5F84-928CAEC857C7}"/>
              </a:ext>
            </a:extLst>
          </p:cNvPr>
          <p:cNvSpPr/>
          <p:nvPr/>
        </p:nvSpPr>
        <p:spPr>
          <a:xfrm>
            <a:off x="5330000" y="1800000"/>
            <a:ext cx="1430000" cy="248000"/>
          </a:xfrm>
          <a:prstGeom prst="rect">
            <a:avLst/>
          </a:prstGeom>
          <a:solidFill>
            <a:srgbClr val="DCE3EE"/>
          </a:solidFill>
          <a:ln w="3175">
            <a:solidFill>
              <a:srgbClr val="DCE3E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0B1F3A"/>
                </a:solidFill>
                <a:effectLst/>
                <a:latin typeface="Calibri" panose="020F0502020204030204" pitchFamily="34" charset="0"/>
              </a:rPr>
              <a:t>$Default (instructor)</a:t>
            </a:r>
          </a:p>
          <a:p>
            <a:pPr algn="l">
              <a:buNone/>
            </a:pPr>
            <a:r>
              <a:rPr lang="en-US" sz="100">
                <a:effectLst/>
              </a:rPr>
              <a:t> </a:t>
            </a:r>
            <a:endParaRPr lang="en-US"/>
          </a:p>
        </p:txBody>
      </p:sp>
      <p:sp>
        <p:nvSpPr>
          <p:cNvPr id="11742" name="cg-student01">
            <a:extLst>
              <a:ext uri="{FF2B5EF4-FFF2-40B4-BE49-F238E27FC236}">
                <a16:creationId xmlns:a16="http://schemas.microsoft.com/office/drawing/2014/main" id="{25E0EA20-01E1-4BF5-3708-5E1245FAC828}"/>
              </a:ext>
            </a:extLst>
          </p:cNvPr>
          <p:cNvSpPr/>
          <p:nvPr/>
        </p:nvSpPr>
        <p:spPr>
          <a:xfrm>
            <a:off x="5330000" y="2048000"/>
            <a:ext cx="1430000" cy="403860"/>
          </a:xfrm>
          <a:prstGeom prst="rect">
            <a:avLst/>
          </a:prstGeom>
          <a:solidFill>
            <a:srgbClr val="DCE3EE"/>
          </a:solidFill>
          <a:ln w="3175">
            <a:solidFill>
              <a:srgbClr val="DCE3E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0B1F3A"/>
                </a:solidFill>
                <a:effectLst/>
                <a:latin typeface="Calibri" panose="020F0502020204030204" pitchFamily="34" charset="0"/>
              </a:rPr>
              <a:t>student01</a:t>
            </a:r>
          </a:p>
          <a:p>
            <a:pPr algn="l">
              <a:buNone/>
            </a:pPr>
            <a:r>
              <a:rPr lang="en-US" sz="100">
                <a:effectLst/>
              </a:rPr>
              <a:t> </a:t>
            </a:r>
            <a:endParaRPr lang="en-US"/>
          </a:p>
        </p:txBody>
      </p:sp>
      <p:sp>
        <p:nvSpPr>
          <p:cNvPr id="11766" name="cg-student02">
            <a:extLst>
              <a:ext uri="{FF2B5EF4-FFF2-40B4-BE49-F238E27FC236}">
                <a16:creationId xmlns:a16="http://schemas.microsoft.com/office/drawing/2014/main" id="{F3F34BA6-D535-CB78-5463-42938103979D}"/>
              </a:ext>
            </a:extLst>
          </p:cNvPr>
          <p:cNvSpPr/>
          <p:nvPr/>
        </p:nvSpPr>
        <p:spPr>
          <a:xfrm>
            <a:off x="5330000" y="3088000"/>
            <a:ext cx="1430000" cy="403860"/>
          </a:xfrm>
          <a:prstGeom prst="rect">
            <a:avLst/>
          </a:prstGeom>
          <a:solidFill>
            <a:srgbClr val="DCE3EE"/>
          </a:solidFill>
          <a:ln w="3175">
            <a:solidFill>
              <a:srgbClr val="DCE3E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0B1F3A"/>
                </a:solidFill>
                <a:effectLst/>
                <a:latin typeface="Calibri" panose="020F0502020204030204" pitchFamily="34" charset="0"/>
              </a:rPr>
              <a:t>student02</a:t>
            </a:r>
          </a:p>
          <a:p>
            <a:pPr algn="l">
              <a:buNone/>
            </a:pPr>
            <a:r>
              <a:rPr lang="en-US" sz="100">
                <a:effectLst/>
              </a:rPr>
              <a:t> </a:t>
            </a:r>
            <a:endParaRPr lang="en-US"/>
          </a:p>
        </p:txBody>
      </p:sp>
      <p:sp>
        <p:nvSpPr>
          <p:cNvPr id="11791" name="cg-… up to 2">
            <a:extLst>
              <a:ext uri="{FF2B5EF4-FFF2-40B4-BE49-F238E27FC236}">
                <a16:creationId xmlns:a16="http://schemas.microsoft.com/office/drawing/2014/main" id="{2E64B442-0120-4F05-5538-1D16B84C9C9A}"/>
              </a:ext>
            </a:extLst>
          </p:cNvPr>
          <p:cNvSpPr/>
          <p:nvPr/>
        </p:nvSpPr>
        <p:spPr>
          <a:xfrm>
            <a:off x="5330000" y="3988000"/>
            <a:ext cx="1430000" cy="403860"/>
          </a:xfrm>
          <a:prstGeom prst="rect">
            <a:avLst/>
          </a:prstGeom>
          <a:solidFill>
            <a:srgbClr val="DCE3EE"/>
          </a:solidFill>
          <a:ln w="3175">
            <a:solidFill>
              <a:srgbClr val="DCE3E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0B1F3A"/>
                </a:solidFill>
                <a:effectLst/>
                <a:latin typeface="Calibri" panose="020F0502020204030204" pitchFamily="34" charset="0"/>
              </a:rPr>
              <a:t>… up to 20 per hub</a:t>
            </a:r>
          </a:p>
          <a:p>
            <a:pPr algn="l">
              <a:buNone/>
            </a:pPr>
            <a:r>
              <a:rPr lang="en-US" sz="100">
                <a:effectLst/>
              </a:rPr>
              <a:t> </a:t>
            </a:r>
            <a:endParaRPr lang="en-US"/>
          </a:p>
        </p:txBody>
      </p:sp>
      <p:sp>
        <p:nvSpPr>
          <p:cNvPr id="11817" name="ws-Student 01">
            <a:extLst>
              <a:ext uri="{FF2B5EF4-FFF2-40B4-BE49-F238E27FC236}">
                <a16:creationId xmlns:a16="http://schemas.microsoft.com/office/drawing/2014/main" id="{D09E4F0C-B9DD-1D64-2F7F-6316511D6657}"/>
              </a:ext>
            </a:extLst>
          </p:cNvPr>
          <p:cNvSpPr/>
          <p:nvPr/>
        </p:nvSpPr>
        <p:spPr>
          <a:xfrm>
            <a:off x="7200000" y="1560000"/>
            <a:ext cx="4492000" cy="1120000"/>
          </a:xfrm>
          <a:prstGeom prst="rect">
            <a:avLst/>
          </a:prstGeom>
          <a:solidFill>
            <a:srgbClr val="117865">
              <a:alpha val="10000"/>
            </a:srgbClr>
          </a:solidFill>
          <a:ln w="952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44" name="Rectangle 11843">
            <a:extLst>
              <a:ext uri="{FF2B5EF4-FFF2-40B4-BE49-F238E27FC236}">
                <a16:creationId xmlns:a16="http://schemas.microsoft.com/office/drawing/2014/main" id="{AE0378AB-BE70-FAAD-0C1B-1A73F1739501}"/>
              </a:ext>
            </a:extLst>
          </p:cNvPr>
          <p:cNvSpPr/>
          <p:nvPr/>
        </p:nvSpPr>
        <p:spPr>
          <a:xfrm>
            <a:off x="7280000" y="1600000"/>
            <a:ext cx="3000000" cy="2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Student 01 workspace</a:t>
            </a:r>
          </a:p>
          <a:p>
            <a:pPr algn="l">
              <a:buNone/>
            </a:pPr>
            <a:r>
              <a:rPr lang="en-US" sz="100">
                <a:effectLst/>
              </a:rPr>
              <a:t> </a:t>
            </a:r>
            <a:endParaRPr lang="en-US"/>
          </a:p>
        </p:txBody>
      </p:sp>
      <p:sp>
        <p:nvSpPr>
          <p:cNvPr id="11872" name="es">
            <a:extLst>
              <a:ext uri="{FF2B5EF4-FFF2-40B4-BE49-F238E27FC236}">
                <a16:creationId xmlns:a16="http://schemas.microsoft.com/office/drawing/2014/main" id="{A5B55620-CD95-887D-C8A3-1EB9B384F934}"/>
              </a:ext>
            </a:extLst>
          </p:cNvPr>
          <p:cNvSpPr/>
          <p:nvPr/>
        </p:nvSpPr>
        <p:spPr>
          <a:xfrm>
            <a:off x="7280000" y="1890000"/>
            <a:ext cx="1700000" cy="7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Eventstream</a:t>
            </a:r>
          </a:p>
          <a:p>
            <a:pPr algn="l">
              <a:buNone/>
            </a:pPr>
            <a:r>
              <a:rPr lang="en-US" sz="1000">
                <a:solidFill>
                  <a:srgbClr val="3D4F66"/>
                </a:solidFill>
                <a:effectLst/>
                <a:latin typeface="Calibri" panose="020F0502020204030204" pitchFamily="34" charset="0"/>
              </a:rPr>
              <a:t>Azure Event Hubs source (own consumer group, listen key)</a:t>
            </a:r>
            <a:endParaRPr lang="en-US"/>
          </a:p>
        </p:txBody>
      </p:sp>
      <p:sp>
        <p:nvSpPr>
          <p:cNvPr id="11901" name="evh">
            <a:extLst>
              <a:ext uri="{FF2B5EF4-FFF2-40B4-BE49-F238E27FC236}">
                <a16:creationId xmlns:a16="http://schemas.microsoft.com/office/drawing/2014/main" id="{0CFDA6CE-4B22-451E-EBB4-12C755D73AF4}"/>
              </a:ext>
            </a:extLst>
          </p:cNvPr>
          <p:cNvSpPr/>
          <p:nvPr/>
        </p:nvSpPr>
        <p:spPr>
          <a:xfrm>
            <a:off x="9130000" y="1890000"/>
            <a:ext cx="1000000" cy="7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Eventhouse</a:t>
            </a:r>
          </a:p>
          <a:p>
            <a:pPr algn="l">
              <a:buNone/>
            </a:pPr>
            <a:r>
              <a:rPr lang="en-US" sz="1000">
                <a:solidFill>
                  <a:srgbClr val="3D4F66"/>
                </a:solidFill>
                <a:effectLst/>
                <a:latin typeface="Calibri" panose="020F0502020204030204" pitchFamily="34" charset="0"/>
              </a:rPr>
              <a:t>(RawFeed / RdmTrustRaw)</a:t>
            </a:r>
            <a:endParaRPr lang="en-US"/>
          </a:p>
        </p:txBody>
      </p:sp>
      <p:sp>
        <p:nvSpPr>
          <p:cNvPr id="11931" name="dash">
            <a:extLst>
              <a:ext uri="{FF2B5EF4-FFF2-40B4-BE49-F238E27FC236}">
                <a16:creationId xmlns:a16="http://schemas.microsoft.com/office/drawing/2014/main" id="{63FCCD7B-06DB-E0CB-7CE0-52461B9E6CB6}"/>
              </a:ext>
            </a:extLst>
          </p:cNvPr>
          <p:cNvSpPr/>
          <p:nvPr/>
        </p:nvSpPr>
        <p:spPr>
          <a:xfrm>
            <a:off x="10280000" y="1890000"/>
            <a:ext cx="1330000" cy="7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Dashboards · Data Agent · Rayfin</a:t>
            </a:r>
          </a:p>
          <a:p>
            <a:pPr algn="l">
              <a:buNone/>
            </a:pPr>
            <a:r>
              <a:rPr lang="en-US" sz="100">
                <a:effectLst/>
              </a:rPr>
              <a:t> </a:t>
            </a:r>
            <a:endParaRPr lang="en-US"/>
          </a:p>
        </p:txBody>
      </p:sp>
      <p:sp>
        <p:nvSpPr>
          <p:cNvPr id="11962" name="Rectangle 11961">
            <a:extLst>
              <a:ext uri="{FF2B5EF4-FFF2-40B4-BE49-F238E27FC236}">
                <a16:creationId xmlns:a16="http://schemas.microsoft.com/office/drawing/2014/main" id="{E7C734DA-8C8E-900A-76E9-EB549133E80D}"/>
              </a:ext>
            </a:extLst>
          </p:cNvPr>
          <p:cNvSpPr/>
          <p:nvPr/>
        </p:nvSpPr>
        <p:spPr>
          <a:xfrm>
            <a:off x="8980000" y="2239000"/>
            <a:ext cx="5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94" name="Isosceles Triangle 11993">
            <a:extLst>
              <a:ext uri="{FF2B5EF4-FFF2-40B4-BE49-F238E27FC236}">
                <a16:creationId xmlns:a16="http://schemas.microsoft.com/office/drawing/2014/main" id="{790EEF18-8574-DD66-3D74-8C188BD99105}"/>
              </a:ext>
            </a:extLst>
          </p:cNvPr>
          <p:cNvSpPr/>
          <p:nvPr/>
        </p:nvSpPr>
        <p:spPr>
          <a:xfrm rot="5400000">
            <a:off x="9020000" y="21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27" name="Rectangle 12026">
            <a:extLst>
              <a:ext uri="{FF2B5EF4-FFF2-40B4-BE49-F238E27FC236}">
                <a16:creationId xmlns:a16="http://schemas.microsoft.com/office/drawing/2014/main" id="{A5126788-4DF5-7598-7E6D-CE89871C3A38}"/>
              </a:ext>
            </a:extLst>
          </p:cNvPr>
          <p:cNvSpPr/>
          <p:nvPr/>
        </p:nvSpPr>
        <p:spPr>
          <a:xfrm>
            <a:off x="10130000" y="2239000"/>
            <a:ext cx="5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61" name="Isosceles Triangle 12060">
            <a:extLst>
              <a:ext uri="{FF2B5EF4-FFF2-40B4-BE49-F238E27FC236}">
                <a16:creationId xmlns:a16="http://schemas.microsoft.com/office/drawing/2014/main" id="{61443606-0218-B3D7-C3A0-5159D7101423}"/>
              </a:ext>
            </a:extLst>
          </p:cNvPr>
          <p:cNvSpPr/>
          <p:nvPr/>
        </p:nvSpPr>
        <p:spPr>
          <a:xfrm rot="5400000">
            <a:off x="10170000" y="21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96" name="ws-Student 02">
            <a:extLst>
              <a:ext uri="{FF2B5EF4-FFF2-40B4-BE49-F238E27FC236}">
                <a16:creationId xmlns:a16="http://schemas.microsoft.com/office/drawing/2014/main" id="{903D2A52-7862-184E-1D70-E03039DA87C7}"/>
              </a:ext>
            </a:extLst>
          </p:cNvPr>
          <p:cNvSpPr/>
          <p:nvPr/>
        </p:nvSpPr>
        <p:spPr>
          <a:xfrm>
            <a:off x="7200000" y="2760000"/>
            <a:ext cx="4492000" cy="820000"/>
          </a:xfrm>
          <a:prstGeom prst="rect">
            <a:avLst/>
          </a:prstGeom>
          <a:solidFill>
            <a:srgbClr val="117865">
              <a:alpha val="10000"/>
            </a:srgbClr>
          </a:solidFill>
          <a:ln w="952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32" name="Rectangle 12131">
            <a:extLst>
              <a:ext uri="{FF2B5EF4-FFF2-40B4-BE49-F238E27FC236}">
                <a16:creationId xmlns:a16="http://schemas.microsoft.com/office/drawing/2014/main" id="{5F93A8C9-5761-B934-1ACA-179CB96A8936}"/>
              </a:ext>
            </a:extLst>
          </p:cNvPr>
          <p:cNvSpPr/>
          <p:nvPr/>
        </p:nvSpPr>
        <p:spPr>
          <a:xfrm>
            <a:off x="7280000" y="2800000"/>
            <a:ext cx="3000000" cy="2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Student 02 workspace</a:t>
            </a:r>
          </a:p>
          <a:p>
            <a:pPr algn="l">
              <a:buNone/>
            </a:pPr>
            <a:r>
              <a:rPr lang="en-US" sz="100">
                <a:effectLst/>
              </a:rPr>
              <a:t> </a:t>
            </a:r>
            <a:endParaRPr lang="en-US"/>
          </a:p>
        </p:txBody>
      </p:sp>
      <p:sp>
        <p:nvSpPr>
          <p:cNvPr id="12169" name="es">
            <a:extLst>
              <a:ext uri="{FF2B5EF4-FFF2-40B4-BE49-F238E27FC236}">
                <a16:creationId xmlns:a16="http://schemas.microsoft.com/office/drawing/2014/main" id="{C2E61053-E533-F6F4-2C5F-3F81F56E27C5}"/>
              </a:ext>
            </a:extLst>
          </p:cNvPr>
          <p:cNvSpPr/>
          <p:nvPr/>
        </p:nvSpPr>
        <p:spPr>
          <a:xfrm>
            <a:off x="7280000" y="3090000"/>
            <a:ext cx="1700000" cy="4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Eventstream</a:t>
            </a:r>
          </a:p>
          <a:p>
            <a:pPr algn="l">
              <a:buNone/>
            </a:pPr>
            <a:r>
              <a:rPr lang="en-US" sz="100">
                <a:effectLst/>
              </a:rPr>
              <a:t> </a:t>
            </a:r>
            <a:endParaRPr lang="en-US"/>
          </a:p>
        </p:txBody>
      </p:sp>
      <p:sp>
        <p:nvSpPr>
          <p:cNvPr id="12207" name="evh">
            <a:extLst>
              <a:ext uri="{FF2B5EF4-FFF2-40B4-BE49-F238E27FC236}">
                <a16:creationId xmlns:a16="http://schemas.microsoft.com/office/drawing/2014/main" id="{C916D3A3-AA46-1F17-397B-E8FA883E90A7}"/>
              </a:ext>
            </a:extLst>
          </p:cNvPr>
          <p:cNvSpPr/>
          <p:nvPr/>
        </p:nvSpPr>
        <p:spPr>
          <a:xfrm>
            <a:off x="9130000" y="3090000"/>
            <a:ext cx="1000000" cy="4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Eventhouse</a:t>
            </a:r>
          </a:p>
          <a:p>
            <a:pPr algn="l">
              <a:buNone/>
            </a:pPr>
            <a:r>
              <a:rPr lang="en-US" sz="100">
                <a:effectLst/>
              </a:rPr>
              <a:t> </a:t>
            </a:r>
            <a:endParaRPr lang="en-US"/>
          </a:p>
        </p:txBody>
      </p:sp>
      <p:sp>
        <p:nvSpPr>
          <p:cNvPr id="12246" name="dash">
            <a:extLst>
              <a:ext uri="{FF2B5EF4-FFF2-40B4-BE49-F238E27FC236}">
                <a16:creationId xmlns:a16="http://schemas.microsoft.com/office/drawing/2014/main" id="{7F3057A3-1AA9-0011-7639-086678E98E30}"/>
              </a:ext>
            </a:extLst>
          </p:cNvPr>
          <p:cNvSpPr/>
          <p:nvPr/>
        </p:nvSpPr>
        <p:spPr>
          <a:xfrm>
            <a:off x="10280000" y="3090000"/>
            <a:ext cx="1330000" cy="4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Dashboards · Data Agent · Rayfin</a:t>
            </a:r>
          </a:p>
          <a:p>
            <a:pPr algn="l">
              <a:buNone/>
            </a:pPr>
            <a:r>
              <a:rPr lang="en-US" sz="100">
                <a:effectLst/>
              </a:rPr>
              <a:t> </a:t>
            </a:r>
            <a:endParaRPr lang="en-US"/>
          </a:p>
        </p:txBody>
      </p:sp>
      <p:sp>
        <p:nvSpPr>
          <p:cNvPr id="12286" name="Rectangle 12285">
            <a:extLst>
              <a:ext uri="{FF2B5EF4-FFF2-40B4-BE49-F238E27FC236}">
                <a16:creationId xmlns:a16="http://schemas.microsoft.com/office/drawing/2014/main" id="{D80A5AE0-C3FD-D526-7EC6-5BAD7DAC0394}"/>
              </a:ext>
            </a:extLst>
          </p:cNvPr>
          <p:cNvSpPr/>
          <p:nvPr/>
        </p:nvSpPr>
        <p:spPr>
          <a:xfrm>
            <a:off x="8980000" y="3289000"/>
            <a:ext cx="5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27" name="Isosceles Triangle 12326">
            <a:extLst>
              <a:ext uri="{FF2B5EF4-FFF2-40B4-BE49-F238E27FC236}">
                <a16:creationId xmlns:a16="http://schemas.microsoft.com/office/drawing/2014/main" id="{3A8FD9A8-AE7D-551C-F0B3-D9B652AB6347}"/>
              </a:ext>
            </a:extLst>
          </p:cNvPr>
          <p:cNvSpPr/>
          <p:nvPr/>
        </p:nvSpPr>
        <p:spPr>
          <a:xfrm rot="5400000">
            <a:off x="9020000" y="324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69" name="Rectangle 12368">
            <a:extLst>
              <a:ext uri="{FF2B5EF4-FFF2-40B4-BE49-F238E27FC236}">
                <a16:creationId xmlns:a16="http://schemas.microsoft.com/office/drawing/2014/main" id="{2D0D3403-5F2E-3137-8390-0006115720E0}"/>
              </a:ext>
            </a:extLst>
          </p:cNvPr>
          <p:cNvSpPr/>
          <p:nvPr/>
        </p:nvSpPr>
        <p:spPr>
          <a:xfrm>
            <a:off x="10130000" y="3289000"/>
            <a:ext cx="5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12" name="Isosceles Triangle 12411">
            <a:extLst>
              <a:ext uri="{FF2B5EF4-FFF2-40B4-BE49-F238E27FC236}">
                <a16:creationId xmlns:a16="http://schemas.microsoft.com/office/drawing/2014/main" id="{B240909C-8A63-2BEC-8C7F-9E62C5079A3B}"/>
              </a:ext>
            </a:extLst>
          </p:cNvPr>
          <p:cNvSpPr/>
          <p:nvPr/>
        </p:nvSpPr>
        <p:spPr>
          <a:xfrm rot="5400000">
            <a:off x="10170000" y="324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56" name="ws-Student N">
            <a:extLst>
              <a:ext uri="{FF2B5EF4-FFF2-40B4-BE49-F238E27FC236}">
                <a16:creationId xmlns:a16="http://schemas.microsoft.com/office/drawing/2014/main" id="{005D78EA-88D6-168A-55E0-CAAC531AC03A}"/>
              </a:ext>
            </a:extLst>
          </p:cNvPr>
          <p:cNvSpPr/>
          <p:nvPr/>
        </p:nvSpPr>
        <p:spPr>
          <a:xfrm>
            <a:off x="7200000" y="3660000"/>
            <a:ext cx="4492000" cy="820000"/>
          </a:xfrm>
          <a:prstGeom prst="rect">
            <a:avLst/>
          </a:prstGeom>
          <a:solidFill>
            <a:srgbClr val="117865">
              <a:alpha val="10000"/>
            </a:srgbClr>
          </a:solidFill>
          <a:ln w="952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1" name="Rectangle 12500">
            <a:extLst>
              <a:ext uri="{FF2B5EF4-FFF2-40B4-BE49-F238E27FC236}">
                <a16:creationId xmlns:a16="http://schemas.microsoft.com/office/drawing/2014/main" id="{7DD5E226-CFBF-A06E-6958-1317A326D401}"/>
              </a:ext>
            </a:extLst>
          </p:cNvPr>
          <p:cNvSpPr/>
          <p:nvPr/>
        </p:nvSpPr>
        <p:spPr>
          <a:xfrm>
            <a:off x="7280000" y="3700000"/>
            <a:ext cx="3000000" cy="2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Student N workspace</a:t>
            </a:r>
          </a:p>
          <a:p>
            <a:pPr algn="l">
              <a:buNone/>
            </a:pPr>
            <a:r>
              <a:rPr lang="en-US" sz="100">
                <a:effectLst/>
              </a:rPr>
              <a:t> </a:t>
            </a:r>
            <a:endParaRPr lang="en-US"/>
          </a:p>
        </p:txBody>
      </p:sp>
      <p:sp>
        <p:nvSpPr>
          <p:cNvPr id="12547" name="es">
            <a:extLst>
              <a:ext uri="{FF2B5EF4-FFF2-40B4-BE49-F238E27FC236}">
                <a16:creationId xmlns:a16="http://schemas.microsoft.com/office/drawing/2014/main" id="{308256A2-147F-5F6B-3E10-5A7E6417D60E}"/>
              </a:ext>
            </a:extLst>
          </p:cNvPr>
          <p:cNvSpPr/>
          <p:nvPr/>
        </p:nvSpPr>
        <p:spPr>
          <a:xfrm>
            <a:off x="7280000" y="3990000"/>
            <a:ext cx="1700000" cy="4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Eventstream</a:t>
            </a:r>
          </a:p>
          <a:p>
            <a:pPr algn="l">
              <a:buNone/>
            </a:pPr>
            <a:r>
              <a:rPr lang="en-US" sz="100">
                <a:effectLst/>
              </a:rPr>
              <a:t> </a:t>
            </a:r>
            <a:endParaRPr lang="en-US"/>
          </a:p>
        </p:txBody>
      </p:sp>
      <p:sp>
        <p:nvSpPr>
          <p:cNvPr id="12594" name="evh">
            <a:extLst>
              <a:ext uri="{FF2B5EF4-FFF2-40B4-BE49-F238E27FC236}">
                <a16:creationId xmlns:a16="http://schemas.microsoft.com/office/drawing/2014/main" id="{AB5CAD5D-A53B-AF89-13B2-D835E2857CA5}"/>
              </a:ext>
            </a:extLst>
          </p:cNvPr>
          <p:cNvSpPr/>
          <p:nvPr/>
        </p:nvSpPr>
        <p:spPr>
          <a:xfrm>
            <a:off x="9130000" y="3990000"/>
            <a:ext cx="1000000" cy="4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Eventhouse</a:t>
            </a:r>
          </a:p>
          <a:p>
            <a:pPr algn="l">
              <a:buNone/>
            </a:pPr>
            <a:r>
              <a:rPr lang="en-US" sz="100">
                <a:effectLst/>
              </a:rPr>
              <a:t> </a:t>
            </a:r>
            <a:endParaRPr lang="en-US"/>
          </a:p>
        </p:txBody>
      </p:sp>
      <p:sp>
        <p:nvSpPr>
          <p:cNvPr id="12642" name="dash">
            <a:extLst>
              <a:ext uri="{FF2B5EF4-FFF2-40B4-BE49-F238E27FC236}">
                <a16:creationId xmlns:a16="http://schemas.microsoft.com/office/drawing/2014/main" id="{42917FBE-DE84-E26E-F189-722CF81A2A90}"/>
              </a:ext>
            </a:extLst>
          </p:cNvPr>
          <p:cNvSpPr/>
          <p:nvPr/>
        </p:nvSpPr>
        <p:spPr>
          <a:xfrm>
            <a:off x="10280000" y="3990000"/>
            <a:ext cx="1330000" cy="42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Dashboards · Data Agent · Rayfin</a:t>
            </a:r>
          </a:p>
          <a:p>
            <a:pPr algn="l">
              <a:buNone/>
            </a:pPr>
            <a:r>
              <a:rPr lang="en-US" sz="100">
                <a:effectLst/>
              </a:rPr>
              <a:t> </a:t>
            </a:r>
            <a:endParaRPr lang="en-US"/>
          </a:p>
        </p:txBody>
      </p:sp>
      <p:sp>
        <p:nvSpPr>
          <p:cNvPr id="12691" name="Rectangle 12690">
            <a:extLst>
              <a:ext uri="{FF2B5EF4-FFF2-40B4-BE49-F238E27FC236}">
                <a16:creationId xmlns:a16="http://schemas.microsoft.com/office/drawing/2014/main" id="{6E024C5B-D585-B044-8428-7B1840EB98F9}"/>
              </a:ext>
            </a:extLst>
          </p:cNvPr>
          <p:cNvSpPr/>
          <p:nvPr/>
        </p:nvSpPr>
        <p:spPr>
          <a:xfrm>
            <a:off x="8980000" y="4189000"/>
            <a:ext cx="5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741" name="Isosceles Triangle 12740">
            <a:extLst>
              <a:ext uri="{FF2B5EF4-FFF2-40B4-BE49-F238E27FC236}">
                <a16:creationId xmlns:a16="http://schemas.microsoft.com/office/drawing/2014/main" id="{A0E9ED03-EA4D-C39B-A75B-DA712DCEDAC3}"/>
              </a:ext>
            </a:extLst>
          </p:cNvPr>
          <p:cNvSpPr/>
          <p:nvPr/>
        </p:nvSpPr>
        <p:spPr>
          <a:xfrm rot="5400000">
            <a:off x="9020000" y="414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792" name="Rectangle 12791">
            <a:extLst>
              <a:ext uri="{FF2B5EF4-FFF2-40B4-BE49-F238E27FC236}">
                <a16:creationId xmlns:a16="http://schemas.microsoft.com/office/drawing/2014/main" id="{963E3E44-B03D-BAAC-ED16-0FF4BFB7265C}"/>
              </a:ext>
            </a:extLst>
          </p:cNvPr>
          <p:cNvSpPr/>
          <p:nvPr/>
        </p:nvSpPr>
        <p:spPr>
          <a:xfrm>
            <a:off x="10130000" y="4189000"/>
            <a:ext cx="5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44" name="Isosceles Triangle 12843">
            <a:extLst>
              <a:ext uri="{FF2B5EF4-FFF2-40B4-BE49-F238E27FC236}">
                <a16:creationId xmlns:a16="http://schemas.microsoft.com/office/drawing/2014/main" id="{D88E8559-508B-813C-C4F6-245CDE2F9A9B}"/>
              </a:ext>
            </a:extLst>
          </p:cNvPr>
          <p:cNvSpPr/>
          <p:nvPr/>
        </p:nvSpPr>
        <p:spPr>
          <a:xfrm rot="5400000">
            <a:off x="10170000" y="414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97" name="pause-callout">
            <a:extLst>
              <a:ext uri="{FF2B5EF4-FFF2-40B4-BE49-F238E27FC236}">
                <a16:creationId xmlns:a16="http://schemas.microsoft.com/office/drawing/2014/main" id="{6E2674DC-9E1E-F5A1-B2C6-7D17F6240E7E}"/>
              </a:ext>
            </a:extLst>
          </p:cNvPr>
          <p:cNvSpPr/>
          <p:nvPr/>
        </p:nvSpPr>
        <p:spPr>
          <a:xfrm>
            <a:off x="7700000" y="4640000"/>
            <a:ext cx="3992000" cy="620000"/>
          </a:xfrm>
          <a:prstGeom prst="foldedCorner">
            <a:avLst/>
          </a:prstGeom>
          <a:solidFill>
            <a:srgbClr val="FDF3D8"/>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0B1F3A"/>
                </a:solidFill>
                <a:effectLst/>
                <a:latin typeface="Calibri" panose="020F0502020204030204" pitchFamily="34" charset="0"/>
              </a:rPr>
              <a:t>Capacity paused overnight → Event Hub keeps buffering (up to 7 days).</a:t>
            </a:r>
          </a:p>
          <a:p>
            <a:pPr algn="l">
              <a:buNone/>
            </a:pPr>
            <a:r>
              <a:rPr lang="en-US" sz="1000">
                <a:solidFill>
                  <a:srgbClr val="0B1F3A"/>
                </a:solidFill>
                <a:effectLst/>
                <a:latin typeface="Calibri" panose="020F0502020204030204" pitchFamily="34" charset="0"/>
              </a:rPr>
              <a:t>On resume, Eventstream continues from 'when streaming was last stopped' (or Custom time).</a:t>
            </a:r>
            <a:endParaRPr lang="en-US"/>
          </a:p>
        </p:txBody>
      </p:sp>
      <p:sp>
        <p:nvSpPr>
          <p:cNvPr id="12951" name="Rectangle 12950">
            <a:extLst>
              <a:ext uri="{FF2B5EF4-FFF2-40B4-BE49-F238E27FC236}">
                <a16:creationId xmlns:a16="http://schemas.microsoft.com/office/drawing/2014/main" id="{5378D27C-5503-4B3A-F286-8AD49C64A9F0}"/>
              </a:ext>
            </a:extLst>
          </p:cNvPr>
          <p:cNvSpPr/>
          <p:nvPr/>
        </p:nvSpPr>
        <p:spPr>
          <a:xfrm>
            <a:off x="2200000" y="2069000"/>
            <a:ext cx="2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06" name="Isosceles Triangle 13005">
            <a:extLst>
              <a:ext uri="{FF2B5EF4-FFF2-40B4-BE49-F238E27FC236}">
                <a16:creationId xmlns:a16="http://schemas.microsoft.com/office/drawing/2014/main" id="{8935C884-B09E-2B1A-CF4E-1E7289770B07}"/>
              </a:ext>
            </a:extLst>
          </p:cNvPr>
          <p:cNvSpPr/>
          <p:nvPr/>
        </p:nvSpPr>
        <p:spPr>
          <a:xfrm rot="5400000">
            <a:off x="2390000" y="202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62" name="Rectangle 13061">
            <a:extLst>
              <a:ext uri="{FF2B5EF4-FFF2-40B4-BE49-F238E27FC236}">
                <a16:creationId xmlns:a16="http://schemas.microsoft.com/office/drawing/2014/main" id="{8736FFE7-7977-C5B3-6C98-3B647728BB2B}"/>
              </a:ext>
            </a:extLst>
          </p:cNvPr>
          <p:cNvSpPr/>
          <p:nvPr/>
        </p:nvSpPr>
        <p:spPr>
          <a:xfrm>
            <a:off x="2200000" y="3859000"/>
            <a:ext cx="2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19" name="Isosceles Triangle 13118">
            <a:extLst>
              <a:ext uri="{FF2B5EF4-FFF2-40B4-BE49-F238E27FC236}">
                <a16:creationId xmlns:a16="http://schemas.microsoft.com/office/drawing/2014/main" id="{94AA3077-CB07-F116-8C9C-D8ACF2F92662}"/>
              </a:ext>
            </a:extLst>
          </p:cNvPr>
          <p:cNvSpPr/>
          <p:nvPr/>
        </p:nvSpPr>
        <p:spPr>
          <a:xfrm rot="5400000">
            <a:off x="2390000" y="381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77" name="Rectangle 13176">
            <a:extLst>
              <a:ext uri="{FF2B5EF4-FFF2-40B4-BE49-F238E27FC236}">
                <a16:creationId xmlns:a16="http://schemas.microsoft.com/office/drawing/2014/main" id="{22E16F44-D0BC-9516-6251-A91014CE4763}"/>
              </a:ext>
            </a:extLst>
          </p:cNvPr>
          <p:cNvSpPr/>
          <p:nvPr/>
        </p:nvSpPr>
        <p:spPr>
          <a:xfrm>
            <a:off x="4100000" y="2069000"/>
            <a:ext cx="13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36" name="Isosceles Triangle 13235">
            <a:extLst>
              <a:ext uri="{FF2B5EF4-FFF2-40B4-BE49-F238E27FC236}">
                <a16:creationId xmlns:a16="http://schemas.microsoft.com/office/drawing/2014/main" id="{41A39550-DCE3-4A0F-0D93-3A86C947E013}"/>
              </a:ext>
            </a:extLst>
          </p:cNvPr>
          <p:cNvSpPr/>
          <p:nvPr/>
        </p:nvSpPr>
        <p:spPr>
          <a:xfrm rot="5400000">
            <a:off x="4220000" y="202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96" name="Rectangle 13295">
            <a:extLst>
              <a:ext uri="{FF2B5EF4-FFF2-40B4-BE49-F238E27FC236}">
                <a16:creationId xmlns:a16="http://schemas.microsoft.com/office/drawing/2014/main" id="{5C3F9EF5-42B6-AF57-05E4-5E7022F7B0A4}"/>
              </a:ext>
            </a:extLst>
          </p:cNvPr>
          <p:cNvSpPr/>
          <p:nvPr/>
        </p:nvSpPr>
        <p:spPr>
          <a:xfrm>
            <a:off x="4100000" y="3859000"/>
            <a:ext cx="13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57" name="Isosceles Triangle 13356">
            <a:extLst>
              <a:ext uri="{FF2B5EF4-FFF2-40B4-BE49-F238E27FC236}">
                <a16:creationId xmlns:a16="http://schemas.microsoft.com/office/drawing/2014/main" id="{EF72C2A7-004C-86F0-B870-B63D3EB33EE7}"/>
              </a:ext>
            </a:extLst>
          </p:cNvPr>
          <p:cNvSpPr/>
          <p:nvPr/>
        </p:nvSpPr>
        <p:spPr>
          <a:xfrm rot="5400000">
            <a:off x="4220000" y="381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19" name="Rectangle 13418">
            <a:extLst>
              <a:ext uri="{FF2B5EF4-FFF2-40B4-BE49-F238E27FC236}">
                <a16:creationId xmlns:a16="http://schemas.microsoft.com/office/drawing/2014/main" id="{F8F6234D-5A4A-75BC-5894-413CD51991FF}"/>
              </a:ext>
            </a:extLst>
          </p:cNvPr>
          <p:cNvSpPr/>
          <p:nvPr/>
        </p:nvSpPr>
        <p:spPr>
          <a:xfrm>
            <a:off x="5130000" y="2069000"/>
            <a:ext cx="1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82" name="Rectangle 13481">
            <a:extLst>
              <a:ext uri="{FF2B5EF4-FFF2-40B4-BE49-F238E27FC236}">
                <a16:creationId xmlns:a16="http://schemas.microsoft.com/office/drawing/2014/main" id="{AFF4B245-C547-7170-D15C-AB5FFD86675E}"/>
              </a:ext>
            </a:extLst>
          </p:cNvPr>
          <p:cNvSpPr/>
          <p:nvPr/>
        </p:nvSpPr>
        <p:spPr>
          <a:xfrm>
            <a:off x="5130000" y="3859000"/>
            <a:ext cx="1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46" name="Rectangle 13545">
            <a:extLst>
              <a:ext uri="{FF2B5EF4-FFF2-40B4-BE49-F238E27FC236}">
                <a16:creationId xmlns:a16="http://schemas.microsoft.com/office/drawing/2014/main" id="{8E714998-9163-4015-EE01-E1E5603FBFA4}"/>
              </a:ext>
            </a:extLst>
          </p:cNvPr>
          <p:cNvSpPr/>
          <p:nvPr/>
        </p:nvSpPr>
        <p:spPr>
          <a:xfrm>
            <a:off x="5219000" y="1909000"/>
            <a:ext cx="22000" cy="229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11" name="Rectangle 13610">
            <a:extLst>
              <a:ext uri="{FF2B5EF4-FFF2-40B4-BE49-F238E27FC236}">
                <a16:creationId xmlns:a16="http://schemas.microsoft.com/office/drawing/2014/main" id="{4024F2A0-070F-4AE8-B2B7-B47BE4C2D3AC}"/>
              </a:ext>
            </a:extLst>
          </p:cNvPr>
          <p:cNvSpPr/>
          <p:nvPr/>
        </p:nvSpPr>
        <p:spPr>
          <a:xfrm>
            <a:off x="5230000" y="1909000"/>
            <a:ext cx="1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77" name="Rectangle 13676">
            <a:extLst>
              <a:ext uri="{FF2B5EF4-FFF2-40B4-BE49-F238E27FC236}">
                <a16:creationId xmlns:a16="http://schemas.microsoft.com/office/drawing/2014/main" id="{9D329DCF-C774-127D-BE4B-098E61859A60}"/>
              </a:ext>
            </a:extLst>
          </p:cNvPr>
          <p:cNvSpPr/>
          <p:nvPr/>
        </p:nvSpPr>
        <p:spPr>
          <a:xfrm>
            <a:off x="5230000" y="2239000"/>
            <a:ext cx="1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44" name="Rectangle 13743">
            <a:extLst>
              <a:ext uri="{FF2B5EF4-FFF2-40B4-BE49-F238E27FC236}">
                <a16:creationId xmlns:a16="http://schemas.microsoft.com/office/drawing/2014/main" id="{54166D2D-07A1-B632-8352-25D3E5DA2DB8}"/>
              </a:ext>
            </a:extLst>
          </p:cNvPr>
          <p:cNvSpPr/>
          <p:nvPr/>
        </p:nvSpPr>
        <p:spPr>
          <a:xfrm>
            <a:off x="5230000" y="3279000"/>
            <a:ext cx="1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12" name="Rectangle 13811">
            <a:extLst>
              <a:ext uri="{FF2B5EF4-FFF2-40B4-BE49-F238E27FC236}">
                <a16:creationId xmlns:a16="http://schemas.microsoft.com/office/drawing/2014/main" id="{FEC06800-49FD-21F3-66C9-B12D66156EB9}"/>
              </a:ext>
            </a:extLst>
          </p:cNvPr>
          <p:cNvSpPr/>
          <p:nvPr/>
        </p:nvSpPr>
        <p:spPr>
          <a:xfrm>
            <a:off x="5230000" y="4179000"/>
            <a:ext cx="10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81" name="Rectangle 13880">
            <a:extLst>
              <a:ext uri="{FF2B5EF4-FFF2-40B4-BE49-F238E27FC236}">
                <a16:creationId xmlns:a16="http://schemas.microsoft.com/office/drawing/2014/main" id="{6B0396C4-3FB9-C641-44E9-2B50F46A9EC5}"/>
              </a:ext>
            </a:extLst>
          </p:cNvPr>
          <p:cNvSpPr/>
          <p:nvPr/>
        </p:nvSpPr>
        <p:spPr>
          <a:xfrm>
            <a:off x="6760000" y="2239000"/>
            <a:ext cx="4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51" name="Isosceles Triangle 13950">
            <a:extLst>
              <a:ext uri="{FF2B5EF4-FFF2-40B4-BE49-F238E27FC236}">
                <a16:creationId xmlns:a16="http://schemas.microsoft.com/office/drawing/2014/main" id="{2B592C69-0CFB-260A-D920-EAF242A75162}"/>
              </a:ext>
            </a:extLst>
          </p:cNvPr>
          <p:cNvSpPr/>
          <p:nvPr/>
        </p:nvSpPr>
        <p:spPr>
          <a:xfrm rot="5400000">
            <a:off x="7170000" y="219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22" name="Rectangle 14021">
            <a:extLst>
              <a:ext uri="{FF2B5EF4-FFF2-40B4-BE49-F238E27FC236}">
                <a16:creationId xmlns:a16="http://schemas.microsoft.com/office/drawing/2014/main" id="{F4CCEE2B-1210-CA40-6869-160C9D1AC50E}"/>
              </a:ext>
            </a:extLst>
          </p:cNvPr>
          <p:cNvSpPr/>
          <p:nvPr/>
        </p:nvSpPr>
        <p:spPr>
          <a:xfrm>
            <a:off x="6760000" y="3279000"/>
            <a:ext cx="4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94" name="Isosceles Triangle 14093">
            <a:extLst>
              <a:ext uri="{FF2B5EF4-FFF2-40B4-BE49-F238E27FC236}">
                <a16:creationId xmlns:a16="http://schemas.microsoft.com/office/drawing/2014/main" id="{93479DAA-C9A5-2129-DC83-92DCE76A3C1C}"/>
              </a:ext>
            </a:extLst>
          </p:cNvPr>
          <p:cNvSpPr/>
          <p:nvPr/>
        </p:nvSpPr>
        <p:spPr>
          <a:xfrm rot="5400000">
            <a:off x="7170000" y="323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167" name="Rectangle 14166">
            <a:extLst>
              <a:ext uri="{FF2B5EF4-FFF2-40B4-BE49-F238E27FC236}">
                <a16:creationId xmlns:a16="http://schemas.microsoft.com/office/drawing/2014/main" id="{902D92C7-8BFB-C9D0-79D4-B7F69E9D2148}"/>
              </a:ext>
            </a:extLst>
          </p:cNvPr>
          <p:cNvSpPr/>
          <p:nvPr/>
        </p:nvSpPr>
        <p:spPr>
          <a:xfrm>
            <a:off x="6760000" y="4179000"/>
            <a:ext cx="4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241" name="Isosceles Triangle 14240">
            <a:extLst>
              <a:ext uri="{FF2B5EF4-FFF2-40B4-BE49-F238E27FC236}">
                <a16:creationId xmlns:a16="http://schemas.microsoft.com/office/drawing/2014/main" id="{C9ED27D7-D89F-CFF8-11B4-175E14DFDF12}"/>
              </a:ext>
            </a:extLst>
          </p:cNvPr>
          <p:cNvSpPr/>
          <p:nvPr/>
        </p:nvSpPr>
        <p:spPr>
          <a:xfrm rot="5400000">
            <a:off x="7170000" y="413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16" name="Rectangle 14315">
            <a:extLst>
              <a:ext uri="{FF2B5EF4-FFF2-40B4-BE49-F238E27FC236}">
                <a16:creationId xmlns:a16="http://schemas.microsoft.com/office/drawing/2014/main" id="{CE1ACFE5-35AC-2F6E-1A33-500DB6269D76}"/>
              </a:ext>
            </a:extLst>
          </p:cNvPr>
          <p:cNvSpPr/>
          <p:nvPr/>
        </p:nvSpPr>
        <p:spPr>
          <a:xfrm>
            <a:off x="3289000" y="248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92" name="Isosceles Triangle 14391">
            <a:extLst>
              <a:ext uri="{FF2B5EF4-FFF2-40B4-BE49-F238E27FC236}">
                <a16:creationId xmlns:a16="http://schemas.microsoft.com/office/drawing/2014/main" id="{0D952045-FEF0-9728-C26F-AED726441997}"/>
              </a:ext>
            </a:extLst>
          </p:cNvPr>
          <p:cNvSpPr/>
          <p:nvPr/>
        </p:nvSpPr>
        <p:spPr>
          <a:xfrm>
            <a:off x="3245000" y="2380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69" name="Rectangle 14468">
            <a:extLst>
              <a:ext uri="{FF2B5EF4-FFF2-40B4-BE49-F238E27FC236}">
                <a16:creationId xmlns:a16="http://schemas.microsoft.com/office/drawing/2014/main" id="{BD5CCD6A-0336-D918-99BA-20B9695DFA4E}"/>
              </a:ext>
            </a:extLst>
          </p:cNvPr>
          <p:cNvSpPr/>
          <p:nvPr/>
        </p:nvSpPr>
        <p:spPr>
          <a:xfrm>
            <a:off x="3289000" y="3270000"/>
            <a:ext cx="22000" cy="30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47" name="Isosceles Triangle 14546">
            <a:extLst>
              <a:ext uri="{FF2B5EF4-FFF2-40B4-BE49-F238E27FC236}">
                <a16:creationId xmlns:a16="http://schemas.microsoft.com/office/drawing/2014/main" id="{D51FFE35-5874-51BE-FEAF-066C697ACC14}"/>
              </a:ext>
            </a:extLst>
          </p:cNvPr>
          <p:cNvSpPr/>
          <p:nvPr/>
        </p:nvSpPr>
        <p:spPr>
          <a:xfrm rot="10800000">
            <a:off x="3245000" y="3330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26" name="Rectangle 14625">
            <a:extLst>
              <a:ext uri="{FF2B5EF4-FFF2-40B4-BE49-F238E27FC236}">
                <a16:creationId xmlns:a16="http://schemas.microsoft.com/office/drawing/2014/main" id="{8D396B47-D531-A461-CB04-210E727144F5}"/>
              </a:ext>
            </a:extLst>
          </p:cNvPr>
          <p:cNvSpPr/>
          <p:nvPr/>
        </p:nvSpPr>
        <p:spPr>
          <a:xfrm>
            <a:off x="1289000" y="4220000"/>
            <a:ext cx="22000" cy="80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06" name="Rectangle 14705">
            <a:extLst>
              <a:ext uri="{FF2B5EF4-FFF2-40B4-BE49-F238E27FC236}">
                <a16:creationId xmlns:a16="http://schemas.microsoft.com/office/drawing/2014/main" id="{2BA63794-60F4-B894-3B5A-6910F6494639}"/>
              </a:ext>
            </a:extLst>
          </p:cNvPr>
          <p:cNvSpPr/>
          <p:nvPr/>
        </p:nvSpPr>
        <p:spPr>
          <a:xfrm>
            <a:off x="1289000" y="4355000"/>
            <a:ext cx="22000" cy="80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87" name="Rectangle 14786">
            <a:extLst>
              <a:ext uri="{FF2B5EF4-FFF2-40B4-BE49-F238E27FC236}">
                <a16:creationId xmlns:a16="http://schemas.microsoft.com/office/drawing/2014/main" id="{9FD9758E-2C90-E8C1-0A81-205233519939}"/>
              </a:ext>
            </a:extLst>
          </p:cNvPr>
          <p:cNvSpPr/>
          <p:nvPr/>
        </p:nvSpPr>
        <p:spPr>
          <a:xfrm>
            <a:off x="1289000" y="4490000"/>
            <a:ext cx="22000" cy="80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69" name="Rectangle 14868">
            <a:extLst>
              <a:ext uri="{FF2B5EF4-FFF2-40B4-BE49-F238E27FC236}">
                <a16:creationId xmlns:a16="http://schemas.microsoft.com/office/drawing/2014/main" id="{5473CA54-F42F-C312-B538-CE88EB0BC51F}"/>
              </a:ext>
            </a:extLst>
          </p:cNvPr>
          <p:cNvSpPr/>
          <p:nvPr/>
        </p:nvSpPr>
        <p:spPr>
          <a:xfrm>
            <a:off x="1289000" y="4625000"/>
            <a:ext cx="22000" cy="80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52" name="Rectangle 14951">
            <a:extLst>
              <a:ext uri="{FF2B5EF4-FFF2-40B4-BE49-F238E27FC236}">
                <a16:creationId xmlns:a16="http://schemas.microsoft.com/office/drawing/2014/main" id="{CC37FDFB-8D28-96FE-C1BF-DF1B5F18AD66}"/>
              </a:ext>
            </a:extLst>
          </p:cNvPr>
          <p:cNvSpPr/>
          <p:nvPr/>
        </p:nvSpPr>
        <p:spPr>
          <a:xfrm>
            <a:off x="1289000" y="4760000"/>
            <a:ext cx="22000" cy="40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36" name="Rectangle 15035">
            <a:extLst>
              <a:ext uri="{FF2B5EF4-FFF2-40B4-BE49-F238E27FC236}">
                <a16:creationId xmlns:a16="http://schemas.microsoft.com/office/drawing/2014/main" id="{342E5158-D10C-0865-5C0D-0CB67901AA7A}"/>
              </a:ext>
            </a:extLst>
          </p:cNvPr>
          <p:cNvSpPr/>
          <p:nvPr/>
        </p:nvSpPr>
        <p:spPr>
          <a:xfrm>
            <a:off x="130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21" name="Rectangle 15120">
            <a:extLst>
              <a:ext uri="{FF2B5EF4-FFF2-40B4-BE49-F238E27FC236}">
                <a16:creationId xmlns:a16="http://schemas.microsoft.com/office/drawing/2014/main" id="{3A5DD39A-C513-3359-C65A-F81436C566D8}"/>
              </a:ext>
            </a:extLst>
          </p:cNvPr>
          <p:cNvSpPr/>
          <p:nvPr/>
        </p:nvSpPr>
        <p:spPr>
          <a:xfrm>
            <a:off x="143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07" name="Rectangle 15206">
            <a:extLst>
              <a:ext uri="{FF2B5EF4-FFF2-40B4-BE49-F238E27FC236}">
                <a16:creationId xmlns:a16="http://schemas.microsoft.com/office/drawing/2014/main" id="{62E7A945-01A1-5D2B-AEC5-B207BF9B929B}"/>
              </a:ext>
            </a:extLst>
          </p:cNvPr>
          <p:cNvSpPr/>
          <p:nvPr/>
        </p:nvSpPr>
        <p:spPr>
          <a:xfrm>
            <a:off x="157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94" name="Rectangle 15293">
            <a:extLst>
              <a:ext uri="{FF2B5EF4-FFF2-40B4-BE49-F238E27FC236}">
                <a16:creationId xmlns:a16="http://schemas.microsoft.com/office/drawing/2014/main" id="{F7EC97C0-4CEB-52C8-9B77-449778D8EEAA}"/>
              </a:ext>
            </a:extLst>
          </p:cNvPr>
          <p:cNvSpPr/>
          <p:nvPr/>
        </p:nvSpPr>
        <p:spPr>
          <a:xfrm>
            <a:off x="170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82" name="Rectangle 15381">
            <a:extLst>
              <a:ext uri="{FF2B5EF4-FFF2-40B4-BE49-F238E27FC236}">
                <a16:creationId xmlns:a16="http://schemas.microsoft.com/office/drawing/2014/main" id="{4993E9FC-EAA8-7BC3-78DC-9334B818F6A2}"/>
              </a:ext>
            </a:extLst>
          </p:cNvPr>
          <p:cNvSpPr/>
          <p:nvPr/>
        </p:nvSpPr>
        <p:spPr>
          <a:xfrm>
            <a:off x="184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71" name="Rectangle 15470">
            <a:extLst>
              <a:ext uri="{FF2B5EF4-FFF2-40B4-BE49-F238E27FC236}">
                <a16:creationId xmlns:a16="http://schemas.microsoft.com/office/drawing/2014/main" id="{0332347E-4BA1-D454-F495-5EAB44E73937}"/>
              </a:ext>
            </a:extLst>
          </p:cNvPr>
          <p:cNvSpPr/>
          <p:nvPr/>
        </p:nvSpPr>
        <p:spPr>
          <a:xfrm>
            <a:off x="197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61" name="Rectangle 15560">
            <a:extLst>
              <a:ext uri="{FF2B5EF4-FFF2-40B4-BE49-F238E27FC236}">
                <a16:creationId xmlns:a16="http://schemas.microsoft.com/office/drawing/2014/main" id="{977F9F7A-AC2E-11F5-3DCC-A96C7E3213ED}"/>
              </a:ext>
            </a:extLst>
          </p:cNvPr>
          <p:cNvSpPr/>
          <p:nvPr/>
        </p:nvSpPr>
        <p:spPr>
          <a:xfrm>
            <a:off x="211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52" name="Rectangle 15651">
            <a:extLst>
              <a:ext uri="{FF2B5EF4-FFF2-40B4-BE49-F238E27FC236}">
                <a16:creationId xmlns:a16="http://schemas.microsoft.com/office/drawing/2014/main" id="{7E2696A2-68E8-F689-D49A-11F8EE1E213D}"/>
              </a:ext>
            </a:extLst>
          </p:cNvPr>
          <p:cNvSpPr/>
          <p:nvPr/>
        </p:nvSpPr>
        <p:spPr>
          <a:xfrm>
            <a:off x="224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744" name="Rectangle 15743">
            <a:extLst>
              <a:ext uri="{FF2B5EF4-FFF2-40B4-BE49-F238E27FC236}">
                <a16:creationId xmlns:a16="http://schemas.microsoft.com/office/drawing/2014/main" id="{BEC71E6E-B937-1D72-4A22-528B24FD40D2}"/>
              </a:ext>
            </a:extLst>
          </p:cNvPr>
          <p:cNvSpPr/>
          <p:nvPr/>
        </p:nvSpPr>
        <p:spPr>
          <a:xfrm>
            <a:off x="238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837" name="Rectangle 15836">
            <a:extLst>
              <a:ext uri="{FF2B5EF4-FFF2-40B4-BE49-F238E27FC236}">
                <a16:creationId xmlns:a16="http://schemas.microsoft.com/office/drawing/2014/main" id="{DE55EDDE-74D8-A652-66D2-B0702BA3D8A2}"/>
              </a:ext>
            </a:extLst>
          </p:cNvPr>
          <p:cNvSpPr/>
          <p:nvPr/>
        </p:nvSpPr>
        <p:spPr>
          <a:xfrm>
            <a:off x="251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931" name="Rectangle 15930">
            <a:extLst>
              <a:ext uri="{FF2B5EF4-FFF2-40B4-BE49-F238E27FC236}">
                <a16:creationId xmlns:a16="http://schemas.microsoft.com/office/drawing/2014/main" id="{559A0E6D-4802-7C80-E2BD-DD7B8755A380}"/>
              </a:ext>
            </a:extLst>
          </p:cNvPr>
          <p:cNvSpPr/>
          <p:nvPr/>
        </p:nvSpPr>
        <p:spPr>
          <a:xfrm>
            <a:off x="265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26" name="Rectangle 16025">
            <a:extLst>
              <a:ext uri="{FF2B5EF4-FFF2-40B4-BE49-F238E27FC236}">
                <a16:creationId xmlns:a16="http://schemas.microsoft.com/office/drawing/2014/main" id="{F76567FB-6AC5-3E02-183C-162135039927}"/>
              </a:ext>
            </a:extLst>
          </p:cNvPr>
          <p:cNvSpPr/>
          <p:nvPr/>
        </p:nvSpPr>
        <p:spPr>
          <a:xfrm>
            <a:off x="278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22" name="Rectangle 16121">
            <a:extLst>
              <a:ext uri="{FF2B5EF4-FFF2-40B4-BE49-F238E27FC236}">
                <a16:creationId xmlns:a16="http://schemas.microsoft.com/office/drawing/2014/main" id="{A083DEA6-6DC1-0E77-5786-F09676B9866D}"/>
              </a:ext>
            </a:extLst>
          </p:cNvPr>
          <p:cNvSpPr/>
          <p:nvPr/>
        </p:nvSpPr>
        <p:spPr>
          <a:xfrm>
            <a:off x="292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19" name="Rectangle 16218">
            <a:extLst>
              <a:ext uri="{FF2B5EF4-FFF2-40B4-BE49-F238E27FC236}">
                <a16:creationId xmlns:a16="http://schemas.microsoft.com/office/drawing/2014/main" id="{9FCA4B35-7AB8-3BB6-176F-61765458A20F}"/>
              </a:ext>
            </a:extLst>
          </p:cNvPr>
          <p:cNvSpPr/>
          <p:nvPr/>
        </p:nvSpPr>
        <p:spPr>
          <a:xfrm>
            <a:off x="305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17" name="Rectangle 16316">
            <a:extLst>
              <a:ext uri="{FF2B5EF4-FFF2-40B4-BE49-F238E27FC236}">
                <a16:creationId xmlns:a16="http://schemas.microsoft.com/office/drawing/2014/main" id="{437DF8E4-13EF-A854-9FF8-A82619845D7A}"/>
              </a:ext>
            </a:extLst>
          </p:cNvPr>
          <p:cNvSpPr/>
          <p:nvPr/>
        </p:nvSpPr>
        <p:spPr>
          <a:xfrm>
            <a:off x="319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416" name="Rectangle 16415">
            <a:extLst>
              <a:ext uri="{FF2B5EF4-FFF2-40B4-BE49-F238E27FC236}">
                <a16:creationId xmlns:a16="http://schemas.microsoft.com/office/drawing/2014/main" id="{2DB28201-AB18-7058-0AF1-F2A758119DE7}"/>
              </a:ext>
            </a:extLst>
          </p:cNvPr>
          <p:cNvSpPr/>
          <p:nvPr/>
        </p:nvSpPr>
        <p:spPr>
          <a:xfrm>
            <a:off x="332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16" name="Rectangle 16515">
            <a:extLst>
              <a:ext uri="{FF2B5EF4-FFF2-40B4-BE49-F238E27FC236}">
                <a16:creationId xmlns:a16="http://schemas.microsoft.com/office/drawing/2014/main" id="{1EE64DFF-7109-A508-972F-42C95640397F}"/>
              </a:ext>
            </a:extLst>
          </p:cNvPr>
          <p:cNvSpPr/>
          <p:nvPr/>
        </p:nvSpPr>
        <p:spPr>
          <a:xfrm>
            <a:off x="346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17" name="Rectangle 16616">
            <a:extLst>
              <a:ext uri="{FF2B5EF4-FFF2-40B4-BE49-F238E27FC236}">
                <a16:creationId xmlns:a16="http://schemas.microsoft.com/office/drawing/2014/main" id="{B7884737-A2B0-A458-4483-5C9BA287AC12}"/>
              </a:ext>
            </a:extLst>
          </p:cNvPr>
          <p:cNvSpPr/>
          <p:nvPr/>
        </p:nvSpPr>
        <p:spPr>
          <a:xfrm>
            <a:off x="359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19" name="Rectangle 16718">
            <a:extLst>
              <a:ext uri="{FF2B5EF4-FFF2-40B4-BE49-F238E27FC236}">
                <a16:creationId xmlns:a16="http://schemas.microsoft.com/office/drawing/2014/main" id="{BE3B836E-FF2B-6079-43EC-4FBB4F03F3C7}"/>
              </a:ext>
            </a:extLst>
          </p:cNvPr>
          <p:cNvSpPr/>
          <p:nvPr/>
        </p:nvSpPr>
        <p:spPr>
          <a:xfrm>
            <a:off x="373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822" name="Rectangle 16821">
            <a:extLst>
              <a:ext uri="{FF2B5EF4-FFF2-40B4-BE49-F238E27FC236}">
                <a16:creationId xmlns:a16="http://schemas.microsoft.com/office/drawing/2014/main" id="{5003D555-24C9-7A7F-842F-432046B302E1}"/>
              </a:ext>
            </a:extLst>
          </p:cNvPr>
          <p:cNvSpPr/>
          <p:nvPr/>
        </p:nvSpPr>
        <p:spPr>
          <a:xfrm>
            <a:off x="386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26" name="Rectangle 16925">
            <a:extLst>
              <a:ext uri="{FF2B5EF4-FFF2-40B4-BE49-F238E27FC236}">
                <a16:creationId xmlns:a16="http://schemas.microsoft.com/office/drawing/2014/main" id="{67CD157F-0CC1-4FF6-96D9-A255D6F5D4BA}"/>
              </a:ext>
            </a:extLst>
          </p:cNvPr>
          <p:cNvSpPr/>
          <p:nvPr/>
        </p:nvSpPr>
        <p:spPr>
          <a:xfrm>
            <a:off x="400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31" name="Rectangle 17030">
            <a:extLst>
              <a:ext uri="{FF2B5EF4-FFF2-40B4-BE49-F238E27FC236}">
                <a16:creationId xmlns:a16="http://schemas.microsoft.com/office/drawing/2014/main" id="{06E55AE6-1B88-A5CC-4605-B2D61518BE19}"/>
              </a:ext>
            </a:extLst>
          </p:cNvPr>
          <p:cNvSpPr/>
          <p:nvPr/>
        </p:nvSpPr>
        <p:spPr>
          <a:xfrm>
            <a:off x="413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37" name="Rectangle 17136">
            <a:extLst>
              <a:ext uri="{FF2B5EF4-FFF2-40B4-BE49-F238E27FC236}">
                <a16:creationId xmlns:a16="http://schemas.microsoft.com/office/drawing/2014/main" id="{BA185235-0624-7922-46C3-07B7645B80F1}"/>
              </a:ext>
            </a:extLst>
          </p:cNvPr>
          <p:cNvSpPr/>
          <p:nvPr/>
        </p:nvSpPr>
        <p:spPr>
          <a:xfrm>
            <a:off x="427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244" name="Rectangle 17243">
            <a:extLst>
              <a:ext uri="{FF2B5EF4-FFF2-40B4-BE49-F238E27FC236}">
                <a16:creationId xmlns:a16="http://schemas.microsoft.com/office/drawing/2014/main" id="{F3864228-904B-B104-CB11-4EDB58040C71}"/>
              </a:ext>
            </a:extLst>
          </p:cNvPr>
          <p:cNvSpPr/>
          <p:nvPr/>
        </p:nvSpPr>
        <p:spPr>
          <a:xfrm>
            <a:off x="440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52" name="Rectangle 17351">
            <a:extLst>
              <a:ext uri="{FF2B5EF4-FFF2-40B4-BE49-F238E27FC236}">
                <a16:creationId xmlns:a16="http://schemas.microsoft.com/office/drawing/2014/main" id="{AFC56292-2538-75A1-04C2-7B3EDFF0A3F4}"/>
              </a:ext>
            </a:extLst>
          </p:cNvPr>
          <p:cNvSpPr/>
          <p:nvPr/>
        </p:nvSpPr>
        <p:spPr>
          <a:xfrm>
            <a:off x="454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461" name="Rectangle 17460">
            <a:extLst>
              <a:ext uri="{FF2B5EF4-FFF2-40B4-BE49-F238E27FC236}">
                <a16:creationId xmlns:a16="http://schemas.microsoft.com/office/drawing/2014/main" id="{989C1C44-AB25-CD39-1C61-0A9439B46913}"/>
              </a:ext>
            </a:extLst>
          </p:cNvPr>
          <p:cNvSpPr/>
          <p:nvPr/>
        </p:nvSpPr>
        <p:spPr>
          <a:xfrm>
            <a:off x="467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71" name="Rectangle 17570">
            <a:extLst>
              <a:ext uri="{FF2B5EF4-FFF2-40B4-BE49-F238E27FC236}">
                <a16:creationId xmlns:a16="http://schemas.microsoft.com/office/drawing/2014/main" id="{C05404F6-8C5D-F5FF-2465-9CC7FD69E5E5}"/>
              </a:ext>
            </a:extLst>
          </p:cNvPr>
          <p:cNvSpPr/>
          <p:nvPr/>
        </p:nvSpPr>
        <p:spPr>
          <a:xfrm>
            <a:off x="481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82" name="Rectangle 17681">
            <a:extLst>
              <a:ext uri="{FF2B5EF4-FFF2-40B4-BE49-F238E27FC236}">
                <a16:creationId xmlns:a16="http://schemas.microsoft.com/office/drawing/2014/main" id="{7085AEA1-7560-C20D-7B36-2144CA3FBF2C}"/>
              </a:ext>
            </a:extLst>
          </p:cNvPr>
          <p:cNvSpPr/>
          <p:nvPr/>
        </p:nvSpPr>
        <p:spPr>
          <a:xfrm>
            <a:off x="494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794" name="Rectangle 17793">
            <a:extLst>
              <a:ext uri="{FF2B5EF4-FFF2-40B4-BE49-F238E27FC236}">
                <a16:creationId xmlns:a16="http://schemas.microsoft.com/office/drawing/2014/main" id="{87A29AFD-CA3C-1DBF-1AC3-225B7FD7EEDD}"/>
              </a:ext>
            </a:extLst>
          </p:cNvPr>
          <p:cNvSpPr/>
          <p:nvPr/>
        </p:nvSpPr>
        <p:spPr>
          <a:xfrm>
            <a:off x="508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907" name="Rectangle 17906">
            <a:extLst>
              <a:ext uri="{FF2B5EF4-FFF2-40B4-BE49-F238E27FC236}">
                <a16:creationId xmlns:a16="http://schemas.microsoft.com/office/drawing/2014/main" id="{24746612-32FD-B640-E615-B470A4B37499}"/>
              </a:ext>
            </a:extLst>
          </p:cNvPr>
          <p:cNvSpPr/>
          <p:nvPr/>
        </p:nvSpPr>
        <p:spPr>
          <a:xfrm>
            <a:off x="521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021" name="Rectangle 18020">
            <a:extLst>
              <a:ext uri="{FF2B5EF4-FFF2-40B4-BE49-F238E27FC236}">
                <a16:creationId xmlns:a16="http://schemas.microsoft.com/office/drawing/2014/main" id="{27A8C553-5F3D-F4DC-C35B-1B735D2CA502}"/>
              </a:ext>
            </a:extLst>
          </p:cNvPr>
          <p:cNvSpPr/>
          <p:nvPr/>
        </p:nvSpPr>
        <p:spPr>
          <a:xfrm>
            <a:off x="535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136" name="Rectangle 18135">
            <a:extLst>
              <a:ext uri="{FF2B5EF4-FFF2-40B4-BE49-F238E27FC236}">
                <a16:creationId xmlns:a16="http://schemas.microsoft.com/office/drawing/2014/main" id="{5D2632D6-6652-9699-69CD-FD956CA91838}"/>
              </a:ext>
            </a:extLst>
          </p:cNvPr>
          <p:cNvSpPr/>
          <p:nvPr/>
        </p:nvSpPr>
        <p:spPr>
          <a:xfrm>
            <a:off x="548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52" name="Rectangle 18251">
            <a:extLst>
              <a:ext uri="{FF2B5EF4-FFF2-40B4-BE49-F238E27FC236}">
                <a16:creationId xmlns:a16="http://schemas.microsoft.com/office/drawing/2014/main" id="{CAC23F74-8983-D826-864D-7EAB905D3AE8}"/>
              </a:ext>
            </a:extLst>
          </p:cNvPr>
          <p:cNvSpPr/>
          <p:nvPr/>
        </p:nvSpPr>
        <p:spPr>
          <a:xfrm>
            <a:off x="562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69" name="Rectangle 18368">
            <a:extLst>
              <a:ext uri="{FF2B5EF4-FFF2-40B4-BE49-F238E27FC236}">
                <a16:creationId xmlns:a16="http://schemas.microsoft.com/office/drawing/2014/main" id="{9E039732-8C41-1DFE-1B63-D7432FE4EABA}"/>
              </a:ext>
            </a:extLst>
          </p:cNvPr>
          <p:cNvSpPr/>
          <p:nvPr/>
        </p:nvSpPr>
        <p:spPr>
          <a:xfrm>
            <a:off x="575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487" name="Rectangle 18486">
            <a:extLst>
              <a:ext uri="{FF2B5EF4-FFF2-40B4-BE49-F238E27FC236}">
                <a16:creationId xmlns:a16="http://schemas.microsoft.com/office/drawing/2014/main" id="{9788CD96-E072-0410-C87B-B7488F16939E}"/>
              </a:ext>
            </a:extLst>
          </p:cNvPr>
          <p:cNvSpPr/>
          <p:nvPr/>
        </p:nvSpPr>
        <p:spPr>
          <a:xfrm>
            <a:off x="589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06" name="Rectangle 18605">
            <a:extLst>
              <a:ext uri="{FF2B5EF4-FFF2-40B4-BE49-F238E27FC236}">
                <a16:creationId xmlns:a16="http://schemas.microsoft.com/office/drawing/2014/main" id="{67E7005A-0EB1-FF9B-F19B-2C4266053444}"/>
              </a:ext>
            </a:extLst>
          </p:cNvPr>
          <p:cNvSpPr/>
          <p:nvPr/>
        </p:nvSpPr>
        <p:spPr>
          <a:xfrm>
            <a:off x="602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726" name="Rectangle 18725">
            <a:extLst>
              <a:ext uri="{FF2B5EF4-FFF2-40B4-BE49-F238E27FC236}">
                <a16:creationId xmlns:a16="http://schemas.microsoft.com/office/drawing/2014/main" id="{926A5A36-5B33-F925-3C36-71F50C9DC6A6}"/>
              </a:ext>
            </a:extLst>
          </p:cNvPr>
          <p:cNvSpPr/>
          <p:nvPr/>
        </p:nvSpPr>
        <p:spPr>
          <a:xfrm>
            <a:off x="616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47" name="Rectangle 18846">
            <a:extLst>
              <a:ext uri="{FF2B5EF4-FFF2-40B4-BE49-F238E27FC236}">
                <a16:creationId xmlns:a16="http://schemas.microsoft.com/office/drawing/2014/main" id="{46475445-787A-4166-A926-2C845D15C3CC}"/>
              </a:ext>
            </a:extLst>
          </p:cNvPr>
          <p:cNvSpPr/>
          <p:nvPr/>
        </p:nvSpPr>
        <p:spPr>
          <a:xfrm>
            <a:off x="629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969" name="Rectangle 18968">
            <a:extLst>
              <a:ext uri="{FF2B5EF4-FFF2-40B4-BE49-F238E27FC236}">
                <a16:creationId xmlns:a16="http://schemas.microsoft.com/office/drawing/2014/main" id="{4F92E120-E065-F41E-C883-0F06D0F08A98}"/>
              </a:ext>
            </a:extLst>
          </p:cNvPr>
          <p:cNvSpPr/>
          <p:nvPr/>
        </p:nvSpPr>
        <p:spPr>
          <a:xfrm>
            <a:off x="643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092" name="Rectangle 19091">
            <a:extLst>
              <a:ext uri="{FF2B5EF4-FFF2-40B4-BE49-F238E27FC236}">
                <a16:creationId xmlns:a16="http://schemas.microsoft.com/office/drawing/2014/main" id="{1FB5FCE7-F9BC-CD31-19F5-0A24C122947A}"/>
              </a:ext>
            </a:extLst>
          </p:cNvPr>
          <p:cNvSpPr/>
          <p:nvPr/>
        </p:nvSpPr>
        <p:spPr>
          <a:xfrm>
            <a:off x="656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16" name="Rectangle 19215">
            <a:extLst>
              <a:ext uri="{FF2B5EF4-FFF2-40B4-BE49-F238E27FC236}">
                <a16:creationId xmlns:a16="http://schemas.microsoft.com/office/drawing/2014/main" id="{65027953-61F3-6513-C1C2-9CC5C1CA06A9}"/>
              </a:ext>
            </a:extLst>
          </p:cNvPr>
          <p:cNvSpPr/>
          <p:nvPr/>
        </p:nvSpPr>
        <p:spPr>
          <a:xfrm>
            <a:off x="670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341" name="Rectangle 19340">
            <a:extLst>
              <a:ext uri="{FF2B5EF4-FFF2-40B4-BE49-F238E27FC236}">
                <a16:creationId xmlns:a16="http://schemas.microsoft.com/office/drawing/2014/main" id="{33503989-8650-BD6F-F48B-7AAEDE44AE8A}"/>
              </a:ext>
            </a:extLst>
          </p:cNvPr>
          <p:cNvSpPr/>
          <p:nvPr/>
        </p:nvSpPr>
        <p:spPr>
          <a:xfrm>
            <a:off x="6835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67" name="Rectangle 19466">
            <a:extLst>
              <a:ext uri="{FF2B5EF4-FFF2-40B4-BE49-F238E27FC236}">
                <a16:creationId xmlns:a16="http://schemas.microsoft.com/office/drawing/2014/main" id="{B8D47B0A-0135-B27E-7A33-74DF21683867}"/>
              </a:ext>
            </a:extLst>
          </p:cNvPr>
          <p:cNvSpPr/>
          <p:nvPr/>
        </p:nvSpPr>
        <p:spPr>
          <a:xfrm>
            <a:off x="6970000" y="478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594" name="Isosceles Triangle 19593">
            <a:extLst>
              <a:ext uri="{FF2B5EF4-FFF2-40B4-BE49-F238E27FC236}">
                <a16:creationId xmlns:a16="http://schemas.microsoft.com/office/drawing/2014/main" id="{C5B32A68-D693-15F2-D4AF-6DF844541077}"/>
              </a:ext>
            </a:extLst>
          </p:cNvPr>
          <p:cNvSpPr/>
          <p:nvPr/>
        </p:nvSpPr>
        <p:spPr>
          <a:xfrm rot="5400000">
            <a:off x="7090000" y="4745000"/>
            <a:ext cx="110000" cy="110000"/>
          </a:xfrm>
          <a:prstGeom prst="triangle">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722" name="default-note">
            <a:extLst>
              <a:ext uri="{FF2B5EF4-FFF2-40B4-BE49-F238E27FC236}">
                <a16:creationId xmlns:a16="http://schemas.microsoft.com/office/drawing/2014/main" id="{4ED53B59-5BD2-0F1A-71E6-56EAABB6B269}"/>
              </a:ext>
            </a:extLst>
          </p:cNvPr>
          <p:cNvSpPr/>
          <p:nvPr/>
        </p:nvSpPr>
        <p:spPr>
          <a:xfrm>
            <a:off x="2500000" y="4860000"/>
            <a:ext cx="43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i="1">
                <a:solidFill>
                  <a:srgbClr val="5A6A80"/>
                </a:solidFill>
                <a:effectLst/>
                <a:latin typeface="Calibri" panose="020F0502020204030204" pitchFamily="34" charset="0"/>
              </a:rPr>
              <a:t>Default (single user): RDM Kafka → Eventstream Kafka source; bridge → Eventstream custom endpoint (custom endpoint can't pause/resume).</a:t>
            </a:r>
          </a:p>
          <a:p>
            <a:pPr algn="l">
              <a:buNone/>
            </a:pPr>
            <a:r>
              <a:rPr lang="en-US" sz="100">
                <a:effectLst/>
              </a:rPr>
              <a:t> </a:t>
            </a:r>
            <a:endParaRPr lang="en-US"/>
          </a:p>
        </p:txBody>
      </p:sp>
      <p:sp>
        <p:nvSpPr>
          <p:cNvPr id="19851" name="fact-Why">
            <a:extLst>
              <a:ext uri="{FF2B5EF4-FFF2-40B4-BE49-F238E27FC236}">
                <a16:creationId xmlns:a16="http://schemas.microsoft.com/office/drawing/2014/main" id="{5B7A5DE2-3B0F-849A-C813-CB9A38D6E610}"/>
              </a:ext>
            </a:extLst>
          </p:cNvPr>
          <p:cNvSpPr/>
          <p:nvPr/>
        </p:nvSpPr>
        <p:spPr>
          <a:xfrm>
            <a:off x="400000" y="5410000"/>
            <a:ext cx="3664000" cy="730000"/>
          </a:xfrm>
          <a:prstGeom prst="rect">
            <a:avLst/>
          </a:prstGeom>
          <a:solidFill>
            <a:srgbClr val="FFFFFF"/>
          </a:solidFill>
          <a:ln w="952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117865"/>
                </a:solidFill>
                <a:effectLst/>
                <a:latin typeface="Calibri" panose="020F0502020204030204" pitchFamily="34" charset="0"/>
              </a:rPr>
              <a:t>Why:</a:t>
            </a:r>
          </a:p>
          <a:p>
            <a:pPr algn="l">
              <a:buNone/>
            </a:pPr>
            <a:r>
              <a:rPr lang="en-US" sz="1000">
                <a:solidFill>
                  <a:srgbClr val="3D4F66"/>
                </a:solidFill>
                <a:effectLst/>
                <a:latin typeface="Calibri" panose="020F0502020204030204" pitchFamily="34" charset="0"/>
              </a:rPr>
              <a:t>one NROD/RDM connection feeds many students; Fabric catches up after nightly capacity pause.</a:t>
            </a:r>
            <a:endParaRPr lang="en-US"/>
          </a:p>
        </p:txBody>
      </p:sp>
      <p:sp>
        <p:nvSpPr>
          <p:cNvPr id="19981" name="fact-Limi">
            <a:extLst>
              <a:ext uri="{FF2B5EF4-FFF2-40B4-BE49-F238E27FC236}">
                <a16:creationId xmlns:a16="http://schemas.microsoft.com/office/drawing/2014/main" id="{DC1EC4A2-A431-80BA-6B96-683E9FFD9A1E}"/>
              </a:ext>
            </a:extLst>
          </p:cNvPr>
          <p:cNvSpPr/>
          <p:nvPr/>
        </p:nvSpPr>
        <p:spPr>
          <a:xfrm>
            <a:off x="4264000" y="5410000"/>
            <a:ext cx="3664000" cy="730000"/>
          </a:xfrm>
          <a:prstGeom prst="rect">
            <a:avLst/>
          </a:prstGeom>
          <a:solidFill>
            <a:srgbClr val="FFFFFF"/>
          </a:solidFill>
          <a:ln w="952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117865"/>
                </a:solidFill>
                <a:effectLst/>
                <a:latin typeface="Calibri" panose="020F0502020204030204" pitchFamily="34" charset="0"/>
              </a:rPr>
              <a:t>Limits:</a:t>
            </a:r>
          </a:p>
          <a:p>
            <a:pPr algn="l">
              <a:buNone/>
            </a:pPr>
            <a:r>
              <a:rPr lang="en-US" sz="1000">
                <a:solidFill>
                  <a:srgbClr val="3D4F66"/>
                </a:solidFill>
                <a:effectLst/>
                <a:latin typeface="Calibri" panose="020F0502020204030204" pitchFamily="34" charset="0"/>
              </a:rPr>
              <a:t>Standard = 20 consumer groups per hub, 5 readers per group → one group per student; &gt;20 students → second hub or Premium.</a:t>
            </a:r>
            <a:endParaRPr lang="en-US"/>
          </a:p>
        </p:txBody>
      </p:sp>
      <p:sp>
        <p:nvSpPr>
          <p:cNvPr id="20112" name="fact-Cost">
            <a:extLst>
              <a:ext uri="{FF2B5EF4-FFF2-40B4-BE49-F238E27FC236}">
                <a16:creationId xmlns:a16="http://schemas.microsoft.com/office/drawing/2014/main" id="{FB3B5E18-8A0C-735C-50A7-D57E25A79B0D}"/>
              </a:ext>
            </a:extLst>
          </p:cNvPr>
          <p:cNvSpPr/>
          <p:nvPr/>
        </p:nvSpPr>
        <p:spPr>
          <a:xfrm>
            <a:off x="8128000" y="5410000"/>
            <a:ext cx="3664000" cy="730000"/>
          </a:xfrm>
          <a:prstGeom prst="rect">
            <a:avLst/>
          </a:prstGeom>
          <a:solidFill>
            <a:srgbClr val="FFFFFF"/>
          </a:solidFill>
          <a:ln w="9525">
            <a:solidFill>
              <a:srgbClr val="E6EBF1"/>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117865"/>
                </a:solidFill>
                <a:effectLst/>
                <a:latin typeface="Calibri" panose="020F0502020204030204" pitchFamily="34" charset="0"/>
              </a:rPr>
              <a:t>Cost (list-price estimate):</a:t>
            </a:r>
          </a:p>
          <a:p>
            <a:pPr algn="l">
              <a:buNone/>
            </a:pPr>
            <a:r>
              <a:rPr lang="en-US" sz="1000">
                <a:solidFill>
                  <a:srgbClr val="3D4F66"/>
                </a:solidFill>
                <a:effectLst/>
                <a:latin typeface="Calibri" panose="020F0502020204030204" pitchFamily="34" charset="0"/>
              </a:rPr>
              <a:t>Event Hubs Standard 1 TU ≈ $22/month + ingress ≈ $1–4/month; RDM relay container ≈ $14/month.</a:t>
            </a:r>
            <a:endParaRPr lang="en-US"/>
          </a:p>
        </p:txBody>
      </p:sp>
      <p:sp>
        <p:nvSpPr>
          <p:cNvPr id="20244" name="Rectangle 20243">
            <a:extLst>
              <a:ext uri="{FF2B5EF4-FFF2-40B4-BE49-F238E27FC236}">
                <a16:creationId xmlns:a16="http://schemas.microsoft.com/office/drawing/2014/main" id="{8E61BD01-D057-0B5E-0FFC-79BCE0F34EDE}"/>
              </a:ext>
            </a:extLst>
          </p:cNvPr>
          <p:cNvSpPr/>
          <p:nvPr/>
        </p:nvSpPr>
        <p:spPr>
          <a:xfrm>
            <a:off x="400000" y="6220000"/>
            <a:ext cx="10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0B1F3A"/>
                </a:solidFill>
                <a:effectLst/>
                <a:latin typeface="Calibri" panose="020F0502020204030204" pitchFamily="34" charset="0"/>
              </a:rPr>
              <a:t>Legend</a:t>
            </a:r>
          </a:p>
          <a:p>
            <a:pPr algn="l">
              <a:buNone/>
            </a:pPr>
            <a:r>
              <a:rPr lang="en-US" sz="100">
                <a:effectLst/>
              </a:rPr>
              <a:t> </a:t>
            </a:r>
            <a:endParaRPr lang="en-US"/>
          </a:p>
        </p:txBody>
      </p:sp>
      <p:sp>
        <p:nvSpPr>
          <p:cNvPr id="20377" name="Rectangle 20376">
            <a:extLst>
              <a:ext uri="{FF2B5EF4-FFF2-40B4-BE49-F238E27FC236}">
                <a16:creationId xmlns:a16="http://schemas.microsoft.com/office/drawing/2014/main" id="{91F7B108-C1E2-D07D-6B4D-AB9FB555CA7C}"/>
              </a:ext>
            </a:extLst>
          </p:cNvPr>
          <p:cNvSpPr/>
          <p:nvPr/>
        </p:nvSpPr>
        <p:spPr>
          <a:xfrm>
            <a:off x="1350000" y="6359000"/>
            <a:ext cx="420000" cy="22000"/>
          </a:xfrm>
          <a:prstGeom prst="rect">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11" name="Isosceles Triangle 20510">
            <a:extLst>
              <a:ext uri="{FF2B5EF4-FFF2-40B4-BE49-F238E27FC236}">
                <a16:creationId xmlns:a16="http://schemas.microsoft.com/office/drawing/2014/main" id="{5B0285E2-E899-5461-E6DF-C1063FC23B59}"/>
              </a:ext>
            </a:extLst>
          </p:cNvPr>
          <p:cNvSpPr/>
          <p:nvPr/>
        </p:nvSpPr>
        <p:spPr>
          <a:xfrm rot="5400000">
            <a:off x="1760000" y="6315000"/>
            <a:ext cx="110000" cy="110000"/>
          </a:xfrm>
          <a:prstGeom prst="triangle">
            <a:avLst/>
          </a:prstGeom>
          <a:solidFill>
            <a:srgbClr val="0B1F3A"/>
          </a:solidFill>
          <a:ln w="31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646" name="Rectangle 20645">
            <a:extLst>
              <a:ext uri="{FF2B5EF4-FFF2-40B4-BE49-F238E27FC236}">
                <a16:creationId xmlns:a16="http://schemas.microsoft.com/office/drawing/2014/main" id="{573AA533-1695-1F7E-6CDF-F6EA33EB9729}"/>
              </a:ext>
            </a:extLst>
          </p:cNvPr>
          <p:cNvSpPr/>
          <p:nvPr/>
        </p:nvSpPr>
        <p:spPr>
          <a:xfrm>
            <a:off x="1930000" y="6220000"/>
            <a:ext cx="15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Streaming</a:t>
            </a:r>
          </a:p>
          <a:p>
            <a:pPr algn="l">
              <a:buNone/>
            </a:pPr>
            <a:r>
              <a:rPr lang="en-US" sz="100">
                <a:effectLst/>
              </a:rPr>
              <a:t> </a:t>
            </a:r>
            <a:endParaRPr lang="en-US"/>
          </a:p>
        </p:txBody>
      </p:sp>
      <p:sp>
        <p:nvSpPr>
          <p:cNvPr id="20782" name="Rectangle 20781">
            <a:extLst>
              <a:ext uri="{FF2B5EF4-FFF2-40B4-BE49-F238E27FC236}">
                <a16:creationId xmlns:a16="http://schemas.microsoft.com/office/drawing/2014/main" id="{7C61632B-13FE-8B94-3E54-38CCF7D559FB}"/>
              </a:ext>
            </a:extLst>
          </p:cNvPr>
          <p:cNvSpPr/>
          <p:nvPr/>
        </p:nvSpPr>
        <p:spPr>
          <a:xfrm>
            <a:off x="3250000" y="635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919" name="Rectangle 20918">
            <a:extLst>
              <a:ext uri="{FF2B5EF4-FFF2-40B4-BE49-F238E27FC236}">
                <a16:creationId xmlns:a16="http://schemas.microsoft.com/office/drawing/2014/main" id="{FB7E0CBC-F163-67AF-F3DE-D37B01DB38CB}"/>
              </a:ext>
            </a:extLst>
          </p:cNvPr>
          <p:cNvSpPr/>
          <p:nvPr/>
        </p:nvSpPr>
        <p:spPr>
          <a:xfrm>
            <a:off x="3385000" y="635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057" name="Rectangle 21056">
            <a:extLst>
              <a:ext uri="{FF2B5EF4-FFF2-40B4-BE49-F238E27FC236}">
                <a16:creationId xmlns:a16="http://schemas.microsoft.com/office/drawing/2014/main" id="{0E5E1948-E0B8-CA30-FC0D-65CD2B9A41FB}"/>
              </a:ext>
            </a:extLst>
          </p:cNvPr>
          <p:cNvSpPr/>
          <p:nvPr/>
        </p:nvSpPr>
        <p:spPr>
          <a:xfrm>
            <a:off x="3520000" y="6359000"/>
            <a:ext cx="80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196" name="Rectangle 21195">
            <a:extLst>
              <a:ext uri="{FF2B5EF4-FFF2-40B4-BE49-F238E27FC236}">
                <a16:creationId xmlns:a16="http://schemas.microsoft.com/office/drawing/2014/main" id="{FB78520B-A10E-62DE-7123-B4F7CE8D5E4D}"/>
              </a:ext>
            </a:extLst>
          </p:cNvPr>
          <p:cNvSpPr/>
          <p:nvPr/>
        </p:nvSpPr>
        <p:spPr>
          <a:xfrm>
            <a:off x="3655000" y="6359000"/>
            <a:ext cx="15000" cy="22000"/>
          </a:xfrm>
          <a:prstGeom prst="rect">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336" name="Isosceles Triangle 21335">
            <a:extLst>
              <a:ext uri="{FF2B5EF4-FFF2-40B4-BE49-F238E27FC236}">
                <a16:creationId xmlns:a16="http://schemas.microsoft.com/office/drawing/2014/main" id="{B3C59681-7972-8548-6D19-7A18C0F0B727}"/>
              </a:ext>
            </a:extLst>
          </p:cNvPr>
          <p:cNvSpPr/>
          <p:nvPr/>
        </p:nvSpPr>
        <p:spPr>
          <a:xfrm rot="5400000">
            <a:off x="3660000" y="6315000"/>
            <a:ext cx="110000" cy="110000"/>
          </a:xfrm>
          <a:prstGeom prst="triangle">
            <a:avLst/>
          </a:prstGeom>
          <a:solidFill>
            <a:srgbClr val="6B7A90"/>
          </a:solidFill>
          <a:ln w="3175">
            <a:solidFill>
              <a:srgbClr val="6B7A9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477" name="Rectangle 21476">
            <a:extLst>
              <a:ext uri="{FF2B5EF4-FFF2-40B4-BE49-F238E27FC236}">
                <a16:creationId xmlns:a16="http://schemas.microsoft.com/office/drawing/2014/main" id="{C1CC3588-AB7E-FA75-1D78-3044C4276196}"/>
              </a:ext>
            </a:extLst>
          </p:cNvPr>
          <p:cNvSpPr/>
          <p:nvPr/>
        </p:nvSpPr>
        <p:spPr>
          <a:xfrm>
            <a:off x="3830000" y="6220000"/>
            <a:ext cx="15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Batch / reference</a:t>
            </a:r>
          </a:p>
          <a:p>
            <a:pPr algn="l">
              <a:buNone/>
            </a:pPr>
            <a:r>
              <a:rPr lang="en-US" sz="100">
                <a:effectLst/>
              </a:rPr>
              <a:t> </a:t>
            </a:r>
            <a:endParaRPr lang="en-US"/>
          </a:p>
        </p:txBody>
      </p:sp>
      <p:sp>
        <p:nvSpPr>
          <p:cNvPr id="21619" name="Rectangle 21618">
            <a:extLst>
              <a:ext uri="{FF2B5EF4-FFF2-40B4-BE49-F238E27FC236}">
                <a16:creationId xmlns:a16="http://schemas.microsoft.com/office/drawing/2014/main" id="{DECE22D5-51D2-6AC6-FF8C-02B3BC5EEABC}"/>
              </a:ext>
            </a:extLst>
          </p:cNvPr>
          <p:cNvSpPr/>
          <p:nvPr/>
        </p:nvSpPr>
        <p:spPr>
          <a:xfrm>
            <a:off x="5150000" y="635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62" name="Rectangle 21761">
            <a:extLst>
              <a:ext uri="{FF2B5EF4-FFF2-40B4-BE49-F238E27FC236}">
                <a16:creationId xmlns:a16="http://schemas.microsoft.com/office/drawing/2014/main" id="{4121C200-95C1-4A85-E638-0C51E3B798FA}"/>
              </a:ext>
            </a:extLst>
          </p:cNvPr>
          <p:cNvSpPr/>
          <p:nvPr/>
        </p:nvSpPr>
        <p:spPr>
          <a:xfrm>
            <a:off x="5220000" y="635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06" name="Rectangle 21905">
            <a:extLst>
              <a:ext uri="{FF2B5EF4-FFF2-40B4-BE49-F238E27FC236}">
                <a16:creationId xmlns:a16="http://schemas.microsoft.com/office/drawing/2014/main" id="{362D83BD-D3D3-E1EC-A021-883EFB87160D}"/>
              </a:ext>
            </a:extLst>
          </p:cNvPr>
          <p:cNvSpPr/>
          <p:nvPr/>
        </p:nvSpPr>
        <p:spPr>
          <a:xfrm>
            <a:off x="5290000" y="635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51" name="Rectangle 22050">
            <a:extLst>
              <a:ext uri="{FF2B5EF4-FFF2-40B4-BE49-F238E27FC236}">
                <a16:creationId xmlns:a16="http://schemas.microsoft.com/office/drawing/2014/main" id="{DCF5CF30-9517-5DCA-9E04-8B8713231F6A}"/>
              </a:ext>
            </a:extLst>
          </p:cNvPr>
          <p:cNvSpPr/>
          <p:nvPr/>
        </p:nvSpPr>
        <p:spPr>
          <a:xfrm>
            <a:off x="5360000" y="635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97" name="Rectangle 22196">
            <a:extLst>
              <a:ext uri="{FF2B5EF4-FFF2-40B4-BE49-F238E27FC236}">
                <a16:creationId xmlns:a16="http://schemas.microsoft.com/office/drawing/2014/main" id="{21083C66-D6E5-BD4B-3D7D-D828922CE559}"/>
              </a:ext>
            </a:extLst>
          </p:cNvPr>
          <p:cNvSpPr/>
          <p:nvPr/>
        </p:nvSpPr>
        <p:spPr>
          <a:xfrm>
            <a:off x="5430000" y="635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344" name="Rectangle 22343">
            <a:extLst>
              <a:ext uri="{FF2B5EF4-FFF2-40B4-BE49-F238E27FC236}">
                <a16:creationId xmlns:a16="http://schemas.microsoft.com/office/drawing/2014/main" id="{FB705C65-E8E4-5CF0-C26F-4A9718E573D7}"/>
              </a:ext>
            </a:extLst>
          </p:cNvPr>
          <p:cNvSpPr/>
          <p:nvPr/>
        </p:nvSpPr>
        <p:spPr>
          <a:xfrm>
            <a:off x="5500000" y="6359000"/>
            <a:ext cx="30000" cy="22000"/>
          </a:xfrm>
          <a:prstGeom prst="rect">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492" name="Isosceles Triangle 22491">
            <a:extLst>
              <a:ext uri="{FF2B5EF4-FFF2-40B4-BE49-F238E27FC236}">
                <a16:creationId xmlns:a16="http://schemas.microsoft.com/office/drawing/2014/main" id="{50830640-E1D7-A952-59A3-4C049BF328E8}"/>
              </a:ext>
            </a:extLst>
          </p:cNvPr>
          <p:cNvSpPr/>
          <p:nvPr/>
        </p:nvSpPr>
        <p:spPr>
          <a:xfrm rot="5400000">
            <a:off x="5560000" y="6315000"/>
            <a:ext cx="110000" cy="110000"/>
          </a:xfrm>
          <a:prstGeom prst="triangle">
            <a:avLst/>
          </a:prstGeom>
          <a:solidFill>
            <a:srgbClr val="117865"/>
          </a:solidFill>
          <a:ln w="31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41" name="Rectangle 22640">
            <a:extLst>
              <a:ext uri="{FF2B5EF4-FFF2-40B4-BE49-F238E27FC236}">
                <a16:creationId xmlns:a16="http://schemas.microsoft.com/office/drawing/2014/main" id="{EB0C30A2-75DE-FA71-F38E-5DA1347711A0}"/>
              </a:ext>
            </a:extLst>
          </p:cNvPr>
          <p:cNvSpPr/>
          <p:nvPr/>
        </p:nvSpPr>
        <p:spPr>
          <a:xfrm>
            <a:off x="5730000" y="6220000"/>
            <a:ext cx="15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AI / query calls</a:t>
            </a:r>
          </a:p>
          <a:p>
            <a:pPr algn="l">
              <a:buNone/>
            </a:pPr>
            <a:r>
              <a:rPr lang="en-US" sz="100">
                <a:effectLst/>
              </a:rPr>
              <a:t> </a:t>
            </a:r>
            <a:endParaRPr lang="en-US"/>
          </a:p>
        </p:txBody>
      </p:sp>
      <p:sp>
        <p:nvSpPr>
          <p:cNvPr id="22791" name="Rectangle 22790">
            <a:extLst>
              <a:ext uri="{FF2B5EF4-FFF2-40B4-BE49-F238E27FC236}">
                <a16:creationId xmlns:a16="http://schemas.microsoft.com/office/drawing/2014/main" id="{C8832E9C-9038-BE40-54C9-4F7ADB510EF3}"/>
              </a:ext>
            </a:extLst>
          </p:cNvPr>
          <p:cNvSpPr/>
          <p:nvPr/>
        </p:nvSpPr>
        <p:spPr>
          <a:xfrm>
            <a:off x="7050000" y="6280000"/>
            <a:ext cx="260000" cy="180000"/>
          </a:xfrm>
          <a:prstGeom prst="rect">
            <a:avLst/>
          </a:prstGeom>
          <a:solidFill>
            <a:srgbClr val="FFFFFF"/>
          </a:solidFill>
          <a:ln w="15875">
            <a:solidFill>
              <a:srgbClr val="8A99A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42" name="Rectangle 22941">
            <a:extLst>
              <a:ext uri="{FF2B5EF4-FFF2-40B4-BE49-F238E27FC236}">
                <a16:creationId xmlns:a16="http://schemas.microsoft.com/office/drawing/2014/main" id="{C9F9D03D-0ED5-8B8A-080F-764E8D761AEC}"/>
              </a:ext>
            </a:extLst>
          </p:cNvPr>
          <p:cNvSpPr/>
          <p:nvPr/>
        </p:nvSpPr>
        <p:spPr>
          <a:xfrm>
            <a:off x="7350000" y="6220000"/>
            <a:ext cx="13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External source</a:t>
            </a:r>
          </a:p>
          <a:p>
            <a:pPr algn="l">
              <a:buNone/>
            </a:pPr>
            <a:r>
              <a:rPr lang="en-US" sz="100">
                <a:effectLst/>
              </a:rPr>
              <a:t> </a:t>
            </a:r>
            <a:endParaRPr lang="en-US"/>
          </a:p>
        </p:txBody>
      </p:sp>
      <p:sp>
        <p:nvSpPr>
          <p:cNvPr id="23094" name="Rectangle 23093">
            <a:extLst>
              <a:ext uri="{FF2B5EF4-FFF2-40B4-BE49-F238E27FC236}">
                <a16:creationId xmlns:a16="http://schemas.microsoft.com/office/drawing/2014/main" id="{500B352B-1FDD-1A7D-5EBA-8ACC3697DB1B}"/>
              </a:ext>
            </a:extLst>
          </p:cNvPr>
          <p:cNvSpPr/>
          <p:nvPr/>
        </p:nvSpPr>
        <p:spPr>
          <a:xfrm>
            <a:off x="8550000" y="6280000"/>
            <a:ext cx="260000" cy="180000"/>
          </a:xfrm>
          <a:prstGeom prst="rect">
            <a:avLst/>
          </a:prstGeom>
          <a:solidFill>
            <a:srgbClr val="FFFFFF"/>
          </a:solidFill>
          <a:ln w="15875">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47" name="Rectangle 23246">
            <a:extLst>
              <a:ext uri="{FF2B5EF4-FFF2-40B4-BE49-F238E27FC236}">
                <a16:creationId xmlns:a16="http://schemas.microsoft.com/office/drawing/2014/main" id="{81BC3710-17EA-7D76-2E90-176ED1C62A7B}"/>
              </a:ext>
            </a:extLst>
          </p:cNvPr>
          <p:cNvSpPr/>
          <p:nvPr/>
        </p:nvSpPr>
        <p:spPr>
          <a:xfrm>
            <a:off x="8850000" y="6220000"/>
            <a:ext cx="13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Azure service</a:t>
            </a:r>
          </a:p>
          <a:p>
            <a:pPr algn="l">
              <a:buNone/>
            </a:pPr>
            <a:r>
              <a:rPr lang="en-US" sz="100">
                <a:effectLst/>
              </a:rPr>
              <a:t> </a:t>
            </a:r>
            <a:endParaRPr lang="en-US"/>
          </a:p>
        </p:txBody>
      </p:sp>
      <p:sp>
        <p:nvSpPr>
          <p:cNvPr id="23401" name="Rectangle 23400">
            <a:extLst>
              <a:ext uri="{FF2B5EF4-FFF2-40B4-BE49-F238E27FC236}">
                <a16:creationId xmlns:a16="http://schemas.microsoft.com/office/drawing/2014/main" id="{5B1BF763-C935-F795-A4CF-B13A90A5AF78}"/>
              </a:ext>
            </a:extLst>
          </p:cNvPr>
          <p:cNvSpPr/>
          <p:nvPr/>
        </p:nvSpPr>
        <p:spPr>
          <a:xfrm>
            <a:off x="10050000" y="6280000"/>
            <a:ext cx="260000" cy="180000"/>
          </a:xfrm>
          <a:prstGeom prst="rect">
            <a:avLst/>
          </a:prstGeom>
          <a:solidFill>
            <a:srgbClr val="FFFFFF"/>
          </a:solidFill>
          <a:ln w="15875">
            <a:solidFill>
              <a:srgbClr val="11786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56" name="Rectangle 23555">
            <a:extLst>
              <a:ext uri="{FF2B5EF4-FFF2-40B4-BE49-F238E27FC236}">
                <a16:creationId xmlns:a16="http://schemas.microsoft.com/office/drawing/2014/main" id="{6364CF9F-6793-925B-0034-EF56AD00F21D}"/>
              </a:ext>
            </a:extLst>
          </p:cNvPr>
          <p:cNvSpPr/>
          <p:nvPr/>
        </p:nvSpPr>
        <p:spPr>
          <a:xfrm>
            <a:off x="10350000" y="6220000"/>
            <a:ext cx="13000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3D4F66"/>
                </a:solidFill>
                <a:effectLst/>
                <a:latin typeface="Calibri" panose="020F0502020204030204" pitchFamily="34" charset="0"/>
              </a:rPr>
              <a:t>Fabric item</a:t>
            </a:r>
          </a:p>
          <a:p>
            <a:pPr algn="l">
              <a:buNone/>
            </a:pPr>
            <a:r>
              <a:rPr lang="en-US" sz="100">
                <a:effectLst/>
              </a:rPr>
              <a:t> </a:t>
            </a:r>
            <a:endParaRPr lang="en-US"/>
          </a:p>
        </p:txBody>
      </p:sp>
    </p:spTree>
    <p:extLst>
      <p:ext uri="{BB962C8B-B14F-4D97-AF65-F5344CB8AC3E}">
        <p14:creationId xmlns:p14="http://schemas.microsoft.com/office/powerpoint/2010/main" val="817819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3222" name="Rectangle 33221">
            <a:extLst>
              <a:ext uri="{FF2B5EF4-FFF2-40B4-BE49-F238E27FC236}">
                <a16:creationId xmlns:a16="http://schemas.microsoft.com/office/drawing/2014/main" id="{4AEDFDEF-5CBF-EAE7-0354-922B38CB1265}"/>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06 · KQL TRANSFORMATIONS · 40 MIN</a:t>
            </a:r>
          </a:p>
          <a:p>
            <a:pPr algn="l">
              <a:buNone/>
            </a:pPr>
            <a:r>
              <a:rPr lang="en-US" sz="100">
                <a:effectLst/>
              </a:rPr>
              <a:t> </a:t>
            </a:r>
            <a:endParaRPr lang="en-US"/>
          </a:p>
        </p:txBody>
      </p:sp>
      <p:sp>
        <p:nvSpPr>
          <p:cNvPr id="33246" name="Rectangle 33245">
            <a:extLst>
              <a:ext uri="{FF2B5EF4-FFF2-40B4-BE49-F238E27FC236}">
                <a16:creationId xmlns:a16="http://schemas.microsoft.com/office/drawing/2014/main" id="{CAA513C1-78DF-0535-96C9-3A8E1C7B2AFB}"/>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Shape the stream into answers</a:t>
            </a:r>
          </a:p>
          <a:p>
            <a:pPr algn="l">
              <a:buNone/>
            </a:pPr>
            <a:r>
              <a:rPr lang="en-US" sz="100">
                <a:effectLst/>
              </a:rPr>
              <a:t> </a:t>
            </a:r>
            <a:endParaRPr lang="en-US"/>
          </a:p>
        </p:txBody>
      </p:sp>
      <p:sp>
        <p:nvSpPr>
          <p:cNvPr id="33271" name="Rectangle 33270">
            <a:extLst>
              <a:ext uri="{FF2B5EF4-FFF2-40B4-BE49-F238E27FC236}">
                <a16:creationId xmlns:a16="http://schemas.microsoft.com/office/drawing/2014/main" id="{62BA3465-A9D4-DB23-3F97-611E23834324}"/>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297" name="Rectangle 33296">
            <a:extLst>
              <a:ext uri="{FF2B5EF4-FFF2-40B4-BE49-F238E27FC236}">
                <a16:creationId xmlns:a16="http://schemas.microsoft.com/office/drawing/2014/main" id="{7F06B81B-70F8-8F6D-2799-456081681558}"/>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3324" name="Rectangle 33323">
            <a:extLst>
              <a:ext uri="{FF2B5EF4-FFF2-40B4-BE49-F238E27FC236}">
                <a16:creationId xmlns:a16="http://schemas.microsoft.com/office/drawing/2014/main" id="{93A15FBA-AF05-A5EB-F353-CB216451BFAB}"/>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3352" name="Rectangle 33351">
            <a:extLst>
              <a:ext uri="{FF2B5EF4-FFF2-40B4-BE49-F238E27FC236}">
                <a16:creationId xmlns:a16="http://schemas.microsoft.com/office/drawing/2014/main" id="{5EE37159-AEB2-ECA5-8280-B13F73C493C0}"/>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Run apply_kql.py: tables, update policies, views and functions.</a:t>
            </a:r>
          </a:p>
          <a:p>
            <a:pPr algn="l">
              <a:buNone/>
            </a:pPr>
            <a:r>
              <a:rPr lang="en-US" sz="100">
                <a:effectLst/>
              </a:rPr>
              <a:t> </a:t>
            </a:r>
            <a:endParaRPr lang="en-US"/>
          </a:p>
        </p:txBody>
      </p:sp>
      <p:sp>
        <p:nvSpPr>
          <p:cNvPr id="33381" name="Rectangle 33380">
            <a:extLst>
              <a:ext uri="{FF2B5EF4-FFF2-40B4-BE49-F238E27FC236}">
                <a16:creationId xmlns:a16="http://schemas.microsoft.com/office/drawing/2014/main" id="{D3467068-F950-71A9-E383-F98D9A32ED84}"/>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3411" name="Rectangle 33410">
            <a:extLst>
              <a:ext uri="{FF2B5EF4-FFF2-40B4-BE49-F238E27FC236}">
                <a16:creationId xmlns:a16="http://schemas.microsoft.com/office/drawing/2014/main" id="{BEC3AA0A-4390-7D13-E690-C1331ECB25DB}"/>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Check new rows reach TrustMovements within seconds.</a:t>
            </a:r>
          </a:p>
          <a:p>
            <a:pPr algn="l">
              <a:buNone/>
            </a:pPr>
            <a:r>
              <a:rPr lang="en-US" sz="100">
                <a:effectLst/>
              </a:rPr>
              <a:t> </a:t>
            </a:r>
            <a:endParaRPr lang="en-US"/>
          </a:p>
        </p:txBody>
      </p:sp>
      <p:sp>
        <p:nvSpPr>
          <p:cNvPr id="33442" name="Rectangle 33441">
            <a:extLst>
              <a:ext uri="{FF2B5EF4-FFF2-40B4-BE49-F238E27FC236}">
                <a16:creationId xmlns:a16="http://schemas.microsoft.com/office/drawing/2014/main" id="{5306348B-9091-53F3-87BE-B698FD9E7C29}"/>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3474" name="Rectangle 33473">
            <a:extLst>
              <a:ext uri="{FF2B5EF4-FFF2-40B4-BE49-F238E27FC236}">
                <a16:creationId xmlns:a16="http://schemas.microsoft.com/office/drawing/2014/main" id="{F1792EF3-358B-D1C5-6792-CE2C0F7C655A}"/>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Query TrainLatest for the newest report per train.</a:t>
            </a:r>
          </a:p>
          <a:p>
            <a:pPr algn="l">
              <a:buNone/>
            </a:pPr>
            <a:r>
              <a:rPr lang="en-US" sz="100">
                <a:effectLst/>
              </a:rPr>
              <a:t> </a:t>
            </a:r>
            <a:endParaRPr lang="en-US"/>
          </a:p>
        </p:txBody>
      </p:sp>
      <p:sp>
        <p:nvSpPr>
          <p:cNvPr id="33507" name="Rectangle 33506">
            <a:extLst>
              <a:ext uri="{FF2B5EF4-FFF2-40B4-BE49-F238E27FC236}">
                <a16:creationId xmlns:a16="http://schemas.microsoft.com/office/drawing/2014/main" id="{2AFA6964-2A3C-B752-26A2-44C0BE83E4C2}"/>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33541" name="Rectangle 33540">
            <a:extLst>
              <a:ext uri="{FF2B5EF4-FFF2-40B4-BE49-F238E27FC236}">
                <a16:creationId xmlns:a16="http://schemas.microsoft.com/office/drawing/2014/main" id="{F73E2BFD-3614-B6A4-D4EC-3B55AB120EBF}"/>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Use the functions: NetworkSnapshot, LateTrains, StationBoard.</a:t>
            </a:r>
          </a:p>
          <a:p>
            <a:pPr algn="l">
              <a:buNone/>
            </a:pPr>
            <a:r>
              <a:rPr lang="en-US" sz="100">
                <a:effectLst/>
              </a:rPr>
              <a:t> </a:t>
            </a:r>
            <a:endParaRPr lang="en-US"/>
          </a:p>
        </p:txBody>
      </p:sp>
      <p:sp>
        <p:nvSpPr>
          <p:cNvPr id="33576" name="Rectangle 33575">
            <a:extLst>
              <a:ext uri="{FF2B5EF4-FFF2-40B4-BE49-F238E27FC236}">
                <a16:creationId xmlns:a16="http://schemas.microsoft.com/office/drawing/2014/main" id="{41803B45-FD8D-AC55-BE58-D740D4D83472}"/>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Run it before data flows. Every command is safe to re-run after changes.</a:t>
            </a:r>
            <a:endParaRPr lang="en-US"/>
          </a:p>
        </p:txBody>
      </p:sp>
      <p:sp>
        <p:nvSpPr>
          <p:cNvPr id="33612" name="Rectangle 33611">
            <a:extLst>
              <a:ext uri="{FF2B5EF4-FFF2-40B4-BE49-F238E27FC236}">
                <a16:creationId xmlns:a16="http://schemas.microsoft.com/office/drawing/2014/main" id="{C55E649B-7A66-8264-2181-69333F2DCB73}"/>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docs/labs/06-kql-transformations.md · fabric/kql/</a:t>
            </a:r>
          </a:p>
          <a:p>
            <a:pPr algn="l">
              <a:buNone/>
            </a:pPr>
            <a:r>
              <a:rPr lang="en-US" sz="100">
                <a:effectLst/>
              </a:rPr>
              <a:t> </a:t>
            </a:r>
            <a:endParaRPr lang="en-US"/>
          </a:p>
        </p:txBody>
      </p:sp>
      <p:sp>
        <p:nvSpPr>
          <p:cNvPr id="33649" name="Rectangle 33648">
            <a:extLst>
              <a:ext uri="{FF2B5EF4-FFF2-40B4-BE49-F238E27FC236}">
                <a16:creationId xmlns:a16="http://schemas.microsoft.com/office/drawing/2014/main" id="{57EEFDDF-787D-4BC2-9F1F-6CEFB647A2C0}"/>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33687" name="Rectangle 33686">
            <a:extLst>
              <a:ext uri="{FF2B5EF4-FFF2-40B4-BE49-F238E27FC236}">
                <a16:creationId xmlns:a16="http://schemas.microsoft.com/office/drawing/2014/main" id="{7DB80C17-B33F-04CF-B5AF-12A48BE61643}"/>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Materialized views keep the latest state</a:t>
            </a:r>
          </a:p>
          <a:p>
            <a:pPr algn="l">
              <a:buNone/>
            </a:pPr>
            <a:r>
              <a:rPr lang="en-US" sz="100">
                <a:effectLst/>
              </a:rPr>
              <a:t> </a:t>
            </a:r>
            <a:endParaRPr lang="en-US"/>
          </a:p>
        </p:txBody>
      </p:sp>
      <p:sp>
        <p:nvSpPr>
          <p:cNvPr id="33726" name="Rectangle 33725">
            <a:extLst>
              <a:ext uri="{FF2B5EF4-FFF2-40B4-BE49-F238E27FC236}">
                <a16:creationId xmlns:a16="http://schemas.microsoft.com/office/drawing/2014/main" id="{EDF7F8FE-A5B1-3E9D-39A6-B1C749B8C05C}"/>
              </a:ext>
            </a:extLst>
          </p:cNvPr>
          <p:cNvSpPr/>
          <p:nvPr/>
        </p:nvSpPr>
        <p:spPr>
          <a:xfrm>
            <a:off x="5900000" y="2260000"/>
            <a:ext cx="5834800" cy="1125840"/>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E6EBF1"/>
                </a:solidFill>
                <a:effectLst/>
                <a:latin typeface="Courier New" panose="02070309020205020404" pitchFamily="49" charset="0"/>
              </a:rPr>
              <a:t>.create ifnotexists materialized-view</a:t>
            </a:r>
          </a:p>
          <a:p>
            <a:pPr algn="l">
              <a:buNone/>
            </a:pPr>
            <a:r>
              <a:rPr lang="en-US" sz="1200">
                <a:solidFill>
                  <a:srgbClr val="E6EBF1"/>
                </a:solidFill>
                <a:effectLst/>
                <a:latin typeface="Courier New" panose="02070309020205020404" pitchFamily="49" charset="0"/>
              </a:rPr>
              <a:t>  TrainLatest on table TrustMovements {</a:t>
            </a:r>
          </a:p>
          <a:p>
            <a:pPr algn="l">
              <a:buNone/>
            </a:pPr>
            <a:r>
              <a:rPr lang="en-US" sz="1200">
                <a:solidFill>
                  <a:srgbClr val="E6EBF1"/>
                </a:solidFill>
                <a:effectLst/>
                <a:latin typeface="Courier New" panose="02070309020205020404" pitchFamily="49" charset="0"/>
              </a:rPr>
              <a:t>    TrustMovements</a:t>
            </a:r>
          </a:p>
          <a:p>
            <a:pPr algn="l">
              <a:buNone/>
            </a:pPr>
            <a:r>
              <a:rPr lang="en-US" sz="1200">
                <a:solidFill>
                  <a:srgbClr val="E6EBF1"/>
                </a:solidFill>
                <a:effectLst/>
                <a:latin typeface="Courier New" panose="02070309020205020404" pitchFamily="49" charset="0"/>
              </a:rPr>
              <a:t>    | summarize arg_max(event_time, *)</a:t>
            </a:r>
          </a:p>
          <a:p>
            <a:pPr algn="l">
              <a:buNone/>
            </a:pPr>
            <a:r>
              <a:rPr lang="en-US" sz="1200">
                <a:solidFill>
                  <a:srgbClr val="E6EBF1"/>
                </a:solidFill>
                <a:effectLst/>
                <a:latin typeface="Courier New" panose="02070309020205020404" pitchFamily="49" charset="0"/>
              </a:rPr>
              <a:t>        by train_id }</a:t>
            </a:r>
            <a:endParaRPr lang="en-US"/>
          </a:p>
        </p:txBody>
      </p:sp>
      <p:sp>
        <p:nvSpPr>
          <p:cNvPr id="33766" name="Rectangle 33765">
            <a:extLst>
              <a:ext uri="{FF2B5EF4-FFF2-40B4-BE49-F238E27FC236}">
                <a16:creationId xmlns:a16="http://schemas.microsoft.com/office/drawing/2014/main" id="{58D18C2F-5DAC-C5FB-2E06-A81341D4374A}"/>
              </a:ext>
            </a:extLst>
          </p:cNvPr>
          <p:cNvSpPr/>
          <p:nvPr/>
        </p:nvSpPr>
        <p:spPr>
          <a:xfrm>
            <a:off x="5900000" y="3535840"/>
            <a:ext cx="5834800"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arg_max keeps the newest row per train. Fabric maintains the view as rows arrive, so queries stay fast.</a:t>
            </a:r>
          </a:p>
          <a:p>
            <a:pPr algn="l">
              <a:buNone/>
            </a:pPr>
            <a:r>
              <a:rPr lang="en-US" sz="100">
                <a:effectLst/>
              </a:rPr>
              <a:t> </a:t>
            </a:r>
            <a:endParaRPr lang="en-US"/>
          </a:p>
        </p:txBody>
      </p:sp>
      <p:sp>
        <p:nvSpPr>
          <p:cNvPr id="33807" name="Rectangle 33806">
            <a:extLst>
              <a:ext uri="{FF2B5EF4-FFF2-40B4-BE49-F238E27FC236}">
                <a16:creationId xmlns:a16="http://schemas.microsoft.com/office/drawing/2014/main" id="{A120037E-8786-9428-8160-1BFA1726317C}"/>
              </a:ext>
            </a:extLst>
          </p:cNvPr>
          <p:cNvSpPr/>
          <p:nvPr/>
        </p:nvSpPr>
        <p:spPr>
          <a:xfrm>
            <a:off x="5900000" y="4174000"/>
            <a:ext cx="23500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117865"/>
                </a:solidFill>
                <a:effectLst/>
                <a:latin typeface="Courier New" panose="02070309020205020404" pitchFamily="49" charset="0"/>
              </a:rPr>
              <a:t>NetworkSnapshot(1h)</a:t>
            </a:r>
          </a:p>
          <a:p>
            <a:pPr algn="l">
              <a:buNone/>
            </a:pPr>
            <a:r>
              <a:rPr lang="en-US" sz="100">
                <a:effectLst/>
              </a:rPr>
              <a:t> </a:t>
            </a:r>
            <a:endParaRPr lang="en-US"/>
          </a:p>
        </p:txBody>
      </p:sp>
      <p:sp>
        <p:nvSpPr>
          <p:cNvPr id="33849" name="Rectangle 33848">
            <a:extLst>
              <a:ext uri="{FF2B5EF4-FFF2-40B4-BE49-F238E27FC236}">
                <a16:creationId xmlns:a16="http://schemas.microsoft.com/office/drawing/2014/main" id="{19850E8B-0896-8054-4524-9F7BE42BDD82}"/>
              </a:ext>
            </a:extLst>
          </p:cNvPr>
          <p:cNvSpPr/>
          <p:nvPr/>
        </p:nvSpPr>
        <p:spPr>
          <a:xfrm>
            <a:off x="8250000" y="4174000"/>
            <a:ext cx="34848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D4F66"/>
                </a:solidFill>
                <a:effectLst/>
                <a:latin typeface="Calibri" panose="020F0502020204030204" pitchFamily="34" charset="0"/>
              </a:rPr>
              <a:t>latest position of every train, with coordinates</a:t>
            </a:r>
          </a:p>
          <a:p>
            <a:pPr algn="l">
              <a:buNone/>
            </a:pPr>
            <a:r>
              <a:rPr lang="en-US" sz="100">
                <a:effectLst/>
              </a:rPr>
              <a:t> </a:t>
            </a:r>
            <a:endParaRPr lang="en-US"/>
          </a:p>
        </p:txBody>
      </p:sp>
      <p:sp>
        <p:nvSpPr>
          <p:cNvPr id="33892" name="Rectangle 33891">
            <a:extLst>
              <a:ext uri="{FF2B5EF4-FFF2-40B4-BE49-F238E27FC236}">
                <a16:creationId xmlns:a16="http://schemas.microsoft.com/office/drawing/2014/main" id="{64B2698F-ED0B-2608-83E0-8921BE04095E}"/>
              </a:ext>
            </a:extLst>
          </p:cNvPr>
          <p:cNvSpPr/>
          <p:nvPr/>
        </p:nvSpPr>
        <p:spPr>
          <a:xfrm>
            <a:off x="5900000" y="4504000"/>
            <a:ext cx="23500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117865"/>
                </a:solidFill>
                <a:effectLst/>
                <a:latin typeface="Courier New" panose="02070309020205020404" pitchFamily="49" charset="0"/>
              </a:rPr>
              <a:t>LateTrains(15, 2h)</a:t>
            </a:r>
          </a:p>
          <a:p>
            <a:pPr algn="l">
              <a:buNone/>
            </a:pPr>
            <a:r>
              <a:rPr lang="en-US" sz="100">
                <a:effectLst/>
              </a:rPr>
              <a:t> </a:t>
            </a:r>
            <a:endParaRPr lang="en-US"/>
          </a:p>
        </p:txBody>
      </p:sp>
      <p:sp>
        <p:nvSpPr>
          <p:cNvPr id="33936" name="Rectangle 33935">
            <a:extLst>
              <a:ext uri="{FF2B5EF4-FFF2-40B4-BE49-F238E27FC236}">
                <a16:creationId xmlns:a16="http://schemas.microsoft.com/office/drawing/2014/main" id="{CF092216-7B67-A2DF-9EAB-ED98B838B3BC}"/>
              </a:ext>
            </a:extLst>
          </p:cNvPr>
          <p:cNvSpPr/>
          <p:nvPr/>
        </p:nvSpPr>
        <p:spPr>
          <a:xfrm>
            <a:off x="8250000" y="4504000"/>
            <a:ext cx="34848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D4F66"/>
                </a:solidFill>
                <a:effectLst/>
                <a:latin typeface="Calibri" panose="020F0502020204030204" pitchFamily="34" charset="0"/>
              </a:rPr>
              <a:t>trains 15 or more minutes late</a:t>
            </a:r>
          </a:p>
          <a:p>
            <a:pPr algn="l">
              <a:buNone/>
            </a:pPr>
            <a:r>
              <a:rPr lang="en-US" sz="100">
                <a:effectLst/>
              </a:rPr>
              <a:t> </a:t>
            </a:r>
            <a:endParaRPr lang="en-US"/>
          </a:p>
        </p:txBody>
      </p:sp>
      <p:sp>
        <p:nvSpPr>
          <p:cNvPr id="33981" name="Rectangle 33980">
            <a:extLst>
              <a:ext uri="{FF2B5EF4-FFF2-40B4-BE49-F238E27FC236}">
                <a16:creationId xmlns:a16="http://schemas.microsoft.com/office/drawing/2014/main" id="{2B983C2D-A28E-6557-BB37-B72CDCC9567B}"/>
              </a:ext>
            </a:extLst>
          </p:cNvPr>
          <p:cNvSpPr/>
          <p:nvPr/>
        </p:nvSpPr>
        <p:spPr>
          <a:xfrm>
            <a:off x="5900000" y="4834000"/>
            <a:ext cx="23500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117865"/>
                </a:solidFill>
                <a:effectLst/>
                <a:latin typeface="Courier New" panose="02070309020205020404" pitchFamily="49" charset="0"/>
              </a:rPr>
              <a:t>StationBoard('LDS')</a:t>
            </a:r>
          </a:p>
          <a:p>
            <a:pPr algn="l">
              <a:buNone/>
            </a:pPr>
            <a:r>
              <a:rPr lang="en-US" sz="100">
                <a:effectLst/>
              </a:rPr>
              <a:t> </a:t>
            </a:r>
            <a:endParaRPr lang="en-US"/>
          </a:p>
        </p:txBody>
      </p:sp>
      <p:sp>
        <p:nvSpPr>
          <p:cNvPr id="34027" name="Rectangle 34026">
            <a:extLst>
              <a:ext uri="{FF2B5EF4-FFF2-40B4-BE49-F238E27FC236}">
                <a16:creationId xmlns:a16="http://schemas.microsoft.com/office/drawing/2014/main" id="{AF4DFA5E-A087-9D5A-67BA-8531813925C5}"/>
              </a:ext>
            </a:extLst>
          </p:cNvPr>
          <p:cNvSpPr/>
          <p:nvPr/>
        </p:nvSpPr>
        <p:spPr>
          <a:xfrm>
            <a:off x="8250000" y="4834000"/>
            <a:ext cx="34848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D4F66"/>
                </a:solidFill>
                <a:effectLst/>
                <a:latin typeface="Calibri" panose="020F0502020204030204" pitchFamily="34" charset="0"/>
              </a:rPr>
              <a:t>recent arrivals and departures at a station</a:t>
            </a:r>
          </a:p>
          <a:p>
            <a:pPr algn="l">
              <a:buNone/>
            </a:pPr>
            <a:r>
              <a:rPr lang="en-US" sz="100">
                <a:effectLst/>
              </a:rPr>
              <a:t> </a:t>
            </a:r>
            <a:endParaRPr lang="en-US"/>
          </a:p>
        </p:txBody>
      </p:sp>
    </p:spTree>
    <p:extLst>
      <p:ext uri="{BB962C8B-B14F-4D97-AF65-F5344CB8AC3E}">
        <p14:creationId xmlns:p14="http://schemas.microsoft.com/office/powerpoint/2010/main" val="461010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4074" name="Rectangle 34073">
            <a:extLst>
              <a:ext uri="{FF2B5EF4-FFF2-40B4-BE49-F238E27FC236}">
                <a16:creationId xmlns:a16="http://schemas.microsoft.com/office/drawing/2014/main" id="{2390BABE-A459-CB17-90E7-C4A0830A2C80}"/>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07 · ACTIVATOR ALERTS · 30 MIN</a:t>
            </a:r>
          </a:p>
          <a:p>
            <a:pPr algn="l">
              <a:buNone/>
            </a:pPr>
            <a:r>
              <a:rPr lang="en-US" sz="100">
                <a:effectLst/>
              </a:rPr>
              <a:t> </a:t>
            </a:r>
            <a:endParaRPr lang="en-US"/>
          </a:p>
        </p:txBody>
      </p:sp>
      <p:sp>
        <p:nvSpPr>
          <p:cNvPr id="34122" name="Rectangle 34121">
            <a:extLst>
              <a:ext uri="{FF2B5EF4-FFF2-40B4-BE49-F238E27FC236}">
                <a16:creationId xmlns:a16="http://schemas.microsoft.com/office/drawing/2014/main" id="{D2DE39C4-A6F8-765A-77BB-8A5569762905}"/>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Alert when the network goes wrong</a:t>
            </a:r>
          </a:p>
          <a:p>
            <a:pPr algn="l">
              <a:buNone/>
            </a:pPr>
            <a:r>
              <a:rPr lang="en-US" sz="100">
                <a:effectLst/>
              </a:rPr>
              <a:t> </a:t>
            </a:r>
            <a:endParaRPr lang="en-US"/>
          </a:p>
        </p:txBody>
      </p:sp>
      <p:sp>
        <p:nvSpPr>
          <p:cNvPr id="34171" name="Rectangle 34170">
            <a:extLst>
              <a:ext uri="{FF2B5EF4-FFF2-40B4-BE49-F238E27FC236}">
                <a16:creationId xmlns:a16="http://schemas.microsoft.com/office/drawing/2014/main" id="{13332286-1C41-111D-70A4-D23060BB73DC}"/>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221" name="Rectangle 34220">
            <a:extLst>
              <a:ext uri="{FF2B5EF4-FFF2-40B4-BE49-F238E27FC236}">
                <a16:creationId xmlns:a16="http://schemas.microsoft.com/office/drawing/2014/main" id="{F21BDAC9-F0FF-9BE5-EEF2-C943E6FEBBB8}"/>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4272" name="Rectangle 34271">
            <a:extLst>
              <a:ext uri="{FF2B5EF4-FFF2-40B4-BE49-F238E27FC236}">
                <a16:creationId xmlns:a16="http://schemas.microsoft.com/office/drawing/2014/main" id="{3C3F7917-D9FA-F2C9-F294-4902F35F915C}"/>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4324" name="Rectangle 34323">
            <a:extLst>
              <a:ext uri="{FF2B5EF4-FFF2-40B4-BE49-F238E27FC236}">
                <a16:creationId xmlns:a16="http://schemas.microsoft.com/office/drawing/2014/main" id="{2FAABC65-E44F-E8F7-5097-8DC7E869D6C1}"/>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Set an alert from a KQL queryset; it creates the Activator.</a:t>
            </a:r>
          </a:p>
          <a:p>
            <a:pPr algn="l">
              <a:buNone/>
            </a:pPr>
            <a:r>
              <a:rPr lang="en-US" sz="100">
                <a:effectLst/>
              </a:rPr>
              <a:t> </a:t>
            </a:r>
            <a:endParaRPr lang="en-US"/>
          </a:p>
        </p:txBody>
      </p:sp>
      <p:sp>
        <p:nvSpPr>
          <p:cNvPr id="34377" name="Rectangle 34376">
            <a:extLst>
              <a:ext uri="{FF2B5EF4-FFF2-40B4-BE49-F238E27FC236}">
                <a16:creationId xmlns:a16="http://schemas.microsoft.com/office/drawing/2014/main" id="{E668861E-13BC-0716-A6F2-0D265E7C1532}"/>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4431" name="Rectangle 34430">
            <a:extLst>
              <a:ext uri="{FF2B5EF4-FFF2-40B4-BE49-F238E27FC236}">
                <a16:creationId xmlns:a16="http://schemas.microsoft.com/office/drawing/2014/main" id="{8C711AEB-7610-B093-559F-CE2CFD5223E1}"/>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Filter in the query so it returns only rows worth an alert.</a:t>
            </a:r>
          </a:p>
          <a:p>
            <a:pPr algn="l">
              <a:buNone/>
            </a:pPr>
            <a:r>
              <a:rPr lang="en-US" sz="100">
                <a:effectLst/>
              </a:rPr>
              <a:t> </a:t>
            </a:r>
            <a:endParaRPr lang="en-US"/>
          </a:p>
        </p:txBody>
      </p:sp>
      <p:sp>
        <p:nvSpPr>
          <p:cNvPr id="34486" name="Rectangle 34485">
            <a:extLst>
              <a:ext uri="{FF2B5EF4-FFF2-40B4-BE49-F238E27FC236}">
                <a16:creationId xmlns:a16="http://schemas.microsoft.com/office/drawing/2014/main" id="{73F8642C-2A59-C338-5545-4558BA9BD34B}"/>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4542" name="Rectangle 34541">
            <a:extLst>
              <a:ext uri="{FF2B5EF4-FFF2-40B4-BE49-F238E27FC236}">
                <a16:creationId xmlns:a16="http://schemas.microsoft.com/office/drawing/2014/main" id="{29CC166B-5823-5626-DDC0-56E078BDD908}"/>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Run every 5 minutes, On each event, with a 5-minute window.</a:t>
            </a:r>
          </a:p>
          <a:p>
            <a:pPr algn="l">
              <a:buNone/>
            </a:pPr>
            <a:r>
              <a:rPr lang="en-US" sz="100">
                <a:effectLst/>
              </a:rPr>
              <a:t> </a:t>
            </a:r>
            <a:endParaRPr lang="en-US"/>
          </a:p>
        </p:txBody>
      </p:sp>
      <p:sp>
        <p:nvSpPr>
          <p:cNvPr id="34599" name="Rectangle 34598">
            <a:extLst>
              <a:ext uri="{FF2B5EF4-FFF2-40B4-BE49-F238E27FC236}">
                <a16:creationId xmlns:a16="http://schemas.microsoft.com/office/drawing/2014/main" id="{E1828BE2-3497-B131-98B0-DBCEADEBC8B5}"/>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34657" name="Rectangle 34656">
            <a:extLst>
              <a:ext uri="{FF2B5EF4-FFF2-40B4-BE49-F238E27FC236}">
                <a16:creationId xmlns:a16="http://schemas.microsoft.com/office/drawing/2014/main" id="{C930B13C-1535-55A3-FCDF-B348F1E0ABCC}"/>
              </a:ext>
            </a:extLst>
          </p:cNvPr>
          <p:cNvSpPr/>
          <p:nvPr/>
        </p:nvSpPr>
        <p:spPr>
          <a:xfrm>
            <a:off x="1015800" y="3764480"/>
            <a:ext cx="43628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Send to email or a Teams channel.</a:t>
            </a:r>
          </a:p>
          <a:p>
            <a:pPr algn="l">
              <a:buNone/>
            </a:pPr>
            <a:r>
              <a:rPr lang="en-US" sz="100">
                <a:effectLst/>
              </a:rPr>
              <a:t> </a:t>
            </a:r>
            <a:endParaRPr lang="en-US"/>
          </a:p>
        </p:txBody>
      </p:sp>
      <p:sp>
        <p:nvSpPr>
          <p:cNvPr id="34716" name="Rectangle 34715">
            <a:extLst>
              <a:ext uri="{FF2B5EF4-FFF2-40B4-BE49-F238E27FC236}">
                <a16:creationId xmlns:a16="http://schemas.microsoft.com/office/drawing/2014/main" id="{6D8F2BE3-1F99-807B-C922-D52ED0FF4346}"/>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Queryset alerts have no group-by: every returned row is one alert. Summarise in the query.</a:t>
            </a:r>
            <a:endParaRPr lang="en-US"/>
          </a:p>
        </p:txBody>
      </p:sp>
      <p:sp>
        <p:nvSpPr>
          <p:cNvPr id="34776" name="Rectangle 34775">
            <a:extLst>
              <a:ext uri="{FF2B5EF4-FFF2-40B4-BE49-F238E27FC236}">
                <a16:creationId xmlns:a16="http://schemas.microsoft.com/office/drawing/2014/main" id="{B1169663-34CB-FB56-A4C0-79F829ADF99C}"/>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docs/labs/07-activator-alerts.md · fabric/activator/rules.md</a:t>
            </a:r>
          </a:p>
          <a:p>
            <a:pPr algn="l">
              <a:buNone/>
            </a:pPr>
            <a:r>
              <a:rPr lang="en-US" sz="100">
                <a:effectLst/>
              </a:rPr>
              <a:t> </a:t>
            </a:r>
            <a:endParaRPr lang="en-US"/>
          </a:p>
        </p:txBody>
      </p:sp>
      <p:sp>
        <p:nvSpPr>
          <p:cNvPr id="34837" name="Rectangle 34836">
            <a:extLst>
              <a:ext uri="{FF2B5EF4-FFF2-40B4-BE49-F238E27FC236}">
                <a16:creationId xmlns:a16="http://schemas.microsoft.com/office/drawing/2014/main" id="{12C772AD-A386-8E16-7056-B8B5679EA190}"/>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34899" name="Rectangle 34898">
            <a:extLst>
              <a:ext uri="{FF2B5EF4-FFF2-40B4-BE49-F238E27FC236}">
                <a16:creationId xmlns:a16="http://schemas.microsoft.com/office/drawing/2014/main" id="{CE8D60EA-9112-0752-F47E-DD804C0E0C53}"/>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Three rules, each a query that returns rows</a:t>
            </a:r>
          </a:p>
          <a:p>
            <a:pPr algn="l">
              <a:buNone/>
            </a:pPr>
            <a:r>
              <a:rPr lang="en-US" sz="100">
                <a:effectLst/>
              </a:rPr>
              <a:t> </a:t>
            </a:r>
            <a:endParaRPr lang="en-US"/>
          </a:p>
        </p:txBody>
      </p:sp>
      <p:sp>
        <p:nvSpPr>
          <p:cNvPr id="34962" name="Rectangle 34961">
            <a:extLst>
              <a:ext uri="{FF2B5EF4-FFF2-40B4-BE49-F238E27FC236}">
                <a16:creationId xmlns:a16="http://schemas.microsoft.com/office/drawing/2014/main" id="{F9392B83-F965-E11B-1D9E-23AC6A658E7B}"/>
              </a:ext>
            </a:extLst>
          </p:cNvPr>
          <p:cNvSpPr/>
          <p:nvPr/>
        </p:nvSpPr>
        <p:spPr>
          <a:xfrm>
            <a:off x="5900000" y="226000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Rule 1 · Train 15+ minutes late</a:t>
            </a:r>
          </a:p>
          <a:p>
            <a:pPr algn="l">
              <a:buNone/>
            </a:pPr>
            <a:r>
              <a:rPr lang="en-US" sz="1200">
                <a:solidFill>
                  <a:srgbClr val="3D4F66"/>
                </a:solidFill>
                <a:effectLst/>
                <a:latin typeface="Calibri" panose="020F0502020204030204" pitchFamily="34" charset="0"/>
              </a:rPr>
              <a:t>LateTrains over the last 5 minutes: one alert per late train.</a:t>
            </a:r>
            <a:endParaRPr lang="en-US"/>
          </a:p>
        </p:txBody>
      </p:sp>
      <p:sp>
        <p:nvSpPr>
          <p:cNvPr id="35026" name="Arrow: Down 35025">
            <a:extLst>
              <a:ext uri="{FF2B5EF4-FFF2-40B4-BE49-F238E27FC236}">
                <a16:creationId xmlns:a16="http://schemas.microsoft.com/office/drawing/2014/main" id="{D650D033-A2E4-33E8-1AE3-1FEAA1A6C32C}"/>
              </a:ext>
            </a:extLst>
          </p:cNvPr>
          <p:cNvSpPr/>
          <p:nvPr/>
        </p:nvSpPr>
        <p:spPr>
          <a:xfrm>
            <a:off x="8687400" y="3002680"/>
            <a:ext cx="260000" cy="15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91" name="Rectangle 35090">
            <a:extLst>
              <a:ext uri="{FF2B5EF4-FFF2-40B4-BE49-F238E27FC236}">
                <a16:creationId xmlns:a16="http://schemas.microsoft.com/office/drawing/2014/main" id="{9866C2CD-253C-DC0E-8C95-505AC1F197EA}"/>
              </a:ext>
            </a:extLst>
          </p:cNvPr>
          <p:cNvSpPr/>
          <p:nvPr/>
        </p:nvSpPr>
        <p:spPr>
          <a:xfrm>
            <a:off x="5900000" y="3207680"/>
            <a:ext cx="5834800" cy="87056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Rule 2 · Cancellation spike</a:t>
            </a:r>
          </a:p>
          <a:p>
            <a:pPr algn="l">
              <a:buNone/>
            </a:pPr>
            <a:r>
              <a:rPr lang="en-US" sz="1200">
                <a:solidFill>
                  <a:srgbClr val="3D4F66"/>
                </a:solidFill>
                <a:effectLst/>
                <a:latin typeface="Calibri" panose="020F0502020204030204" pitchFamily="34" charset="0"/>
              </a:rPr>
              <a:t>CancellationSpike(15m, 6h): a row only when ratio ≥ 2 and 10+ cancellations.</a:t>
            </a:r>
            <a:endParaRPr lang="en-US"/>
          </a:p>
        </p:txBody>
      </p:sp>
      <p:sp>
        <p:nvSpPr>
          <p:cNvPr id="35157" name="Arrow: Down 35156">
            <a:extLst>
              <a:ext uri="{FF2B5EF4-FFF2-40B4-BE49-F238E27FC236}">
                <a16:creationId xmlns:a16="http://schemas.microsoft.com/office/drawing/2014/main" id="{CCCB2005-5C54-C66E-5746-1426D5002220}"/>
              </a:ext>
            </a:extLst>
          </p:cNvPr>
          <p:cNvSpPr/>
          <p:nvPr/>
        </p:nvSpPr>
        <p:spPr>
          <a:xfrm>
            <a:off x="8687400" y="4133240"/>
            <a:ext cx="260000" cy="15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224" name="Rectangle 35223">
            <a:extLst>
              <a:ext uri="{FF2B5EF4-FFF2-40B4-BE49-F238E27FC236}">
                <a16:creationId xmlns:a16="http://schemas.microsoft.com/office/drawing/2014/main" id="{64ACE35C-67C4-F1BE-9686-C237AE27C853}"/>
              </a:ext>
            </a:extLst>
          </p:cNvPr>
          <p:cNvSpPr/>
          <p:nvPr/>
        </p:nvSpPr>
        <p:spPr>
          <a:xfrm>
            <a:off x="5900000" y="433824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Rule 3 · Feed stalled</a:t>
            </a:r>
          </a:p>
          <a:p>
            <a:pPr algn="l">
              <a:buNone/>
            </a:pPr>
            <a:r>
              <a:rPr lang="en-US" sz="1200">
                <a:solidFill>
                  <a:srgbClr val="3D4F66"/>
                </a:solidFill>
                <a:effectLst/>
                <a:latin typeface="Calibri" panose="020F0502020204030204" pitchFamily="34" charset="0"/>
              </a:rPr>
              <a:t>RdmTrustRaw | count over 10 minutes | where Count == 0.</a:t>
            </a:r>
            <a:endParaRPr lang="en-US"/>
          </a:p>
        </p:txBody>
      </p:sp>
    </p:spTree>
    <p:extLst>
      <p:ext uri="{BB962C8B-B14F-4D97-AF65-F5344CB8AC3E}">
        <p14:creationId xmlns:p14="http://schemas.microsoft.com/office/powerpoint/2010/main" val="3787566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5292" name="Rectangle 35291">
            <a:extLst>
              <a:ext uri="{FF2B5EF4-FFF2-40B4-BE49-F238E27FC236}">
                <a16:creationId xmlns:a16="http://schemas.microsoft.com/office/drawing/2014/main" id="{DA7C51E7-F2A9-1B80-F044-337709613AFD}"/>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08 · DASHBOARD AND POWER BI · 45 MIN</a:t>
            </a:r>
          </a:p>
          <a:p>
            <a:pPr algn="l">
              <a:buNone/>
            </a:pPr>
            <a:r>
              <a:rPr lang="en-US" sz="100">
                <a:effectLst/>
              </a:rPr>
              <a:t> </a:t>
            </a:r>
            <a:endParaRPr lang="en-US"/>
          </a:p>
        </p:txBody>
      </p:sp>
      <p:sp>
        <p:nvSpPr>
          <p:cNvPr id="35361" name="Rectangle 35360">
            <a:extLst>
              <a:ext uri="{FF2B5EF4-FFF2-40B4-BE49-F238E27FC236}">
                <a16:creationId xmlns:a16="http://schemas.microsoft.com/office/drawing/2014/main" id="{9792BC25-3089-9908-152D-D83E5A41A77D}"/>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Build the live operations view</a:t>
            </a:r>
          </a:p>
          <a:p>
            <a:pPr algn="l">
              <a:buNone/>
            </a:pPr>
            <a:r>
              <a:rPr lang="en-US" sz="100">
                <a:effectLst/>
              </a:rPr>
              <a:t> </a:t>
            </a:r>
            <a:endParaRPr lang="en-US"/>
          </a:p>
        </p:txBody>
      </p:sp>
      <p:sp>
        <p:nvSpPr>
          <p:cNvPr id="35431" name="Rectangle 35430">
            <a:extLst>
              <a:ext uri="{FF2B5EF4-FFF2-40B4-BE49-F238E27FC236}">
                <a16:creationId xmlns:a16="http://schemas.microsoft.com/office/drawing/2014/main" id="{4405BEBE-09BB-CC0A-BDAE-54C83260DB45}"/>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02" name="Rectangle 35501">
            <a:extLst>
              <a:ext uri="{FF2B5EF4-FFF2-40B4-BE49-F238E27FC236}">
                <a16:creationId xmlns:a16="http://schemas.microsoft.com/office/drawing/2014/main" id="{55AF4896-67DF-31F9-C605-B1E07208830E}"/>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5574" name="Rectangle 35573">
            <a:extLst>
              <a:ext uri="{FF2B5EF4-FFF2-40B4-BE49-F238E27FC236}">
                <a16:creationId xmlns:a16="http://schemas.microsoft.com/office/drawing/2014/main" id="{9DEC532E-9C20-C1B2-4A79-F9A252E071F4}"/>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5647" name="Rectangle 35646">
            <a:extLst>
              <a:ext uri="{FF2B5EF4-FFF2-40B4-BE49-F238E27FC236}">
                <a16:creationId xmlns:a16="http://schemas.microsoft.com/office/drawing/2014/main" id="{E42FA95D-C386-CAE5-D5EB-C50FF8C8EE21}"/>
              </a:ext>
            </a:extLst>
          </p:cNvPr>
          <p:cNvSpPr/>
          <p:nvPr/>
        </p:nvSpPr>
        <p:spPr>
          <a:xfrm>
            <a:off x="1015800" y="1880000"/>
            <a:ext cx="4362800" cy="77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Create the Real-Time Dashboard from queries.kql: Network overview and Monitoring pages.</a:t>
            </a:r>
          </a:p>
          <a:p>
            <a:pPr algn="l">
              <a:buNone/>
            </a:pPr>
            <a:r>
              <a:rPr lang="en-US" sz="100">
                <a:effectLst/>
              </a:rPr>
              <a:t> </a:t>
            </a:r>
            <a:endParaRPr lang="en-US"/>
          </a:p>
        </p:txBody>
      </p:sp>
      <p:sp>
        <p:nvSpPr>
          <p:cNvPr id="35721" name="Rectangle 35720">
            <a:extLst>
              <a:ext uri="{FF2B5EF4-FFF2-40B4-BE49-F238E27FC236}">
                <a16:creationId xmlns:a16="http://schemas.microsoft.com/office/drawing/2014/main" id="{F7C4EE73-F9C8-EF1C-C709-BD9CFE58A42F}"/>
              </a:ext>
            </a:extLst>
          </p:cNvPr>
          <p:cNvSpPr/>
          <p:nvPr/>
        </p:nvSpPr>
        <p:spPr>
          <a:xfrm>
            <a:off x="685800" y="27215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5796" name="Rectangle 35795">
            <a:extLst>
              <a:ext uri="{FF2B5EF4-FFF2-40B4-BE49-F238E27FC236}">
                <a16:creationId xmlns:a16="http://schemas.microsoft.com/office/drawing/2014/main" id="{0804CF50-21BF-4627-1414-DBE6136890C4}"/>
              </a:ext>
            </a:extLst>
          </p:cNvPr>
          <p:cNvSpPr/>
          <p:nvPr/>
        </p:nvSpPr>
        <p:spPr>
          <a:xfrm>
            <a:off x="1015800" y="27215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KPI tiles: Number for counts, Gauge 0–100 for percentages.</a:t>
            </a:r>
          </a:p>
          <a:p>
            <a:pPr algn="l">
              <a:buNone/>
            </a:pPr>
            <a:r>
              <a:rPr lang="en-US" sz="100">
                <a:effectLst/>
              </a:rPr>
              <a:t> </a:t>
            </a:r>
            <a:endParaRPr lang="en-US"/>
          </a:p>
        </p:txBody>
      </p:sp>
      <p:sp>
        <p:nvSpPr>
          <p:cNvPr id="35872" name="Rectangle 35871">
            <a:extLst>
              <a:ext uri="{FF2B5EF4-FFF2-40B4-BE49-F238E27FC236}">
                <a16:creationId xmlns:a16="http://schemas.microsoft.com/office/drawing/2014/main" id="{368CFAD5-F6AE-6A0F-8C9A-A8FEF79D2D76}"/>
              </a:ext>
            </a:extLst>
          </p:cNvPr>
          <p:cNvSpPr/>
          <p:nvPr/>
        </p:nvSpPr>
        <p:spPr>
          <a:xfrm>
            <a:off x="685800" y="33496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5949" name="Rectangle 35948">
            <a:extLst>
              <a:ext uri="{FF2B5EF4-FFF2-40B4-BE49-F238E27FC236}">
                <a16:creationId xmlns:a16="http://schemas.microsoft.com/office/drawing/2014/main" id="{5FF727F6-9FB7-20D6-FF52-BAD5AD95C0C6}"/>
              </a:ext>
            </a:extLst>
          </p:cNvPr>
          <p:cNvSpPr/>
          <p:nvPr/>
        </p:nvSpPr>
        <p:spPr>
          <a:xfrm>
            <a:off x="1015800" y="33496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Add the attribution text box; auto refresh every minute.</a:t>
            </a:r>
          </a:p>
          <a:p>
            <a:pPr algn="l">
              <a:buNone/>
            </a:pPr>
            <a:r>
              <a:rPr lang="en-US" sz="100">
                <a:effectLst/>
              </a:rPr>
              <a:t> </a:t>
            </a:r>
            <a:endParaRPr lang="en-US"/>
          </a:p>
        </p:txBody>
      </p:sp>
      <p:sp>
        <p:nvSpPr>
          <p:cNvPr id="36027" name="Rectangle 36026">
            <a:extLst>
              <a:ext uri="{FF2B5EF4-FFF2-40B4-BE49-F238E27FC236}">
                <a16:creationId xmlns:a16="http://schemas.microsoft.com/office/drawing/2014/main" id="{89AC230F-AA75-9F5C-7A4F-0D7BA2CBF34F}"/>
              </a:ext>
            </a:extLst>
          </p:cNvPr>
          <p:cNvSpPr/>
          <p:nvPr/>
        </p:nvSpPr>
        <p:spPr>
          <a:xfrm>
            <a:off x="685800" y="397784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36106" name="Rectangle 36105">
            <a:extLst>
              <a:ext uri="{FF2B5EF4-FFF2-40B4-BE49-F238E27FC236}">
                <a16:creationId xmlns:a16="http://schemas.microsoft.com/office/drawing/2014/main" id="{BBBDA77B-1AD3-AFA3-1471-30C40432213F}"/>
              </a:ext>
            </a:extLst>
          </p:cNvPr>
          <p:cNvSpPr/>
          <p:nvPr/>
        </p:nvSpPr>
        <p:spPr>
          <a:xfrm>
            <a:off x="1015800" y="397784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Power BI: a DirectQuery live page and a Direct Lake history page.</a:t>
            </a:r>
          </a:p>
          <a:p>
            <a:pPr algn="l">
              <a:buNone/>
            </a:pPr>
            <a:r>
              <a:rPr lang="en-US" sz="100">
                <a:effectLst/>
              </a:rPr>
              <a:t> </a:t>
            </a:r>
            <a:endParaRPr lang="en-US"/>
          </a:p>
        </p:txBody>
      </p:sp>
      <p:sp>
        <p:nvSpPr>
          <p:cNvPr id="36186" name="Rectangle 36185">
            <a:extLst>
              <a:ext uri="{FF2B5EF4-FFF2-40B4-BE49-F238E27FC236}">
                <a16:creationId xmlns:a16="http://schemas.microsoft.com/office/drawing/2014/main" id="{005A6FCB-B02E-3530-D7D6-C5D91BC658F8}"/>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KPI tiles default the unit label to %. Turn off Show a unit label for counts.</a:t>
            </a:r>
            <a:endParaRPr lang="en-US"/>
          </a:p>
        </p:txBody>
      </p:sp>
      <p:sp>
        <p:nvSpPr>
          <p:cNvPr id="36267" name="Rectangle 36266">
            <a:extLst>
              <a:ext uri="{FF2B5EF4-FFF2-40B4-BE49-F238E27FC236}">
                <a16:creationId xmlns:a16="http://schemas.microsoft.com/office/drawing/2014/main" id="{5B9F73F0-D270-CC47-8411-E7345E6E4EF0}"/>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docs/labs/08-dashboard-powerbi.md · fabric/dashboard/queries.kql</a:t>
            </a:r>
          </a:p>
          <a:p>
            <a:pPr algn="l">
              <a:buNone/>
            </a:pPr>
            <a:r>
              <a:rPr lang="en-US" sz="100">
                <a:effectLst/>
              </a:rPr>
              <a:t> </a:t>
            </a:r>
            <a:endParaRPr lang="en-US"/>
          </a:p>
        </p:txBody>
      </p:sp>
      <p:sp>
        <p:nvSpPr>
          <p:cNvPr id="36349" name="Rectangle 36348">
            <a:extLst>
              <a:ext uri="{FF2B5EF4-FFF2-40B4-BE49-F238E27FC236}">
                <a16:creationId xmlns:a16="http://schemas.microsoft.com/office/drawing/2014/main" id="{047A0A61-E99C-A9C1-8C7D-35DE0E70DE1B}"/>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36432" name="Rectangle 36431">
            <a:extLst>
              <a:ext uri="{FF2B5EF4-FFF2-40B4-BE49-F238E27FC236}">
                <a16:creationId xmlns:a16="http://schemas.microsoft.com/office/drawing/2014/main" id="{15104F35-F619-3DF9-6E3F-D505A9DC8E10}"/>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Two refresh models, one dashboard</a:t>
            </a:r>
          </a:p>
          <a:p>
            <a:pPr algn="l">
              <a:buNone/>
            </a:pPr>
            <a:r>
              <a:rPr lang="en-US" sz="100">
                <a:effectLst/>
              </a:rPr>
              <a:t> </a:t>
            </a:r>
            <a:endParaRPr lang="en-US"/>
          </a:p>
        </p:txBody>
      </p:sp>
      <p:sp>
        <p:nvSpPr>
          <p:cNvPr id="36516" name="Rectangle 36515">
            <a:extLst>
              <a:ext uri="{FF2B5EF4-FFF2-40B4-BE49-F238E27FC236}">
                <a16:creationId xmlns:a16="http://schemas.microsoft.com/office/drawing/2014/main" id="{6F3E9165-0C8D-F1C9-B101-93DE11B49FAB}"/>
              </a:ext>
            </a:extLst>
          </p:cNvPr>
          <p:cNvSpPr/>
          <p:nvPr/>
        </p:nvSpPr>
        <p:spPr>
          <a:xfrm>
            <a:off x="5900000" y="5207907"/>
            <a:ext cx="2817400" cy="772093"/>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DirectQuery</a:t>
            </a:r>
          </a:p>
          <a:p>
            <a:pPr algn="l">
              <a:buNone/>
            </a:pPr>
            <a:r>
              <a:rPr lang="en-US" sz="1200">
                <a:solidFill>
                  <a:srgbClr val="3D4F66"/>
                </a:solidFill>
                <a:effectLst/>
                <a:latin typeface="Calibri" panose="020F0502020204030204" pitchFamily="34" charset="0"/>
              </a:rPr>
              <a:t>Queries RailKQL on every refresh: live, but each view uses capacity.</a:t>
            </a:r>
            <a:endParaRPr lang="en-US"/>
          </a:p>
        </p:txBody>
      </p:sp>
      <p:sp>
        <p:nvSpPr>
          <p:cNvPr id="36601" name="Rectangle 36600">
            <a:extLst>
              <a:ext uri="{FF2B5EF4-FFF2-40B4-BE49-F238E27FC236}">
                <a16:creationId xmlns:a16="http://schemas.microsoft.com/office/drawing/2014/main" id="{4C3030F0-CFF8-1BBB-6103-143BC7C6821E}"/>
              </a:ext>
            </a:extLst>
          </p:cNvPr>
          <p:cNvSpPr/>
          <p:nvPr/>
        </p:nvSpPr>
        <p:spPr>
          <a:xfrm>
            <a:off x="8917400" y="5207907"/>
            <a:ext cx="2817400" cy="772093"/>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Direct Lake</a:t>
            </a:r>
          </a:p>
          <a:p>
            <a:pPr algn="l">
              <a:buNone/>
            </a:pPr>
            <a:r>
              <a:rPr lang="en-US" sz="1200">
                <a:solidFill>
                  <a:srgbClr val="3D4F66"/>
                </a:solidFill>
                <a:effectLst/>
                <a:latin typeface="Calibri" panose="020F0502020204030204" pitchFamily="34" charset="0"/>
              </a:rPr>
              <a:t>Reads Delta tables in OneLake: fast history with no import.</a:t>
            </a:r>
            <a:endParaRPr lang="en-US"/>
          </a:p>
        </p:txBody>
      </p:sp>
      <p:pic>
        <p:nvPicPr>
          <p:cNvPr id="41332" name="Picture 41331" descr="The Lab 08 Real-Time Dashboard: network map, KPI tiles and most delayed trains.">
            <a:extLst>
              <a:ext uri="{FF2B5EF4-FFF2-40B4-BE49-F238E27FC236}">
                <a16:creationId xmlns:a16="http://schemas.microsoft.com/office/drawing/2014/main" id="{E85F1499-5A7E-E04E-7ADB-BEC6A717F461}"/>
              </a:ext>
            </a:extLst>
          </p:cNvPr>
          <p:cNvPicPr>
            <a:picLocks noChangeAspect="1"/>
          </p:cNvPicPr>
          <p:nvPr/>
        </p:nvPicPr>
        <p:blipFill>
          <a:blip r:embed="rId2"/>
          <a:stretch>
            <a:fillRect/>
          </a:stretch>
        </p:blipFill>
        <p:spPr>
          <a:xfrm>
            <a:off x="5900000" y="2240000"/>
            <a:ext cx="5834800" cy="2787907"/>
          </a:xfrm>
          <a:prstGeom prst="rect">
            <a:avLst/>
          </a:prstGeom>
        </p:spPr>
      </p:pic>
    </p:spTree>
    <p:extLst>
      <p:ext uri="{BB962C8B-B14F-4D97-AF65-F5344CB8AC3E}">
        <p14:creationId xmlns:p14="http://schemas.microsoft.com/office/powerpoint/2010/main" val="308507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6687" name="Rectangle 36686">
            <a:extLst>
              <a:ext uri="{FF2B5EF4-FFF2-40B4-BE49-F238E27FC236}">
                <a16:creationId xmlns:a16="http://schemas.microsoft.com/office/drawing/2014/main" id="{9E0660F7-A622-4F9C-1DE2-5A1A7EB55E52}"/>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09 · FABRIC DATA AGENT · 30 MIN</a:t>
            </a:r>
          </a:p>
          <a:p>
            <a:pPr algn="l">
              <a:buNone/>
            </a:pPr>
            <a:r>
              <a:rPr lang="en-US" sz="100">
                <a:effectLst/>
              </a:rPr>
              <a:t> </a:t>
            </a:r>
            <a:endParaRPr lang="en-US"/>
          </a:p>
        </p:txBody>
      </p:sp>
      <p:sp>
        <p:nvSpPr>
          <p:cNvPr id="36774" name="Rectangle 36773">
            <a:extLst>
              <a:ext uri="{FF2B5EF4-FFF2-40B4-BE49-F238E27FC236}">
                <a16:creationId xmlns:a16="http://schemas.microsoft.com/office/drawing/2014/main" id="{598D860E-FF01-CC21-9A77-1E650196E902}"/>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Let people ask the data in plain English</a:t>
            </a:r>
          </a:p>
          <a:p>
            <a:pPr algn="l">
              <a:buNone/>
            </a:pPr>
            <a:r>
              <a:rPr lang="en-US" sz="100">
                <a:effectLst/>
              </a:rPr>
              <a:t> </a:t>
            </a:r>
            <a:endParaRPr lang="en-US"/>
          </a:p>
        </p:txBody>
      </p:sp>
      <p:sp>
        <p:nvSpPr>
          <p:cNvPr id="36862" name="Rectangle 36861">
            <a:extLst>
              <a:ext uri="{FF2B5EF4-FFF2-40B4-BE49-F238E27FC236}">
                <a16:creationId xmlns:a16="http://schemas.microsoft.com/office/drawing/2014/main" id="{1209D541-26DB-B167-2E9D-49C63DC32774}"/>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951" name="Rectangle 36950">
            <a:extLst>
              <a:ext uri="{FF2B5EF4-FFF2-40B4-BE49-F238E27FC236}">
                <a16:creationId xmlns:a16="http://schemas.microsoft.com/office/drawing/2014/main" id="{648080FE-4577-E1A8-A461-44E9133807C4}"/>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7041" name="Rectangle 37040">
            <a:extLst>
              <a:ext uri="{FF2B5EF4-FFF2-40B4-BE49-F238E27FC236}">
                <a16:creationId xmlns:a16="http://schemas.microsoft.com/office/drawing/2014/main" id="{16F49B9D-EF92-23B2-8B1D-5B783C84800C}"/>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7132" name="Rectangle 37131">
            <a:extLst>
              <a:ext uri="{FF2B5EF4-FFF2-40B4-BE49-F238E27FC236}">
                <a16:creationId xmlns:a16="http://schemas.microsoft.com/office/drawing/2014/main" id="{664ED6BC-5377-23E4-E208-D3DAF9E98C33}"/>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Create the data agent Rail Network Analyst on RailKQL.</a:t>
            </a:r>
          </a:p>
          <a:p>
            <a:pPr algn="l">
              <a:buNone/>
            </a:pPr>
            <a:r>
              <a:rPr lang="en-US" sz="100">
                <a:effectLst/>
              </a:rPr>
              <a:t> </a:t>
            </a:r>
            <a:endParaRPr lang="en-US"/>
          </a:p>
        </p:txBody>
      </p:sp>
      <p:sp>
        <p:nvSpPr>
          <p:cNvPr id="37224" name="Rectangle 37223">
            <a:extLst>
              <a:ext uri="{FF2B5EF4-FFF2-40B4-BE49-F238E27FC236}">
                <a16:creationId xmlns:a16="http://schemas.microsoft.com/office/drawing/2014/main" id="{9BE069E0-DA0B-49B6-ED73-48BFF027FED7}"/>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7317" name="Rectangle 37316">
            <a:extLst>
              <a:ext uri="{FF2B5EF4-FFF2-40B4-BE49-F238E27FC236}">
                <a16:creationId xmlns:a16="http://schemas.microsoft.com/office/drawing/2014/main" id="{0273F138-D544-70DF-14D9-45712FE434DA}"/>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Select the parsed tables and views; leave the raw tables out.</a:t>
            </a:r>
          </a:p>
          <a:p>
            <a:pPr algn="l">
              <a:buNone/>
            </a:pPr>
            <a:r>
              <a:rPr lang="en-US" sz="100">
                <a:effectLst/>
              </a:rPr>
              <a:t> </a:t>
            </a:r>
            <a:endParaRPr lang="en-US"/>
          </a:p>
        </p:txBody>
      </p:sp>
      <p:sp>
        <p:nvSpPr>
          <p:cNvPr id="37411" name="Rectangle 37410">
            <a:extLst>
              <a:ext uri="{FF2B5EF4-FFF2-40B4-BE49-F238E27FC236}">
                <a16:creationId xmlns:a16="http://schemas.microsoft.com/office/drawing/2014/main" id="{5FE21A9A-270F-97CC-8704-A4696FB9462E}"/>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7506" name="Rectangle 37505">
            <a:extLst>
              <a:ext uri="{FF2B5EF4-FFF2-40B4-BE49-F238E27FC236}">
                <a16:creationId xmlns:a16="http://schemas.microsoft.com/office/drawing/2014/main" id="{57347ABC-C205-9C15-A829-F11EC5E98E1C}"/>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Paste the instructions and the example pairs from the .md file.</a:t>
            </a:r>
          </a:p>
          <a:p>
            <a:pPr algn="l">
              <a:buNone/>
            </a:pPr>
            <a:r>
              <a:rPr lang="en-US" sz="100">
                <a:effectLst/>
              </a:rPr>
              <a:t> </a:t>
            </a:r>
            <a:endParaRPr lang="en-US"/>
          </a:p>
        </p:txBody>
      </p:sp>
      <p:sp>
        <p:nvSpPr>
          <p:cNvPr id="37602" name="Rectangle 37601">
            <a:extLst>
              <a:ext uri="{FF2B5EF4-FFF2-40B4-BE49-F238E27FC236}">
                <a16:creationId xmlns:a16="http://schemas.microsoft.com/office/drawing/2014/main" id="{78465489-456C-ABDA-6414-1E13FECAA44C}"/>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37699" name="Rectangle 37698">
            <a:extLst>
              <a:ext uri="{FF2B5EF4-FFF2-40B4-BE49-F238E27FC236}">
                <a16:creationId xmlns:a16="http://schemas.microsoft.com/office/drawing/2014/main" id="{8DA0FE8A-334F-A813-4530-AE213EEEBC72}"/>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Publish with a clear description, then share it.</a:t>
            </a:r>
          </a:p>
          <a:p>
            <a:pPr algn="l">
              <a:buNone/>
            </a:pPr>
            <a:r>
              <a:rPr lang="en-US" sz="100">
                <a:effectLst/>
              </a:rPr>
              <a:t> </a:t>
            </a:r>
            <a:endParaRPr lang="en-US"/>
          </a:p>
        </p:txBody>
      </p:sp>
      <p:sp>
        <p:nvSpPr>
          <p:cNvPr id="37797" name="Rectangle 37796">
            <a:extLst>
              <a:ext uri="{FF2B5EF4-FFF2-40B4-BE49-F238E27FC236}">
                <a16:creationId xmlns:a16="http://schemas.microsoft.com/office/drawing/2014/main" id="{98F716F9-ECC8-8BFE-4F69-53F314D3F9F6}"/>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Examples that call custom functions fail validation and are ignored. TRUST has no destination field.</a:t>
            </a:r>
            <a:endParaRPr lang="en-US"/>
          </a:p>
        </p:txBody>
      </p:sp>
      <p:sp>
        <p:nvSpPr>
          <p:cNvPr id="37896" name="Rectangle 37895">
            <a:extLst>
              <a:ext uri="{FF2B5EF4-FFF2-40B4-BE49-F238E27FC236}">
                <a16:creationId xmlns:a16="http://schemas.microsoft.com/office/drawing/2014/main" id="{63C9A3F5-614E-5439-0AFC-9A8B8F9C89B9}"/>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docs/labs/09-fabric-data-agent.md · fabric/data-agent/</a:t>
            </a:r>
          </a:p>
          <a:p>
            <a:pPr algn="l">
              <a:buNone/>
            </a:pPr>
            <a:r>
              <a:rPr lang="en-US" sz="100">
                <a:effectLst/>
              </a:rPr>
              <a:t> </a:t>
            </a:r>
            <a:endParaRPr lang="en-US"/>
          </a:p>
        </p:txBody>
      </p:sp>
      <p:sp>
        <p:nvSpPr>
          <p:cNvPr id="37996" name="Rectangle 37995">
            <a:extLst>
              <a:ext uri="{FF2B5EF4-FFF2-40B4-BE49-F238E27FC236}">
                <a16:creationId xmlns:a16="http://schemas.microsoft.com/office/drawing/2014/main" id="{C687730D-9623-A441-C46F-BD76635939CF}"/>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38097" name="Rectangle 38096">
            <a:extLst>
              <a:ext uri="{FF2B5EF4-FFF2-40B4-BE49-F238E27FC236}">
                <a16:creationId xmlns:a16="http://schemas.microsoft.com/office/drawing/2014/main" id="{30B1CA79-2F9F-F2BC-82A8-BDE37DE2BC76}"/>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How an answer is made</a:t>
            </a:r>
          </a:p>
          <a:p>
            <a:pPr algn="l">
              <a:buNone/>
            </a:pPr>
            <a:r>
              <a:rPr lang="en-US" sz="100">
                <a:effectLst/>
              </a:rPr>
              <a:t> </a:t>
            </a:r>
            <a:endParaRPr lang="en-US"/>
          </a:p>
        </p:txBody>
      </p:sp>
      <p:sp>
        <p:nvSpPr>
          <p:cNvPr id="38199" name="Rectangle 38198">
            <a:extLst>
              <a:ext uri="{FF2B5EF4-FFF2-40B4-BE49-F238E27FC236}">
                <a16:creationId xmlns:a16="http://schemas.microsoft.com/office/drawing/2014/main" id="{27F0737F-B7DD-4A4B-3656-E216E00A7C15}"/>
              </a:ext>
            </a:extLst>
          </p:cNvPr>
          <p:cNvSpPr/>
          <p:nvPr/>
        </p:nvSpPr>
        <p:spPr>
          <a:xfrm>
            <a:off x="5900000" y="224000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Question</a:t>
            </a:r>
          </a:p>
          <a:p>
            <a:pPr algn="l">
              <a:buNone/>
            </a:pPr>
            <a:r>
              <a:rPr lang="en-US" sz="1200">
                <a:solidFill>
                  <a:srgbClr val="3D4F66"/>
                </a:solidFill>
                <a:effectLst/>
                <a:latin typeface="Calibri" panose="020F0502020204030204" pitchFamily="34" charset="0"/>
              </a:rPr>
              <a:t>Show the latest departures and arrivals at Leeds.</a:t>
            </a:r>
            <a:endParaRPr lang="en-US"/>
          </a:p>
        </p:txBody>
      </p:sp>
      <p:sp>
        <p:nvSpPr>
          <p:cNvPr id="38302" name="Arrow: Down 38301">
            <a:extLst>
              <a:ext uri="{FF2B5EF4-FFF2-40B4-BE49-F238E27FC236}">
                <a16:creationId xmlns:a16="http://schemas.microsoft.com/office/drawing/2014/main" id="{D984D335-6653-A75E-5A03-45A873E0A667}"/>
              </a:ext>
            </a:extLst>
          </p:cNvPr>
          <p:cNvSpPr/>
          <p:nvPr/>
        </p:nvSpPr>
        <p:spPr>
          <a:xfrm>
            <a:off x="8687400" y="2982680"/>
            <a:ext cx="260000" cy="14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406" name="Rectangle 38405">
            <a:extLst>
              <a:ext uri="{FF2B5EF4-FFF2-40B4-BE49-F238E27FC236}">
                <a16:creationId xmlns:a16="http://schemas.microsoft.com/office/drawing/2014/main" id="{90A228F6-9A37-3D8A-988B-7A3DD1EDDF0F}"/>
              </a:ext>
            </a:extLst>
          </p:cNvPr>
          <p:cNvSpPr/>
          <p:nvPr/>
        </p:nvSpPr>
        <p:spPr>
          <a:xfrm>
            <a:off x="5900000" y="317768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Instructions, schema and examples</a:t>
            </a:r>
          </a:p>
          <a:p>
            <a:pPr algn="l">
              <a:buNone/>
            </a:pPr>
            <a:r>
              <a:rPr lang="en-US" sz="1200">
                <a:solidFill>
                  <a:srgbClr val="3D4F66"/>
                </a:solidFill>
                <a:effectLst/>
                <a:latin typeface="Calibri" panose="020F0502020204030204" pitchFamily="34" charset="0"/>
              </a:rPr>
              <a:t>Steer which tables to use and how to write the KQL.</a:t>
            </a:r>
            <a:endParaRPr lang="en-US"/>
          </a:p>
        </p:txBody>
      </p:sp>
      <p:sp>
        <p:nvSpPr>
          <p:cNvPr id="38511" name="Arrow: Down 38510">
            <a:extLst>
              <a:ext uri="{FF2B5EF4-FFF2-40B4-BE49-F238E27FC236}">
                <a16:creationId xmlns:a16="http://schemas.microsoft.com/office/drawing/2014/main" id="{684B79F5-DBF7-0D3F-89CA-8EB7488FE6F7}"/>
              </a:ext>
            </a:extLst>
          </p:cNvPr>
          <p:cNvSpPr/>
          <p:nvPr/>
        </p:nvSpPr>
        <p:spPr>
          <a:xfrm>
            <a:off x="8687400" y="3920360"/>
            <a:ext cx="260000" cy="14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617" name="Rectangle 38616">
            <a:extLst>
              <a:ext uri="{FF2B5EF4-FFF2-40B4-BE49-F238E27FC236}">
                <a16:creationId xmlns:a16="http://schemas.microsoft.com/office/drawing/2014/main" id="{E37FE6BD-26B6-11C6-DC4B-FEF7B4B7EECD}"/>
              </a:ext>
            </a:extLst>
          </p:cNvPr>
          <p:cNvSpPr/>
          <p:nvPr/>
        </p:nvSpPr>
        <p:spPr>
          <a:xfrm>
            <a:off x="5900000" y="411536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Generated KQL runs on RailKQL</a:t>
            </a:r>
          </a:p>
          <a:p>
            <a:pPr algn="l">
              <a:buNone/>
            </a:pPr>
            <a:r>
              <a:rPr lang="en-US" sz="1200">
                <a:solidFill>
                  <a:srgbClr val="3D4F66"/>
                </a:solidFill>
                <a:effectLst/>
                <a:latin typeface="Calibri" panose="020F0502020204030204" pitchFamily="34" charset="0"/>
              </a:rPr>
              <a:t>As the signed-in user, with their permissions.</a:t>
            </a:r>
            <a:endParaRPr lang="en-US"/>
          </a:p>
        </p:txBody>
      </p:sp>
      <p:sp>
        <p:nvSpPr>
          <p:cNvPr id="38724" name="Arrow: Down 38723">
            <a:extLst>
              <a:ext uri="{FF2B5EF4-FFF2-40B4-BE49-F238E27FC236}">
                <a16:creationId xmlns:a16="http://schemas.microsoft.com/office/drawing/2014/main" id="{A672BBD8-A69B-8061-1A8D-0D9FB0C599CF}"/>
              </a:ext>
            </a:extLst>
          </p:cNvPr>
          <p:cNvSpPr/>
          <p:nvPr/>
        </p:nvSpPr>
        <p:spPr>
          <a:xfrm>
            <a:off x="8687400" y="4858040"/>
            <a:ext cx="260000" cy="14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32" name="Rectangle 38831">
            <a:extLst>
              <a:ext uri="{FF2B5EF4-FFF2-40B4-BE49-F238E27FC236}">
                <a16:creationId xmlns:a16="http://schemas.microsoft.com/office/drawing/2014/main" id="{7E9683FF-C205-B116-E854-56EBC574AB75}"/>
              </a:ext>
            </a:extLst>
          </p:cNvPr>
          <p:cNvSpPr/>
          <p:nvPr/>
        </p:nvSpPr>
        <p:spPr>
          <a:xfrm>
            <a:off x="5900000" y="505304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Answer</a:t>
            </a:r>
          </a:p>
          <a:p>
            <a:pPr algn="l">
              <a:buNone/>
            </a:pPr>
            <a:r>
              <a:rPr lang="en-US" sz="1200">
                <a:solidFill>
                  <a:srgbClr val="3D4F66"/>
                </a:solidFill>
                <a:effectLst/>
                <a:latin typeface="Calibri" panose="020F0502020204030204" pitchFamily="34" charset="0"/>
              </a:rPr>
              <a:t>A table and a summary; Show steps reveals the query.</a:t>
            </a:r>
            <a:endParaRPr lang="en-US"/>
          </a:p>
        </p:txBody>
      </p:sp>
    </p:spTree>
    <p:extLst>
      <p:ext uri="{BB962C8B-B14F-4D97-AF65-F5344CB8AC3E}">
        <p14:creationId xmlns:p14="http://schemas.microsoft.com/office/powerpoint/2010/main" val="1940873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8941" name="Rectangle 38940">
            <a:extLst>
              <a:ext uri="{FF2B5EF4-FFF2-40B4-BE49-F238E27FC236}">
                <a16:creationId xmlns:a16="http://schemas.microsoft.com/office/drawing/2014/main" id="{F9E9FDD9-1BCC-4ABC-3704-822369E559A9}"/>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10 · FOUNDRY AGENT · 30 MIN</a:t>
            </a:r>
          </a:p>
          <a:p>
            <a:pPr algn="l">
              <a:buNone/>
            </a:pPr>
            <a:r>
              <a:rPr lang="en-US" sz="100">
                <a:effectLst/>
              </a:rPr>
              <a:t> </a:t>
            </a:r>
            <a:endParaRPr lang="en-US"/>
          </a:p>
        </p:txBody>
      </p:sp>
      <p:sp>
        <p:nvSpPr>
          <p:cNvPr id="39051" name="Rectangle 39050">
            <a:extLst>
              <a:ext uri="{FF2B5EF4-FFF2-40B4-BE49-F238E27FC236}">
                <a16:creationId xmlns:a16="http://schemas.microsoft.com/office/drawing/2014/main" id="{017D9AF9-684A-037A-59E2-CEB78C5CFB87}"/>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Connect Foundry through Fabric IQ</a:t>
            </a:r>
          </a:p>
          <a:p>
            <a:pPr algn="l">
              <a:buNone/>
            </a:pPr>
            <a:r>
              <a:rPr lang="en-US" sz="100">
                <a:effectLst/>
              </a:rPr>
              <a:t> </a:t>
            </a:r>
            <a:endParaRPr lang="en-US"/>
          </a:p>
        </p:txBody>
      </p:sp>
      <p:sp>
        <p:nvSpPr>
          <p:cNvPr id="39162" name="Rectangle 39161">
            <a:extLst>
              <a:ext uri="{FF2B5EF4-FFF2-40B4-BE49-F238E27FC236}">
                <a16:creationId xmlns:a16="http://schemas.microsoft.com/office/drawing/2014/main" id="{1A107429-7C93-7713-3D82-ACC2F88D5834}"/>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74" name="Rectangle 39273">
            <a:extLst>
              <a:ext uri="{FF2B5EF4-FFF2-40B4-BE49-F238E27FC236}">
                <a16:creationId xmlns:a16="http://schemas.microsoft.com/office/drawing/2014/main" id="{1A63CED9-4228-E50C-7B76-BD59BB053BC7}"/>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39387" name="Rectangle 39386">
            <a:extLst>
              <a:ext uri="{FF2B5EF4-FFF2-40B4-BE49-F238E27FC236}">
                <a16:creationId xmlns:a16="http://schemas.microsoft.com/office/drawing/2014/main" id="{854B6691-8F32-48AF-51D0-37CF217A68FF}"/>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39501" name="Rectangle 39500">
            <a:extLst>
              <a:ext uri="{FF2B5EF4-FFF2-40B4-BE49-F238E27FC236}">
                <a16:creationId xmlns:a16="http://schemas.microsoft.com/office/drawing/2014/main" id="{6418D010-FD95-40B1-6E23-312EC0B4D6A9}"/>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Check gpt-5.4 or 5.5 is offered in your project's region, then deploy it.</a:t>
            </a:r>
          </a:p>
          <a:p>
            <a:pPr algn="l">
              <a:buNone/>
            </a:pPr>
            <a:r>
              <a:rPr lang="en-US" sz="100">
                <a:effectLst/>
              </a:rPr>
              <a:t> </a:t>
            </a:r>
            <a:endParaRPr lang="en-US"/>
          </a:p>
        </p:txBody>
      </p:sp>
      <p:sp>
        <p:nvSpPr>
          <p:cNvPr id="39616" name="Rectangle 39615">
            <a:extLst>
              <a:ext uri="{FF2B5EF4-FFF2-40B4-BE49-F238E27FC236}">
                <a16:creationId xmlns:a16="http://schemas.microsoft.com/office/drawing/2014/main" id="{B5B2F312-712B-E10C-C453-FFB98CA24A1F}"/>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39732" name="Rectangle 39731">
            <a:extLst>
              <a:ext uri="{FF2B5EF4-FFF2-40B4-BE49-F238E27FC236}">
                <a16:creationId xmlns:a16="http://schemas.microsoft.com/office/drawing/2014/main" id="{0311402F-8A49-C7B3-3125-E819B7F9FA5A}"/>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Create the agent (check the project), pick the model, turn on background mode.</a:t>
            </a:r>
          </a:p>
          <a:p>
            <a:pPr algn="l">
              <a:buNone/>
            </a:pPr>
            <a:r>
              <a:rPr lang="en-US" sz="100">
                <a:effectLst/>
              </a:rPr>
              <a:t> </a:t>
            </a:r>
            <a:endParaRPr lang="en-US"/>
          </a:p>
        </p:txBody>
      </p:sp>
      <p:sp>
        <p:nvSpPr>
          <p:cNvPr id="39849" name="Rectangle 39848">
            <a:extLst>
              <a:ext uri="{FF2B5EF4-FFF2-40B4-BE49-F238E27FC236}">
                <a16:creationId xmlns:a16="http://schemas.microsoft.com/office/drawing/2014/main" id="{502405BC-9E1C-008D-5C41-4B561E7CEC78}"/>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39967" name="Rectangle 39966">
            <a:extLst>
              <a:ext uri="{FF2B5EF4-FFF2-40B4-BE49-F238E27FC236}">
                <a16:creationId xmlns:a16="http://schemas.microsoft.com/office/drawing/2014/main" id="{B0D02B24-4678-9F7D-EB46-30941EB110B9}"/>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Add the Fabric IQ (OneLake Catalog) tool and select Rail Network Analyst.</a:t>
            </a:r>
          </a:p>
          <a:p>
            <a:pPr algn="l">
              <a:buNone/>
            </a:pPr>
            <a:r>
              <a:rPr lang="en-US" sz="100">
                <a:effectLst/>
              </a:rPr>
              <a:t> </a:t>
            </a:r>
            <a:endParaRPr lang="en-US"/>
          </a:p>
        </p:txBody>
      </p:sp>
      <p:sp>
        <p:nvSpPr>
          <p:cNvPr id="40086" name="Rectangle 40085">
            <a:extLst>
              <a:ext uri="{FF2B5EF4-FFF2-40B4-BE49-F238E27FC236}">
                <a16:creationId xmlns:a16="http://schemas.microsoft.com/office/drawing/2014/main" id="{DADBD7C3-273B-652C-8A82-08E81589304E}"/>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40206" name="Rectangle 40205">
            <a:extLst>
              <a:ext uri="{FF2B5EF4-FFF2-40B4-BE49-F238E27FC236}">
                <a16:creationId xmlns:a16="http://schemas.microsoft.com/office/drawing/2014/main" id="{51716D6A-C674-5303-312C-F66A9920191E}"/>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Paste the instructions; record the endpoint, model and agent name in .env.</a:t>
            </a:r>
          </a:p>
          <a:p>
            <a:pPr algn="l">
              <a:buNone/>
            </a:pPr>
            <a:r>
              <a:rPr lang="en-US" sz="100">
                <a:effectLst/>
              </a:rPr>
              <a:t> </a:t>
            </a:r>
            <a:endParaRPr lang="en-US"/>
          </a:p>
        </p:txBody>
      </p:sp>
      <p:sp>
        <p:nvSpPr>
          <p:cNvPr id="40327" name="Rectangle 40326">
            <a:extLst>
              <a:ext uri="{FF2B5EF4-FFF2-40B4-BE49-F238E27FC236}">
                <a16:creationId xmlns:a16="http://schemas.microsoft.com/office/drawing/2014/main" id="{CDD5838F-AB4D-8011-9647-A69A30737985}"/>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The older Fabric data agent tool retires on 6 November 2026. Adding Fabric IQ needs Foundry Project Manager.</a:t>
            </a:r>
            <a:endParaRPr lang="en-US"/>
          </a:p>
        </p:txBody>
      </p:sp>
      <p:sp>
        <p:nvSpPr>
          <p:cNvPr id="40449" name="Rectangle 40448">
            <a:extLst>
              <a:ext uri="{FF2B5EF4-FFF2-40B4-BE49-F238E27FC236}">
                <a16:creationId xmlns:a16="http://schemas.microsoft.com/office/drawing/2014/main" id="{D7FF994C-798B-98F1-AE24-59B68F173CBF}"/>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docs/labs/10-foundry-agent.md · foundry/agent_client.py</a:t>
            </a:r>
          </a:p>
          <a:p>
            <a:pPr algn="l">
              <a:buNone/>
            </a:pPr>
            <a:r>
              <a:rPr lang="en-US" sz="100">
                <a:effectLst/>
              </a:rPr>
              <a:t> </a:t>
            </a:r>
            <a:endParaRPr lang="en-US"/>
          </a:p>
        </p:txBody>
      </p:sp>
      <p:sp>
        <p:nvSpPr>
          <p:cNvPr id="40572" name="Rectangle 40571">
            <a:extLst>
              <a:ext uri="{FF2B5EF4-FFF2-40B4-BE49-F238E27FC236}">
                <a16:creationId xmlns:a16="http://schemas.microsoft.com/office/drawing/2014/main" id="{79A1917D-6030-D0E2-A694-C08A6B673104}"/>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40696" name="Rectangle 40695">
            <a:extLst>
              <a:ext uri="{FF2B5EF4-FFF2-40B4-BE49-F238E27FC236}">
                <a16:creationId xmlns:a16="http://schemas.microsoft.com/office/drawing/2014/main" id="{4720AD5E-8686-E0B0-8B8D-A92A97A2B7E5}"/>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Agent, Fabric IQ, data agent</a:t>
            </a:r>
          </a:p>
          <a:p>
            <a:pPr algn="l">
              <a:buNone/>
            </a:pPr>
            <a:r>
              <a:rPr lang="en-US" sz="100">
                <a:effectLst/>
              </a:rPr>
              <a:t> </a:t>
            </a:r>
            <a:endParaRPr lang="en-US"/>
          </a:p>
        </p:txBody>
      </p:sp>
      <p:sp>
        <p:nvSpPr>
          <p:cNvPr id="40821" name="Rectangle 40820">
            <a:extLst>
              <a:ext uri="{FF2B5EF4-FFF2-40B4-BE49-F238E27FC236}">
                <a16:creationId xmlns:a16="http://schemas.microsoft.com/office/drawing/2014/main" id="{A3B4490E-0AC7-9CFC-2D6C-31FB60C643FA}"/>
              </a:ext>
            </a:extLst>
          </p:cNvPr>
          <p:cNvSpPr/>
          <p:nvPr/>
        </p:nvSpPr>
        <p:spPr>
          <a:xfrm>
            <a:off x="5900000" y="226000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Foundry agent</a:t>
            </a:r>
          </a:p>
          <a:p>
            <a:pPr algn="l">
              <a:buNone/>
            </a:pPr>
            <a:r>
              <a:rPr lang="en-US" sz="1200">
                <a:solidFill>
                  <a:srgbClr val="3D4F66"/>
                </a:solidFill>
                <a:effectLst/>
                <a:latin typeface="Calibri" panose="020F0502020204030204" pitchFamily="34" charset="0"/>
              </a:rPr>
              <a:t>gpt-5.4 or 5.5, with background mode for long data questions.</a:t>
            </a:r>
            <a:endParaRPr lang="en-US"/>
          </a:p>
        </p:txBody>
      </p:sp>
      <p:sp>
        <p:nvSpPr>
          <p:cNvPr id="40947" name="Arrow: Down 40946">
            <a:extLst>
              <a:ext uri="{FF2B5EF4-FFF2-40B4-BE49-F238E27FC236}">
                <a16:creationId xmlns:a16="http://schemas.microsoft.com/office/drawing/2014/main" id="{AD642FBE-E73D-2AEC-7B1F-3A8D97F2C75D}"/>
              </a:ext>
            </a:extLst>
          </p:cNvPr>
          <p:cNvSpPr/>
          <p:nvPr/>
        </p:nvSpPr>
        <p:spPr>
          <a:xfrm>
            <a:off x="8687400" y="300268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074" name="Rectangle 41073">
            <a:extLst>
              <a:ext uri="{FF2B5EF4-FFF2-40B4-BE49-F238E27FC236}">
                <a16:creationId xmlns:a16="http://schemas.microsoft.com/office/drawing/2014/main" id="{B476BE43-2235-6177-0CD9-F82F46690C2A}"/>
              </a:ext>
            </a:extLst>
          </p:cNvPr>
          <p:cNvSpPr/>
          <p:nvPr/>
        </p:nvSpPr>
        <p:spPr>
          <a:xfrm>
            <a:off x="5900000" y="327768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Fabric IQ (OneLake Catalog) tool</a:t>
            </a:r>
          </a:p>
          <a:p>
            <a:pPr algn="l">
              <a:buNone/>
            </a:pPr>
            <a:r>
              <a:rPr lang="en-US" sz="1200">
                <a:solidFill>
                  <a:srgbClr val="3D4F66"/>
                </a:solidFill>
                <a:effectLst/>
                <a:latin typeface="Calibri" panose="020F0502020204030204" pitchFamily="34" charset="0"/>
              </a:rPr>
              <a:t>Picks the published data agent and calls it over MCP.</a:t>
            </a:r>
            <a:endParaRPr lang="en-US"/>
          </a:p>
        </p:txBody>
      </p:sp>
      <p:sp>
        <p:nvSpPr>
          <p:cNvPr id="41202" name="Arrow: Down 41201">
            <a:extLst>
              <a:ext uri="{FF2B5EF4-FFF2-40B4-BE49-F238E27FC236}">
                <a16:creationId xmlns:a16="http://schemas.microsoft.com/office/drawing/2014/main" id="{0EEB2B52-80C3-9DBA-BA0F-CC759EBA7430}"/>
              </a:ext>
            </a:extLst>
          </p:cNvPr>
          <p:cNvSpPr/>
          <p:nvPr/>
        </p:nvSpPr>
        <p:spPr>
          <a:xfrm>
            <a:off x="8687400" y="402036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331" name="Rectangle 41330">
            <a:extLst>
              <a:ext uri="{FF2B5EF4-FFF2-40B4-BE49-F238E27FC236}">
                <a16:creationId xmlns:a16="http://schemas.microsoft.com/office/drawing/2014/main" id="{DDD3AEB6-13D3-4154-5ECD-14DF6BF61B66}"/>
              </a:ext>
            </a:extLst>
          </p:cNvPr>
          <p:cNvSpPr/>
          <p:nvPr/>
        </p:nvSpPr>
        <p:spPr>
          <a:xfrm>
            <a:off x="5900000" y="429536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Rail Network Analyst</a:t>
            </a:r>
          </a:p>
          <a:p>
            <a:pPr algn="l">
              <a:buNone/>
            </a:pPr>
            <a:r>
              <a:rPr lang="en-US" sz="1200">
                <a:solidFill>
                  <a:srgbClr val="3D4F66"/>
                </a:solidFill>
                <a:effectLst/>
                <a:latin typeface="Calibri" panose="020F0502020204030204" pitchFamily="34" charset="0"/>
              </a:rPr>
              <a:t>Writes and runs KQL on RailKQL as the signed-in user.</a:t>
            </a:r>
            <a:endParaRPr lang="en-US"/>
          </a:p>
        </p:txBody>
      </p:sp>
    </p:spTree>
    <p:extLst>
      <p:ext uri="{BB962C8B-B14F-4D97-AF65-F5344CB8AC3E}">
        <p14:creationId xmlns:p14="http://schemas.microsoft.com/office/powerpoint/2010/main" val="3862477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1334" name="Rectangle 41333">
            <a:extLst>
              <a:ext uri="{FF2B5EF4-FFF2-40B4-BE49-F238E27FC236}">
                <a16:creationId xmlns:a16="http://schemas.microsoft.com/office/drawing/2014/main" id="{96D6BBBB-885B-3446-FE6E-5B8F07173868}"/>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10b · LIVE SEMANTIC MODEL · 25 MIN</a:t>
            </a:r>
          </a:p>
          <a:p>
            <a:pPr algn="l">
              <a:buNone/>
            </a:pPr>
            <a:r>
              <a:rPr lang="en-US" sz="100">
                <a:effectLst/>
              </a:rPr>
              <a:t> </a:t>
            </a:r>
            <a:endParaRPr lang="en-US"/>
          </a:p>
        </p:txBody>
      </p:sp>
      <p:sp>
        <p:nvSpPr>
          <p:cNvPr id="41336" name="Rectangle 41335">
            <a:extLst>
              <a:ext uri="{FF2B5EF4-FFF2-40B4-BE49-F238E27FC236}">
                <a16:creationId xmlns:a16="http://schemas.microsoft.com/office/drawing/2014/main" id="{658E03EE-5F3C-71EC-1717-BA5FD4C1E090}"/>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Give the app a live data path</a:t>
            </a:r>
          </a:p>
          <a:p>
            <a:pPr algn="l">
              <a:buNone/>
            </a:pPr>
            <a:r>
              <a:rPr lang="en-US" sz="100">
                <a:effectLst/>
              </a:rPr>
              <a:t> </a:t>
            </a:r>
            <a:endParaRPr lang="en-US"/>
          </a:p>
        </p:txBody>
      </p:sp>
      <p:sp>
        <p:nvSpPr>
          <p:cNvPr id="41339" name="Rectangle 41338">
            <a:extLst>
              <a:ext uri="{FF2B5EF4-FFF2-40B4-BE49-F238E27FC236}">
                <a16:creationId xmlns:a16="http://schemas.microsoft.com/office/drawing/2014/main" id="{27A3A4D2-3960-D4BE-3362-63B0BBA029B0}"/>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343" name="Rectangle 41342">
            <a:extLst>
              <a:ext uri="{FF2B5EF4-FFF2-40B4-BE49-F238E27FC236}">
                <a16:creationId xmlns:a16="http://schemas.microsoft.com/office/drawing/2014/main" id="{2D808AA7-82E1-7D17-4997-C1DC0C54E3AF}"/>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41348" name="Rectangle 41347">
            <a:extLst>
              <a:ext uri="{FF2B5EF4-FFF2-40B4-BE49-F238E27FC236}">
                <a16:creationId xmlns:a16="http://schemas.microsoft.com/office/drawing/2014/main" id="{7A58DB3D-511A-BAE9-C6A3-476C5482BDF8}"/>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41354" name="Rectangle 41353">
            <a:extLst>
              <a:ext uri="{FF2B5EF4-FFF2-40B4-BE49-F238E27FC236}">
                <a16:creationId xmlns:a16="http://schemas.microsoft.com/office/drawing/2014/main" id="{A94BB0E4-2066-A9E0-A6B2-CB14A8F7E3F8}"/>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Power BI Desktop (or the web route): KQL Database in DirectQuery mode.</a:t>
            </a:r>
          </a:p>
          <a:p>
            <a:pPr algn="l">
              <a:buNone/>
            </a:pPr>
            <a:r>
              <a:rPr lang="en-US" sz="100">
                <a:effectLst/>
              </a:rPr>
              <a:t> </a:t>
            </a:r>
            <a:endParaRPr lang="en-US"/>
          </a:p>
        </p:txBody>
      </p:sp>
      <p:sp>
        <p:nvSpPr>
          <p:cNvPr id="41361" name="Rectangle 41360">
            <a:extLst>
              <a:ext uri="{FF2B5EF4-FFF2-40B4-BE49-F238E27FC236}">
                <a16:creationId xmlns:a16="http://schemas.microsoft.com/office/drawing/2014/main" id="{724A2055-D79B-5851-8C0C-3EE067B69AAA}"/>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41369" name="Rectangle 41368">
            <a:extLst>
              <a:ext uri="{FF2B5EF4-FFF2-40B4-BE49-F238E27FC236}">
                <a16:creationId xmlns:a16="http://schemas.microsoft.com/office/drawing/2014/main" id="{CDFFDB69-8FC0-66FC-F3E8-FC915900C8BA}"/>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Query NetworkSnapshot(4h) and name the table TrainPositions.</a:t>
            </a:r>
          </a:p>
          <a:p>
            <a:pPr algn="l">
              <a:buNone/>
            </a:pPr>
            <a:r>
              <a:rPr lang="en-US" sz="100">
                <a:effectLst/>
              </a:rPr>
              <a:t> </a:t>
            </a:r>
            <a:endParaRPr lang="en-US"/>
          </a:p>
        </p:txBody>
      </p:sp>
      <p:sp>
        <p:nvSpPr>
          <p:cNvPr id="41378" name="Rectangle 41377">
            <a:extLst>
              <a:ext uri="{FF2B5EF4-FFF2-40B4-BE49-F238E27FC236}">
                <a16:creationId xmlns:a16="http://schemas.microsoft.com/office/drawing/2014/main" id="{39ACFCD3-CD87-FB63-DC02-23710D8918D9}"/>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41388" name="Rectangle 41387">
            <a:extLst>
              <a:ext uri="{FF2B5EF4-FFF2-40B4-BE49-F238E27FC236}">
                <a16:creationId xmlns:a16="http://schemas.microsoft.com/office/drawing/2014/main" id="{3E4B2567-BB39-5BB8-09EA-A9B290A9D48C}"/>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Publish RailLiveMap and set its data source credentials.</a:t>
            </a:r>
          </a:p>
          <a:p>
            <a:pPr algn="l">
              <a:buNone/>
            </a:pPr>
            <a:r>
              <a:rPr lang="en-US" sz="100">
                <a:effectLst/>
              </a:rPr>
              <a:t> </a:t>
            </a:r>
            <a:endParaRPr lang="en-US"/>
          </a:p>
        </p:txBody>
      </p:sp>
      <p:sp>
        <p:nvSpPr>
          <p:cNvPr id="41399" name="Rectangle 41398">
            <a:extLst>
              <a:ext uri="{FF2B5EF4-FFF2-40B4-BE49-F238E27FC236}">
                <a16:creationId xmlns:a16="http://schemas.microsoft.com/office/drawing/2014/main" id="{EEFC525E-C10C-B7B3-B20E-A7199C7BE381}"/>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41411" name="Rectangle 41410">
            <a:extLst>
              <a:ext uri="{FF2B5EF4-FFF2-40B4-BE49-F238E27FC236}">
                <a16:creationId xmlns:a16="http://schemas.microsoft.com/office/drawing/2014/main" id="{940954A9-8612-6AAA-AFB8-9654C62E368E}"/>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Give app users Build permission; note the workspace and model IDs.</a:t>
            </a:r>
          </a:p>
          <a:p>
            <a:pPr algn="l">
              <a:buNone/>
            </a:pPr>
            <a:r>
              <a:rPr lang="en-US" sz="100">
                <a:effectLst/>
              </a:rPr>
              <a:t> </a:t>
            </a:r>
            <a:endParaRPr lang="en-US"/>
          </a:p>
        </p:txBody>
      </p:sp>
      <p:sp>
        <p:nvSpPr>
          <p:cNvPr id="41424" name="Rectangle 41423">
            <a:extLst>
              <a:ext uri="{FF2B5EF4-FFF2-40B4-BE49-F238E27FC236}">
                <a16:creationId xmlns:a16="http://schemas.microsoft.com/office/drawing/2014/main" id="{8A39A1D3-32DC-8FEE-569A-7035434211A7}"/>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Desktop is optional and Windows-only. The web route from a KQL queryset works too.</a:t>
            </a:r>
            <a:endParaRPr lang="en-US"/>
          </a:p>
        </p:txBody>
      </p:sp>
      <p:sp>
        <p:nvSpPr>
          <p:cNvPr id="41438" name="Rectangle 41437">
            <a:extLst>
              <a:ext uri="{FF2B5EF4-FFF2-40B4-BE49-F238E27FC236}">
                <a16:creationId xmlns:a16="http://schemas.microsoft.com/office/drawing/2014/main" id="{8C69CF15-E4CF-1E2A-CC4F-DDD1D6F1558F}"/>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docs/labs/10b-live-semantic-model.md</a:t>
            </a:r>
          </a:p>
          <a:p>
            <a:pPr algn="l">
              <a:buNone/>
            </a:pPr>
            <a:r>
              <a:rPr lang="en-US" sz="100">
                <a:effectLst/>
              </a:rPr>
              <a:t> </a:t>
            </a:r>
            <a:endParaRPr lang="en-US"/>
          </a:p>
        </p:txBody>
      </p:sp>
      <p:sp>
        <p:nvSpPr>
          <p:cNvPr id="41453" name="Rectangle 41452">
            <a:extLst>
              <a:ext uri="{FF2B5EF4-FFF2-40B4-BE49-F238E27FC236}">
                <a16:creationId xmlns:a16="http://schemas.microsoft.com/office/drawing/2014/main" id="{C9A23D2F-07FB-2B65-5CA8-505DFFF32150}"/>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41469" name="Rectangle 41468">
            <a:extLst>
              <a:ext uri="{FF2B5EF4-FFF2-40B4-BE49-F238E27FC236}">
                <a16:creationId xmlns:a16="http://schemas.microsoft.com/office/drawing/2014/main" id="{3ECDF487-4655-9245-2CCD-8B3CEF7974E3}"/>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Why the map goes through a semantic model</a:t>
            </a:r>
          </a:p>
          <a:p>
            <a:pPr algn="l">
              <a:buNone/>
            </a:pPr>
            <a:r>
              <a:rPr lang="en-US" sz="100">
                <a:effectLst/>
              </a:rPr>
              <a:t> </a:t>
            </a:r>
            <a:endParaRPr lang="en-US"/>
          </a:p>
        </p:txBody>
      </p:sp>
      <p:sp>
        <p:nvSpPr>
          <p:cNvPr id="41486" name="Rectangle 41485">
            <a:extLst>
              <a:ext uri="{FF2B5EF4-FFF2-40B4-BE49-F238E27FC236}">
                <a16:creationId xmlns:a16="http://schemas.microsoft.com/office/drawing/2014/main" id="{CB669824-D031-C3AD-3C61-AAEC0676492D}"/>
              </a:ext>
            </a:extLst>
          </p:cNvPr>
          <p:cNvSpPr/>
          <p:nvPr/>
        </p:nvSpPr>
        <p:spPr>
          <a:xfrm>
            <a:off x="5900000" y="2200000"/>
            <a:ext cx="5834800" cy="57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Rayfin 1.36 has no Kusto connector and no Kusto token for functions, but it can query a semantic model.</a:t>
            </a:r>
          </a:p>
          <a:p>
            <a:pPr algn="l">
              <a:buNone/>
            </a:pPr>
            <a:r>
              <a:rPr lang="en-US" sz="100">
                <a:effectLst/>
              </a:rPr>
              <a:t> </a:t>
            </a:r>
            <a:endParaRPr lang="en-US"/>
          </a:p>
        </p:txBody>
      </p:sp>
      <p:sp>
        <p:nvSpPr>
          <p:cNvPr id="41504" name="Rectangle 41503">
            <a:extLst>
              <a:ext uri="{FF2B5EF4-FFF2-40B4-BE49-F238E27FC236}">
                <a16:creationId xmlns:a16="http://schemas.microsoft.com/office/drawing/2014/main" id="{A11E9561-CEA9-BEDC-D652-447BDBFB0ECC}"/>
              </a:ext>
            </a:extLst>
          </p:cNvPr>
          <p:cNvSpPr/>
          <p:nvPr/>
        </p:nvSpPr>
        <p:spPr>
          <a:xfrm>
            <a:off x="5900000" y="285816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Rayfin map</a:t>
            </a:r>
          </a:p>
          <a:p>
            <a:pPr algn="l">
              <a:buNone/>
            </a:pPr>
            <a:r>
              <a:rPr lang="en-US" sz="1200">
                <a:solidFill>
                  <a:srgbClr val="3D4F66"/>
                </a:solidFill>
                <a:effectLst/>
                <a:latin typeface="Calibri" panose="020F0502020204030204" pitchFamily="34" charset="0"/>
              </a:rPr>
              <a:t>Sends DAX through the railmap connector, as the user.</a:t>
            </a:r>
            <a:endParaRPr lang="en-US"/>
          </a:p>
        </p:txBody>
      </p:sp>
      <p:sp>
        <p:nvSpPr>
          <p:cNvPr id="41523" name="Arrow: Down 41522">
            <a:extLst>
              <a:ext uri="{FF2B5EF4-FFF2-40B4-BE49-F238E27FC236}">
                <a16:creationId xmlns:a16="http://schemas.microsoft.com/office/drawing/2014/main" id="{CA047F71-DB6A-1936-0FED-2DB4F195A76C}"/>
              </a:ext>
            </a:extLst>
          </p:cNvPr>
          <p:cNvSpPr/>
          <p:nvPr/>
        </p:nvSpPr>
        <p:spPr>
          <a:xfrm>
            <a:off x="8687400" y="360084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43" name="Rectangle 41542">
            <a:extLst>
              <a:ext uri="{FF2B5EF4-FFF2-40B4-BE49-F238E27FC236}">
                <a16:creationId xmlns:a16="http://schemas.microsoft.com/office/drawing/2014/main" id="{47732D56-B38A-FCFF-083A-573D941A99B8}"/>
              </a:ext>
            </a:extLst>
          </p:cNvPr>
          <p:cNvSpPr/>
          <p:nvPr/>
        </p:nvSpPr>
        <p:spPr>
          <a:xfrm>
            <a:off x="5900000" y="387584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RailLiveMap · DirectQuery</a:t>
            </a:r>
          </a:p>
          <a:p>
            <a:pPr algn="l">
              <a:buNone/>
            </a:pPr>
            <a:r>
              <a:rPr lang="en-US" sz="1200">
                <a:solidFill>
                  <a:srgbClr val="3D4F66"/>
                </a:solidFill>
                <a:effectLst/>
                <a:latin typeface="Calibri" panose="020F0502020204030204" pitchFamily="34" charset="0"/>
              </a:rPr>
              <a:t>Turns each DAX query into KQL. Nothing is imported.</a:t>
            </a:r>
            <a:endParaRPr lang="en-US"/>
          </a:p>
        </p:txBody>
      </p:sp>
      <p:sp>
        <p:nvSpPr>
          <p:cNvPr id="41564" name="Arrow: Down 41563">
            <a:extLst>
              <a:ext uri="{FF2B5EF4-FFF2-40B4-BE49-F238E27FC236}">
                <a16:creationId xmlns:a16="http://schemas.microsoft.com/office/drawing/2014/main" id="{B983A617-EF65-9F23-2708-95A13B0CCC16}"/>
              </a:ext>
            </a:extLst>
          </p:cNvPr>
          <p:cNvSpPr/>
          <p:nvPr/>
        </p:nvSpPr>
        <p:spPr>
          <a:xfrm>
            <a:off x="8687400" y="4618520"/>
            <a:ext cx="260000" cy="22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86" name="Rectangle 41585">
            <a:extLst>
              <a:ext uri="{FF2B5EF4-FFF2-40B4-BE49-F238E27FC236}">
                <a16:creationId xmlns:a16="http://schemas.microsoft.com/office/drawing/2014/main" id="{526EEADD-4910-F9E1-2AC1-1E73E44F34CE}"/>
              </a:ext>
            </a:extLst>
          </p:cNvPr>
          <p:cNvSpPr/>
          <p:nvPr/>
        </p:nvSpPr>
        <p:spPr>
          <a:xfrm>
            <a:off x="5900000" y="489352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RailKQL</a:t>
            </a:r>
          </a:p>
          <a:p>
            <a:pPr algn="l">
              <a:buNone/>
            </a:pPr>
            <a:r>
              <a:rPr lang="en-US" sz="1200">
                <a:solidFill>
                  <a:srgbClr val="3D4F66"/>
                </a:solidFill>
                <a:effectLst/>
                <a:latin typeface="Calibri" panose="020F0502020204030204" pitchFamily="34" charset="0"/>
              </a:rPr>
              <a:t>NetworkSnapshot(4h): the latest position of each train.</a:t>
            </a:r>
            <a:endParaRPr lang="en-US"/>
          </a:p>
        </p:txBody>
      </p:sp>
    </p:spTree>
    <p:extLst>
      <p:ext uri="{BB962C8B-B14F-4D97-AF65-F5344CB8AC3E}">
        <p14:creationId xmlns:p14="http://schemas.microsoft.com/office/powerpoint/2010/main" val="2689155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1609" name="Rectangle 41608">
            <a:extLst>
              <a:ext uri="{FF2B5EF4-FFF2-40B4-BE49-F238E27FC236}">
                <a16:creationId xmlns:a16="http://schemas.microsoft.com/office/drawing/2014/main" id="{D6D8441C-47F9-3671-664C-7665A0F8EFF4}"/>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11 · RAYFIN APP · 60 MIN</a:t>
            </a:r>
          </a:p>
          <a:p>
            <a:pPr algn="l">
              <a:buNone/>
            </a:pPr>
            <a:r>
              <a:rPr lang="en-US" sz="100">
                <a:effectLst/>
              </a:rPr>
              <a:t> </a:t>
            </a:r>
            <a:endParaRPr lang="en-US"/>
          </a:p>
        </p:txBody>
      </p:sp>
      <p:sp>
        <p:nvSpPr>
          <p:cNvPr id="41633" name="Rectangle 41632">
            <a:extLst>
              <a:ext uri="{FF2B5EF4-FFF2-40B4-BE49-F238E27FC236}">
                <a16:creationId xmlns:a16="http://schemas.microsoft.com/office/drawing/2014/main" id="{2F6605FC-1081-73B8-CD4D-C6C01007A711}"/>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Build RailPulse on Fabric Apps</a:t>
            </a:r>
          </a:p>
          <a:p>
            <a:pPr algn="l">
              <a:buNone/>
            </a:pPr>
            <a:r>
              <a:rPr lang="en-US" sz="100">
                <a:effectLst/>
              </a:rPr>
              <a:t> </a:t>
            </a:r>
            <a:endParaRPr lang="en-US"/>
          </a:p>
        </p:txBody>
      </p:sp>
      <p:sp>
        <p:nvSpPr>
          <p:cNvPr id="41658" name="Rectangle 41657">
            <a:extLst>
              <a:ext uri="{FF2B5EF4-FFF2-40B4-BE49-F238E27FC236}">
                <a16:creationId xmlns:a16="http://schemas.microsoft.com/office/drawing/2014/main" id="{1291136E-0574-4759-7D21-46B19DEF0C73}"/>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84" name="Rectangle 41683">
            <a:extLst>
              <a:ext uri="{FF2B5EF4-FFF2-40B4-BE49-F238E27FC236}">
                <a16:creationId xmlns:a16="http://schemas.microsoft.com/office/drawing/2014/main" id="{0FD069FF-581F-9C90-521F-93E961C62EFF}"/>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41711" name="Rectangle 41710">
            <a:extLst>
              <a:ext uri="{FF2B5EF4-FFF2-40B4-BE49-F238E27FC236}">
                <a16:creationId xmlns:a16="http://schemas.microsoft.com/office/drawing/2014/main" id="{85C9FB37-5A16-3B70-4AD7-96EE3805559C}"/>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41739" name="Rectangle 41738">
            <a:extLst>
              <a:ext uri="{FF2B5EF4-FFF2-40B4-BE49-F238E27FC236}">
                <a16:creationId xmlns:a16="http://schemas.microsoft.com/office/drawing/2014/main" id="{814943E5-86D7-313B-FABA-1DB6970BCBFC}"/>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Scaffold rail-app (default template); deploy once with --workspace-id.</a:t>
            </a:r>
          </a:p>
          <a:p>
            <a:pPr algn="l">
              <a:buNone/>
            </a:pPr>
            <a:r>
              <a:rPr lang="en-US" sz="100">
                <a:effectLst/>
              </a:rPr>
              <a:t> </a:t>
            </a:r>
            <a:endParaRPr lang="en-US"/>
          </a:p>
        </p:txBody>
      </p:sp>
      <p:sp>
        <p:nvSpPr>
          <p:cNvPr id="41768" name="Rectangle 41767">
            <a:extLst>
              <a:ext uri="{FF2B5EF4-FFF2-40B4-BE49-F238E27FC236}">
                <a16:creationId xmlns:a16="http://schemas.microsoft.com/office/drawing/2014/main" id="{CA81BDEC-88F6-47E2-F3DA-6C8B3DA33BE6}"/>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41798" name="Rectangle 41797">
            <a:extLst>
              <a:ext uri="{FF2B5EF4-FFF2-40B4-BE49-F238E27FC236}">
                <a16:creationId xmlns:a16="http://schemas.microsoft.com/office/drawing/2014/main" id="{E0FA1222-3FE1-0905-12C2-82304FB7E9B4}"/>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Add the functions and connectors packs, then the railmap connector.</a:t>
            </a:r>
          </a:p>
          <a:p>
            <a:pPr algn="l">
              <a:buNone/>
            </a:pPr>
            <a:r>
              <a:rPr lang="en-US" sz="100">
                <a:effectLst/>
              </a:rPr>
              <a:t> </a:t>
            </a:r>
            <a:endParaRPr lang="en-US"/>
          </a:p>
        </p:txBody>
      </p:sp>
      <p:sp>
        <p:nvSpPr>
          <p:cNvPr id="41829" name="Rectangle 41828">
            <a:extLst>
              <a:ext uri="{FF2B5EF4-FFF2-40B4-BE49-F238E27FC236}">
                <a16:creationId xmlns:a16="http://schemas.microsoft.com/office/drawing/2014/main" id="{EB5BEFD5-E991-046F-82E3-BB3E952F5801}"/>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41861" name="Rectangle 41860">
            <a:extLst>
              <a:ext uri="{FF2B5EF4-FFF2-40B4-BE49-F238E27FC236}">
                <a16:creationId xmlns:a16="http://schemas.microsoft.com/office/drawing/2014/main" id="{7CA2EB82-6EBF-24B7-0182-2B2E8CA40B9E}"/>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Copy the overlay into packages/; set the two Foundry values.</a:t>
            </a:r>
          </a:p>
          <a:p>
            <a:pPr algn="l">
              <a:buNone/>
            </a:pPr>
            <a:r>
              <a:rPr lang="en-US" sz="100">
                <a:effectLst/>
              </a:rPr>
              <a:t> </a:t>
            </a:r>
            <a:endParaRPr lang="en-US"/>
          </a:p>
        </p:txBody>
      </p:sp>
      <p:sp>
        <p:nvSpPr>
          <p:cNvPr id="41894" name="Rectangle 41893">
            <a:extLst>
              <a:ext uri="{FF2B5EF4-FFF2-40B4-BE49-F238E27FC236}">
                <a16:creationId xmlns:a16="http://schemas.microsoft.com/office/drawing/2014/main" id="{21BF15C9-1240-7FAD-C0EC-EF92D9E1A47E}"/>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41928" name="Rectangle 41927">
            <a:extLst>
              <a:ext uri="{FF2B5EF4-FFF2-40B4-BE49-F238E27FC236}">
                <a16:creationId xmlns:a16="http://schemas.microsoft.com/office/drawing/2014/main" id="{0D4D9C0A-DE3C-4A38-8757-DA95851F4B19}"/>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Run npx rayfin dev functions apply, then npx rayfin up.</a:t>
            </a:r>
          </a:p>
          <a:p>
            <a:pPr algn="l">
              <a:buNone/>
            </a:pPr>
            <a:r>
              <a:rPr lang="en-US" sz="100">
                <a:effectLst/>
              </a:rPr>
              <a:t> </a:t>
            </a:r>
            <a:endParaRPr lang="en-US"/>
          </a:p>
        </p:txBody>
      </p:sp>
      <p:sp>
        <p:nvSpPr>
          <p:cNvPr id="41963" name="Rectangle 41962">
            <a:extLst>
              <a:ext uri="{FF2B5EF4-FFF2-40B4-BE49-F238E27FC236}">
                <a16:creationId xmlns:a16="http://schemas.microsoft.com/office/drawing/2014/main" id="{ADF7D793-C5C0-A734-A0BE-2F45BE6CE437}"/>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Fabric Apps needs its tenant setting and a supported region. Deployed functions run as the app owner.</a:t>
            </a:r>
            <a:endParaRPr lang="en-US"/>
          </a:p>
        </p:txBody>
      </p:sp>
      <p:sp>
        <p:nvSpPr>
          <p:cNvPr id="41999" name="Rectangle 41998">
            <a:extLst>
              <a:ext uri="{FF2B5EF4-FFF2-40B4-BE49-F238E27FC236}">
                <a16:creationId xmlns:a16="http://schemas.microsoft.com/office/drawing/2014/main" id="{B500A0DB-6076-AD4C-1DEA-905A1D92C7EA}"/>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docs/labs/11-rayfin-app.md · app/rayfin-starter/</a:t>
            </a:r>
          </a:p>
          <a:p>
            <a:pPr algn="l">
              <a:buNone/>
            </a:pPr>
            <a:r>
              <a:rPr lang="en-US" sz="100">
                <a:effectLst/>
              </a:rPr>
              <a:t> </a:t>
            </a:r>
            <a:endParaRPr lang="en-US"/>
          </a:p>
        </p:txBody>
      </p:sp>
      <p:sp>
        <p:nvSpPr>
          <p:cNvPr id="42036" name="Rectangle 42035">
            <a:extLst>
              <a:ext uri="{FF2B5EF4-FFF2-40B4-BE49-F238E27FC236}">
                <a16:creationId xmlns:a16="http://schemas.microsoft.com/office/drawing/2014/main" id="{DF82EDC8-8D0E-665A-9F2E-698DA0F83771}"/>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42074" name="Rectangle 42073">
            <a:extLst>
              <a:ext uri="{FF2B5EF4-FFF2-40B4-BE49-F238E27FC236}">
                <a16:creationId xmlns:a16="http://schemas.microsoft.com/office/drawing/2014/main" id="{036573F4-BADE-D4B5-B135-E74F27A3624F}"/>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One app, two data paths</a:t>
            </a:r>
          </a:p>
          <a:p>
            <a:pPr algn="l">
              <a:buNone/>
            </a:pPr>
            <a:r>
              <a:rPr lang="en-US" sz="100">
                <a:effectLst/>
              </a:rPr>
              <a:t> </a:t>
            </a:r>
            <a:endParaRPr lang="en-US"/>
          </a:p>
        </p:txBody>
      </p:sp>
      <p:sp>
        <p:nvSpPr>
          <p:cNvPr id="42113" name="Rectangle 42112">
            <a:extLst>
              <a:ext uri="{FF2B5EF4-FFF2-40B4-BE49-F238E27FC236}">
                <a16:creationId xmlns:a16="http://schemas.microsoft.com/office/drawing/2014/main" id="{BDCC1A67-0E1B-39ED-0E8B-4023139C57CA}"/>
              </a:ext>
            </a:extLst>
          </p:cNvPr>
          <p:cNvSpPr/>
          <p:nvPr/>
        </p:nvSpPr>
        <p:spPr>
          <a:xfrm>
            <a:off x="5900000" y="5226188"/>
            <a:ext cx="2817400" cy="753812"/>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Map and KPIs</a:t>
            </a:r>
          </a:p>
          <a:p>
            <a:pPr algn="l">
              <a:buNone/>
            </a:pPr>
            <a:r>
              <a:rPr lang="en-US" sz="1200">
                <a:solidFill>
                  <a:srgbClr val="3D4F66"/>
                </a:solidFill>
                <a:effectLst/>
                <a:latin typeface="Calibri" panose="020F0502020204030204" pitchFamily="34" charset="0"/>
              </a:rPr>
              <a:t>railmap connector → RailLiveMap, as the signed-in user.</a:t>
            </a:r>
            <a:endParaRPr lang="en-US"/>
          </a:p>
        </p:txBody>
      </p:sp>
      <p:sp>
        <p:nvSpPr>
          <p:cNvPr id="42153" name="Rectangle 42152">
            <a:extLst>
              <a:ext uri="{FF2B5EF4-FFF2-40B4-BE49-F238E27FC236}">
                <a16:creationId xmlns:a16="http://schemas.microsoft.com/office/drawing/2014/main" id="{CC9E9B7A-4EE5-01BE-5D68-66E1704F04D4}"/>
              </a:ext>
            </a:extLst>
          </p:cNvPr>
          <p:cNvSpPr/>
          <p:nvPr/>
        </p:nvSpPr>
        <p:spPr>
          <a:xfrm>
            <a:off x="8917400" y="5226188"/>
            <a:ext cx="2817400" cy="753812"/>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Chat</a:t>
            </a:r>
          </a:p>
          <a:p>
            <a:pPr algn="l">
              <a:buNone/>
            </a:pPr>
            <a:r>
              <a:rPr lang="en-US" sz="1200">
                <a:solidFill>
                  <a:srgbClr val="3D4F66"/>
                </a:solidFill>
                <a:effectLst/>
                <a:latin typeface="Calibri" panose="020F0502020204030204" pitchFamily="34" charset="0"/>
              </a:rPr>
              <a:t>askRailAgent function → Foundry agent, with ctx.Tokens.AzureAI.</a:t>
            </a:r>
            <a:endParaRPr lang="en-US"/>
          </a:p>
        </p:txBody>
      </p:sp>
      <p:pic>
        <p:nvPicPr>
          <p:cNvPr id="45429" name="Picture 45428" descr="The RailPulse app: KPI cards, a live map of trains and an Ask the network chat panel.">
            <a:extLst>
              <a:ext uri="{FF2B5EF4-FFF2-40B4-BE49-F238E27FC236}">
                <a16:creationId xmlns:a16="http://schemas.microsoft.com/office/drawing/2014/main" id="{0A01B9EB-2DEF-7D60-68CB-E18D357E4E37}"/>
              </a:ext>
            </a:extLst>
          </p:cNvPr>
          <p:cNvPicPr>
            <a:picLocks noChangeAspect="1"/>
          </p:cNvPicPr>
          <p:nvPr/>
        </p:nvPicPr>
        <p:blipFill>
          <a:blip r:embed="rId2"/>
          <a:stretch>
            <a:fillRect/>
          </a:stretch>
        </p:blipFill>
        <p:spPr>
          <a:xfrm>
            <a:off x="5900000" y="2240000"/>
            <a:ext cx="5834799" cy="2806188"/>
          </a:xfrm>
          <a:prstGeom prst="rect">
            <a:avLst/>
          </a:prstGeom>
        </p:spPr>
      </p:pic>
    </p:spTree>
    <p:extLst>
      <p:ext uri="{BB962C8B-B14F-4D97-AF65-F5344CB8AC3E}">
        <p14:creationId xmlns:p14="http://schemas.microsoft.com/office/powerpoint/2010/main" val="2322402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2194" name="Rectangle 42193">
            <a:extLst>
              <a:ext uri="{FF2B5EF4-FFF2-40B4-BE49-F238E27FC236}">
                <a16:creationId xmlns:a16="http://schemas.microsoft.com/office/drawing/2014/main" id="{6EAB2B7B-6E9C-9B6B-D444-A3AE1A5C99FF}"/>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11b · AZURE MAPS · 45 MIN · OPTIONAL</a:t>
            </a:r>
          </a:p>
          <a:p>
            <a:pPr algn="l">
              <a:buNone/>
            </a:pPr>
            <a:r>
              <a:rPr lang="en-US" sz="100">
                <a:effectLst/>
              </a:rPr>
              <a:t> </a:t>
            </a:r>
            <a:endParaRPr lang="en-US"/>
          </a:p>
        </p:txBody>
      </p:sp>
      <p:sp>
        <p:nvSpPr>
          <p:cNvPr id="42236" name="Rectangle 42235">
            <a:extLst>
              <a:ext uri="{FF2B5EF4-FFF2-40B4-BE49-F238E27FC236}">
                <a16:creationId xmlns:a16="http://schemas.microsoft.com/office/drawing/2014/main" id="{F614176C-7FD1-72B6-F092-5A15E1E289F7}"/>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Satellite view and the real railway</a:t>
            </a:r>
          </a:p>
          <a:p>
            <a:pPr algn="l">
              <a:buNone/>
            </a:pPr>
            <a:r>
              <a:rPr lang="en-US" sz="100">
                <a:effectLst/>
              </a:rPr>
              <a:t> </a:t>
            </a:r>
            <a:endParaRPr lang="en-US"/>
          </a:p>
        </p:txBody>
      </p:sp>
      <p:sp>
        <p:nvSpPr>
          <p:cNvPr id="42279" name="Rectangle 42278">
            <a:extLst>
              <a:ext uri="{FF2B5EF4-FFF2-40B4-BE49-F238E27FC236}">
                <a16:creationId xmlns:a16="http://schemas.microsoft.com/office/drawing/2014/main" id="{608A3FD7-0933-F736-F8A1-6BE7ECD5D1AD}"/>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23" name="Rectangle 42322">
            <a:extLst>
              <a:ext uri="{FF2B5EF4-FFF2-40B4-BE49-F238E27FC236}">
                <a16:creationId xmlns:a16="http://schemas.microsoft.com/office/drawing/2014/main" id="{7377D031-19ED-37D1-CFE8-69BC6EFCF7DC}"/>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42368" name="Rectangle 42367">
            <a:extLst>
              <a:ext uri="{FF2B5EF4-FFF2-40B4-BE49-F238E27FC236}">
                <a16:creationId xmlns:a16="http://schemas.microsoft.com/office/drawing/2014/main" id="{E903F5E6-5F90-3D13-AEC3-B60DB1976322}"/>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42414" name="Rectangle 42413">
            <a:extLst>
              <a:ext uri="{FF2B5EF4-FFF2-40B4-BE49-F238E27FC236}">
                <a16:creationId xmlns:a16="http://schemas.microsoft.com/office/drawing/2014/main" id="{63D1EB23-310D-C325-3C22-2DEC486ED520}"/>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Create the Azure Maps account and SAS identity (create-azure-maps).</a:t>
            </a:r>
          </a:p>
          <a:p>
            <a:pPr algn="l">
              <a:buNone/>
            </a:pPr>
            <a:r>
              <a:rPr lang="en-US" sz="100">
                <a:effectLst/>
              </a:rPr>
              <a:t> </a:t>
            </a:r>
            <a:endParaRPr lang="en-US"/>
          </a:p>
        </p:txBody>
      </p:sp>
      <p:sp>
        <p:nvSpPr>
          <p:cNvPr id="42461" name="Rectangle 42460">
            <a:extLst>
              <a:ext uri="{FF2B5EF4-FFF2-40B4-BE49-F238E27FC236}">
                <a16:creationId xmlns:a16="http://schemas.microsoft.com/office/drawing/2014/main" id="{537F81B1-2BF2-6930-FA77-0A9DE696B4FF}"/>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42509" name="Rectangle 42508">
            <a:extLst>
              <a:ext uri="{FF2B5EF4-FFF2-40B4-BE49-F238E27FC236}">
                <a16:creationId xmlns:a16="http://schemas.microsoft.com/office/drawing/2014/main" id="{D78AE05C-C75C-C95A-0E89-E44166285980}"/>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Build gb-rail.geojson once from OS Open Zoomstack.</a:t>
            </a:r>
          </a:p>
          <a:p>
            <a:pPr algn="l">
              <a:buNone/>
            </a:pPr>
            <a:r>
              <a:rPr lang="en-US" sz="100">
                <a:effectLst/>
              </a:rPr>
              <a:t> </a:t>
            </a:r>
            <a:endParaRPr lang="en-US"/>
          </a:p>
        </p:txBody>
      </p:sp>
      <p:sp>
        <p:nvSpPr>
          <p:cNvPr id="42558" name="Rectangle 42557">
            <a:extLst>
              <a:ext uri="{FF2B5EF4-FFF2-40B4-BE49-F238E27FC236}">
                <a16:creationId xmlns:a16="http://schemas.microsoft.com/office/drawing/2014/main" id="{C97EAFE2-169B-136C-5D4D-814F62EAB4BE}"/>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42608" name="Rectangle 42607">
            <a:extLst>
              <a:ext uri="{FF2B5EF4-FFF2-40B4-BE49-F238E27FC236}">
                <a16:creationId xmlns:a16="http://schemas.microsoft.com/office/drawing/2014/main" id="{4287E3F7-BA4C-ED36-2840-F55FA524BCB7}"/>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Copy the map add-on and install azure-maps-control.</a:t>
            </a:r>
          </a:p>
          <a:p>
            <a:pPr algn="l">
              <a:buNone/>
            </a:pPr>
            <a:r>
              <a:rPr lang="en-US" sz="100">
                <a:effectLst/>
              </a:rPr>
              <a:t> </a:t>
            </a:r>
            <a:endParaRPr lang="en-US"/>
          </a:p>
        </p:txBody>
      </p:sp>
      <p:sp>
        <p:nvSpPr>
          <p:cNvPr id="42659" name="Rectangle 42658">
            <a:extLst>
              <a:ext uri="{FF2B5EF4-FFF2-40B4-BE49-F238E27FC236}">
                <a16:creationId xmlns:a16="http://schemas.microsoft.com/office/drawing/2014/main" id="{A7776D10-CE67-83E2-F6E0-0E270364CD6C}"/>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42711" name="Rectangle 42710">
            <a:extLst>
              <a:ext uri="{FF2B5EF4-FFF2-40B4-BE49-F238E27FC236}">
                <a16:creationId xmlns:a16="http://schemas.microsoft.com/office/drawing/2014/main" id="{BCAC4BE8-3BAA-32F4-B92B-AEDCD57AFD7A}"/>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Create today's SAS token, store it as AZURE_MAPS_TOKEN, deploy.</a:t>
            </a:r>
          </a:p>
          <a:p>
            <a:pPr algn="l">
              <a:buNone/>
            </a:pPr>
            <a:r>
              <a:rPr lang="en-US" sz="100">
                <a:effectLst/>
              </a:rPr>
              <a:t> </a:t>
            </a:r>
            <a:endParaRPr lang="en-US"/>
          </a:p>
        </p:txBody>
      </p:sp>
      <p:sp>
        <p:nvSpPr>
          <p:cNvPr id="42764" name="Rectangle 42763">
            <a:extLst>
              <a:ext uri="{FF2B5EF4-FFF2-40B4-BE49-F238E27FC236}">
                <a16:creationId xmlns:a16="http://schemas.microsoft.com/office/drawing/2014/main" id="{8E28036F-AB5B-F85F-F755-23F5DA7326B8}"/>
              </a:ext>
            </a:extLst>
          </p:cNvPr>
          <p:cNvSpPr/>
          <p:nvPr/>
        </p:nvSpPr>
        <p:spPr>
          <a:xfrm>
            <a:off x="685800" y="4959440"/>
            <a:ext cx="4692800" cy="85056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SAS tokens last 24 hours at most. Create a new one each day you use the app.</a:t>
            </a:r>
            <a:endParaRPr lang="en-US"/>
          </a:p>
        </p:txBody>
      </p:sp>
      <p:sp>
        <p:nvSpPr>
          <p:cNvPr id="42818" name="Rectangle 42817">
            <a:extLst>
              <a:ext uri="{FF2B5EF4-FFF2-40B4-BE49-F238E27FC236}">
                <a16:creationId xmlns:a16="http://schemas.microsoft.com/office/drawing/2014/main" id="{2DF883EC-2782-5CFB-7F08-16F2A9CD93E2}"/>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docs/labs/11b-azure-maps.md · app/rayfin-maps-addon/</a:t>
            </a:r>
          </a:p>
          <a:p>
            <a:pPr algn="l">
              <a:buNone/>
            </a:pPr>
            <a:r>
              <a:rPr lang="en-US" sz="100">
                <a:effectLst/>
              </a:rPr>
              <a:t> </a:t>
            </a:r>
            <a:endParaRPr lang="en-US"/>
          </a:p>
        </p:txBody>
      </p:sp>
      <p:sp>
        <p:nvSpPr>
          <p:cNvPr id="42873" name="Rectangle 42872">
            <a:extLst>
              <a:ext uri="{FF2B5EF4-FFF2-40B4-BE49-F238E27FC236}">
                <a16:creationId xmlns:a16="http://schemas.microsoft.com/office/drawing/2014/main" id="{C367D112-64E0-8300-E155-6C4D7A25516C}"/>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42929" name="Rectangle 42928">
            <a:extLst>
              <a:ext uri="{FF2B5EF4-FFF2-40B4-BE49-F238E27FC236}">
                <a16:creationId xmlns:a16="http://schemas.microsoft.com/office/drawing/2014/main" id="{3A57DA90-9A1A-DD6E-E552-32D524521E7F}"/>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A browser-safe map token</a:t>
            </a:r>
          </a:p>
          <a:p>
            <a:pPr algn="l">
              <a:buNone/>
            </a:pPr>
            <a:r>
              <a:rPr lang="en-US" sz="100">
                <a:effectLst/>
              </a:rPr>
              <a:t> </a:t>
            </a:r>
            <a:endParaRPr lang="en-US"/>
          </a:p>
        </p:txBody>
      </p:sp>
      <p:sp>
        <p:nvSpPr>
          <p:cNvPr id="42986" name="Rectangle 42985">
            <a:extLst>
              <a:ext uri="{FF2B5EF4-FFF2-40B4-BE49-F238E27FC236}">
                <a16:creationId xmlns:a16="http://schemas.microsoft.com/office/drawing/2014/main" id="{D686C414-91F5-019D-A541-D8CFC46F2110}"/>
              </a:ext>
            </a:extLst>
          </p:cNvPr>
          <p:cNvSpPr/>
          <p:nvPr/>
        </p:nvSpPr>
        <p:spPr>
          <a:xfrm>
            <a:off x="5900000" y="2240000"/>
            <a:ext cx="5834800" cy="87056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SAS token</a:t>
            </a:r>
          </a:p>
          <a:p>
            <a:pPr algn="l">
              <a:buNone/>
            </a:pPr>
            <a:r>
              <a:rPr lang="en-US" sz="1200">
                <a:solidFill>
                  <a:srgbClr val="3D4F66"/>
                </a:solidFill>
                <a:effectLst/>
                <a:latin typeface="Calibri" panose="020F0502020204030204" pitchFamily="34" charset="0"/>
              </a:rPr>
              <a:t>Map tiles only, about 50 requests a second, expires within 24 hours.</a:t>
            </a:r>
            <a:endParaRPr lang="en-US"/>
          </a:p>
        </p:txBody>
      </p:sp>
      <p:sp>
        <p:nvSpPr>
          <p:cNvPr id="43044" name="Arrow: Down 43043">
            <a:extLst>
              <a:ext uri="{FF2B5EF4-FFF2-40B4-BE49-F238E27FC236}">
                <a16:creationId xmlns:a16="http://schemas.microsoft.com/office/drawing/2014/main" id="{1768E853-B931-578C-1CC5-0DC0DA3BCAC7}"/>
              </a:ext>
            </a:extLst>
          </p:cNvPr>
          <p:cNvSpPr/>
          <p:nvPr/>
        </p:nvSpPr>
        <p:spPr>
          <a:xfrm>
            <a:off x="8687400" y="3165560"/>
            <a:ext cx="260000" cy="14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103" name="Rectangle 43102">
            <a:extLst>
              <a:ext uri="{FF2B5EF4-FFF2-40B4-BE49-F238E27FC236}">
                <a16:creationId xmlns:a16="http://schemas.microsoft.com/office/drawing/2014/main" id="{BE6B727E-BFFA-448A-DE25-A3334F54CCF5}"/>
              </a:ext>
            </a:extLst>
          </p:cNvPr>
          <p:cNvSpPr/>
          <p:nvPr/>
        </p:nvSpPr>
        <p:spPr>
          <a:xfrm>
            <a:off x="5900000" y="336056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Rayfin secret AZURE_MAPS_TOKEN</a:t>
            </a:r>
          </a:p>
          <a:p>
            <a:pPr algn="l">
              <a:buNone/>
            </a:pPr>
            <a:r>
              <a:rPr lang="en-US" sz="1200">
                <a:solidFill>
                  <a:srgbClr val="3D4F66"/>
                </a:solidFill>
                <a:effectLst/>
                <a:latin typeface="Calibri" panose="020F0502020204030204" pitchFamily="34" charset="0"/>
              </a:rPr>
              <a:t>Stored in the deployed app, never in code.</a:t>
            </a:r>
            <a:endParaRPr lang="en-US"/>
          </a:p>
        </p:txBody>
      </p:sp>
      <p:sp>
        <p:nvSpPr>
          <p:cNvPr id="43163" name="Arrow: Down 43162">
            <a:extLst>
              <a:ext uri="{FF2B5EF4-FFF2-40B4-BE49-F238E27FC236}">
                <a16:creationId xmlns:a16="http://schemas.microsoft.com/office/drawing/2014/main" id="{F015C170-B5CE-7917-3963-EC4D3C552CC3}"/>
              </a:ext>
            </a:extLst>
          </p:cNvPr>
          <p:cNvSpPr/>
          <p:nvPr/>
        </p:nvSpPr>
        <p:spPr>
          <a:xfrm>
            <a:off x="8687400" y="4103240"/>
            <a:ext cx="260000" cy="14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224" name="Rectangle 43223">
            <a:extLst>
              <a:ext uri="{FF2B5EF4-FFF2-40B4-BE49-F238E27FC236}">
                <a16:creationId xmlns:a16="http://schemas.microsoft.com/office/drawing/2014/main" id="{ACE8973D-A4F4-9070-9B3F-F5B596FA23CA}"/>
              </a:ext>
            </a:extLst>
          </p:cNvPr>
          <p:cNvSpPr/>
          <p:nvPr/>
        </p:nvSpPr>
        <p:spPr>
          <a:xfrm>
            <a:off x="5900000" y="4298240"/>
            <a:ext cx="5834800" cy="687680"/>
          </a:xfrm>
          <a:prstGeom prst="rect">
            <a:avLst/>
          </a:prstGeom>
          <a:solidFill>
            <a:srgbClr val="FFFFFF"/>
          </a:solidFill>
          <a:ln w="19050">
            <a:solidFill>
              <a:srgbClr val="117865"/>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getMapAuth function</a:t>
            </a:r>
          </a:p>
          <a:p>
            <a:pPr algn="l">
              <a:buNone/>
            </a:pPr>
            <a:r>
              <a:rPr lang="en-US" sz="1200">
                <a:solidFill>
                  <a:srgbClr val="3D4F66"/>
                </a:solidFill>
                <a:effectLst/>
                <a:latin typeface="Calibri" panose="020F0502020204030204" pitchFamily="34" charset="0"/>
              </a:rPr>
              <a:t>Hands the token to signed-in users only.</a:t>
            </a:r>
            <a:endParaRPr lang="en-US"/>
          </a:p>
        </p:txBody>
      </p:sp>
      <p:sp>
        <p:nvSpPr>
          <p:cNvPr id="43286" name="Arrow: Down 43285">
            <a:extLst>
              <a:ext uri="{FF2B5EF4-FFF2-40B4-BE49-F238E27FC236}">
                <a16:creationId xmlns:a16="http://schemas.microsoft.com/office/drawing/2014/main" id="{BB888355-D3D4-BE2A-CB45-C4E0061B6B39}"/>
              </a:ext>
            </a:extLst>
          </p:cNvPr>
          <p:cNvSpPr/>
          <p:nvPr/>
        </p:nvSpPr>
        <p:spPr>
          <a:xfrm>
            <a:off x="8687400" y="5040920"/>
            <a:ext cx="260000" cy="140000"/>
          </a:xfrm>
          <a:prstGeom prst="downArrow">
            <a:avLst/>
          </a:prstGeom>
          <a:solidFill>
            <a:srgbClr val="11786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349" name="Rectangle 43348">
            <a:extLst>
              <a:ext uri="{FF2B5EF4-FFF2-40B4-BE49-F238E27FC236}">
                <a16:creationId xmlns:a16="http://schemas.microsoft.com/office/drawing/2014/main" id="{4C7FB84B-1098-912D-1A4B-A391357B80BC}"/>
              </a:ext>
            </a:extLst>
          </p:cNvPr>
          <p:cNvSpPr/>
          <p:nvPr/>
        </p:nvSpPr>
        <p:spPr>
          <a:xfrm>
            <a:off x="5900000" y="523592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Azure Maps + OS Open Zoomstack</a:t>
            </a:r>
          </a:p>
          <a:p>
            <a:pPr algn="l">
              <a:buNone/>
            </a:pPr>
            <a:r>
              <a:rPr lang="en-US" sz="1200">
                <a:solidFill>
                  <a:srgbClr val="3D4F66"/>
                </a:solidFill>
                <a:effectLst/>
                <a:latin typeface="Calibri" panose="020F0502020204030204" pitchFamily="34" charset="0"/>
              </a:rPr>
              <a:t>Basemap styles plus GB railway lines (OGL v3.0).</a:t>
            </a:r>
            <a:endParaRPr lang="en-US"/>
          </a:p>
        </p:txBody>
      </p:sp>
    </p:spTree>
    <p:extLst>
      <p:ext uri="{BB962C8B-B14F-4D97-AF65-F5344CB8AC3E}">
        <p14:creationId xmlns:p14="http://schemas.microsoft.com/office/powerpoint/2010/main" val="990282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3413" name="Rectangle 43412">
            <a:extLst>
              <a:ext uri="{FF2B5EF4-FFF2-40B4-BE49-F238E27FC236}">
                <a16:creationId xmlns:a16="http://schemas.microsoft.com/office/drawing/2014/main" id="{4C0285DD-FE7D-29F0-C323-8A3C5DCA20E7}"/>
              </a:ext>
            </a:extLst>
          </p:cNvPr>
          <p:cNvSpPr/>
          <p:nvPr/>
        </p:nvSpPr>
        <p:spPr>
          <a:xfrm>
            <a:off x="457200" y="33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LAB 12 · CLEAN-UP · 10 MIN</a:t>
            </a:r>
          </a:p>
          <a:p>
            <a:pPr algn="l">
              <a:buNone/>
            </a:pPr>
            <a:r>
              <a:rPr lang="en-US" sz="100">
                <a:effectLst/>
              </a:rPr>
              <a:t> </a:t>
            </a:r>
            <a:endParaRPr lang="en-US"/>
          </a:p>
        </p:txBody>
      </p:sp>
      <p:sp>
        <p:nvSpPr>
          <p:cNvPr id="43478" name="Rectangle 43477">
            <a:extLst>
              <a:ext uri="{FF2B5EF4-FFF2-40B4-BE49-F238E27FC236}">
                <a16:creationId xmlns:a16="http://schemas.microsoft.com/office/drawing/2014/main" id="{FAEE4975-9931-3226-91DD-430E32254ACC}"/>
              </a:ext>
            </a:extLst>
          </p:cNvPr>
          <p:cNvSpPr/>
          <p:nvPr/>
        </p:nvSpPr>
        <p:spPr>
          <a:xfrm>
            <a:off x="457200" y="62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B1F3A"/>
                </a:solidFill>
                <a:effectLst/>
                <a:latin typeface="Calibri" panose="020F0502020204030204" pitchFamily="34" charset="0"/>
              </a:rPr>
              <a:t>Stop the meter when you're done</a:t>
            </a:r>
          </a:p>
          <a:p>
            <a:pPr algn="l">
              <a:buNone/>
            </a:pPr>
            <a:r>
              <a:rPr lang="en-US" sz="100">
                <a:effectLst/>
              </a:rPr>
              <a:t> </a:t>
            </a:r>
            <a:endParaRPr lang="en-US"/>
          </a:p>
        </p:txBody>
      </p:sp>
      <p:sp>
        <p:nvSpPr>
          <p:cNvPr id="43544" name="Rectangle 43543">
            <a:extLst>
              <a:ext uri="{FF2B5EF4-FFF2-40B4-BE49-F238E27FC236}">
                <a16:creationId xmlns:a16="http://schemas.microsoft.com/office/drawing/2014/main" id="{26BC5C88-556D-2380-3658-61E080CFF111}"/>
              </a:ext>
            </a:extLst>
          </p:cNvPr>
          <p:cNvSpPr/>
          <p:nvPr/>
        </p:nvSpPr>
        <p:spPr>
          <a:xfrm>
            <a:off x="457200" y="1400000"/>
            <a:ext cx="5150000" cy="458000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611" name="Rectangle 43610">
            <a:extLst>
              <a:ext uri="{FF2B5EF4-FFF2-40B4-BE49-F238E27FC236}">
                <a16:creationId xmlns:a16="http://schemas.microsoft.com/office/drawing/2014/main" id="{0EDB6FC1-3C79-9AE9-344C-5DA0EDFBEBE2}"/>
              </a:ext>
            </a:extLst>
          </p:cNvPr>
          <p:cNvSpPr/>
          <p:nvPr/>
        </p:nvSpPr>
        <p:spPr>
          <a:xfrm>
            <a:off x="685800" y="1570000"/>
            <a:ext cx="46928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WHAT YOU DO</a:t>
            </a:r>
          </a:p>
          <a:p>
            <a:pPr algn="l">
              <a:buNone/>
            </a:pPr>
            <a:r>
              <a:rPr lang="en-US" sz="100">
                <a:effectLst/>
              </a:rPr>
              <a:t> </a:t>
            </a:r>
            <a:endParaRPr lang="en-US"/>
          </a:p>
        </p:txBody>
      </p:sp>
      <p:sp>
        <p:nvSpPr>
          <p:cNvPr id="43679" name="Rectangle 43678">
            <a:extLst>
              <a:ext uri="{FF2B5EF4-FFF2-40B4-BE49-F238E27FC236}">
                <a16:creationId xmlns:a16="http://schemas.microsoft.com/office/drawing/2014/main" id="{A890765C-3244-B789-63FA-4435F3309042}"/>
              </a:ext>
            </a:extLst>
          </p:cNvPr>
          <p:cNvSpPr/>
          <p:nvPr/>
        </p:nvSpPr>
        <p:spPr>
          <a:xfrm>
            <a:off x="685800" y="188000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1</a:t>
            </a:r>
          </a:p>
          <a:p>
            <a:pPr algn="l">
              <a:buNone/>
            </a:pPr>
            <a:r>
              <a:rPr lang="en-US" sz="100">
                <a:effectLst/>
              </a:rPr>
              <a:t> </a:t>
            </a:r>
            <a:endParaRPr lang="en-US"/>
          </a:p>
        </p:txBody>
      </p:sp>
      <p:sp>
        <p:nvSpPr>
          <p:cNvPr id="43748" name="Rectangle 43747">
            <a:extLst>
              <a:ext uri="{FF2B5EF4-FFF2-40B4-BE49-F238E27FC236}">
                <a16:creationId xmlns:a16="http://schemas.microsoft.com/office/drawing/2014/main" id="{54057F22-01A9-CC3F-0D9B-3D0A9C23D715}"/>
              </a:ext>
            </a:extLst>
          </p:cNvPr>
          <p:cNvSpPr/>
          <p:nvPr/>
        </p:nvSpPr>
        <p:spPr>
          <a:xfrm>
            <a:off x="1015800" y="188000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Deactivate any Eventstreams you keep, so they stop using capacity.</a:t>
            </a:r>
          </a:p>
          <a:p>
            <a:pPr algn="l">
              <a:buNone/>
            </a:pPr>
            <a:r>
              <a:rPr lang="en-US" sz="100">
                <a:effectLst/>
              </a:rPr>
              <a:t> </a:t>
            </a:r>
            <a:endParaRPr lang="en-US"/>
          </a:p>
        </p:txBody>
      </p:sp>
      <p:sp>
        <p:nvSpPr>
          <p:cNvPr id="43818" name="Rectangle 43817">
            <a:extLst>
              <a:ext uri="{FF2B5EF4-FFF2-40B4-BE49-F238E27FC236}">
                <a16:creationId xmlns:a16="http://schemas.microsoft.com/office/drawing/2014/main" id="{5B8D0753-E27D-7FC4-24BC-3E131136E096}"/>
              </a:ext>
            </a:extLst>
          </p:cNvPr>
          <p:cNvSpPr/>
          <p:nvPr/>
        </p:nvSpPr>
        <p:spPr>
          <a:xfrm>
            <a:off x="685800" y="250816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2</a:t>
            </a:r>
          </a:p>
          <a:p>
            <a:pPr algn="l">
              <a:buNone/>
            </a:pPr>
            <a:r>
              <a:rPr lang="en-US" sz="100">
                <a:effectLst/>
              </a:rPr>
              <a:t> </a:t>
            </a:r>
            <a:endParaRPr lang="en-US"/>
          </a:p>
        </p:txBody>
      </p:sp>
      <p:sp>
        <p:nvSpPr>
          <p:cNvPr id="43889" name="Rectangle 43888">
            <a:extLst>
              <a:ext uri="{FF2B5EF4-FFF2-40B4-BE49-F238E27FC236}">
                <a16:creationId xmlns:a16="http://schemas.microsoft.com/office/drawing/2014/main" id="{28A18F8F-B36B-424F-9E49-25FAE26C9267}"/>
              </a:ext>
            </a:extLst>
          </p:cNvPr>
          <p:cNvSpPr/>
          <p:nvPr/>
        </p:nvSpPr>
        <p:spPr>
          <a:xfrm>
            <a:off x="1015800" y="250816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Pause the Fabric capacity, or scale it back down.</a:t>
            </a:r>
          </a:p>
          <a:p>
            <a:pPr algn="l">
              <a:buNone/>
            </a:pPr>
            <a:r>
              <a:rPr lang="en-US" sz="100">
                <a:effectLst/>
              </a:rPr>
              <a:t> </a:t>
            </a:r>
            <a:endParaRPr lang="en-US"/>
          </a:p>
        </p:txBody>
      </p:sp>
      <p:sp>
        <p:nvSpPr>
          <p:cNvPr id="43961" name="Rectangle 43960">
            <a:extLst>
              <a:ext uri="{FF2B5EF4-FFF2-40B4-BE49-F238E27FC236}">
                <a16:creationId xmlns:a16="http://schemas.microsoft.com/office/drawing/2014/main" id="{6C93C439-5DE3-8E91-0EBE-78056318F10F}"/>
              </a:ext>
            </a:extLst>
          </p:cNvPr>
          <p:cNvSpPr/>
          <p:nvPr/>
        </p:nvSpPr>
        <p:spPr>
          <a:xfrm>
            <a:off x="685800" y="313632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3</a:t>
            </a:r>
          </a:p>
          <a:p>
            <a:pPr algn="l">
              <a:buNone/>
            </a:pPr>
            <a:r>
              <a:rPr lang="en-US" sz="100">
                <a:effectLst/>
              </a:rPr>
              <a:t> </a:t>
            </a:r>
            <a:endParaRPr lang="en-US"/>
          </a:p>
        </p:txBody>
      </p:sp>
      <p:sp>
        <p:nvSpPr>
          <p:cNvPr id="44034" name="Rectangle 44033">
            <a:extLst>
              <a:ext uri="{FF2B5EF4-FFF2-40B4-BE49-F238E27FC236}">
                <a16:creationId xmlns:a16="http://schemas.microsoft.com/office/drawing/2014/main" id="{411A0860-8BF1-8296-47FC-C12F8FC55AA2}"/>
              </a:ext>
            </a:extLst>
          </p:cNvPr>
          <p:cNvSpPr/>
          <p:nvPr/>
        </p:nvSpPr>
        <p:spPr>
          <a:xfrm>
            <a:off x="1015800" y="313632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Run cleanup to delete the Azure resource group: bridge, Event Hub, Maps.</a:t>
            </a:r>
          </a:p>
          <a:p>
            <a:pPr algn="l">
              <a:buNone/>
            </a:pPr>
            <a:r>
              <a:rPr lang="en-US" sz="100">
                <a:effectLst/>
              </a:rPr>
              <a:t> </a:t>
            </a:r>
            <a:endParaRPr lang="en-US"/>
          </a:p>
        </p:txBody>
      </p:sp>
      <p:sp>
        <p:nvSpPr>
          <p:cNvPr id="44108" name="Rectangle 44107">
            <a:extLst>
              <a:ext uri="{FF2B5EF4-FFF2-40B4-BE49-F238E27FC236}">
                <a16:creationId xmlns:a16="http://schemas.microsoft.com/office/drawing/2014/main" id="{EA3F80A4-C8A9-BE9A-0C74-C3622C986386}"/>
              </a:ext>
            </a:extLst>
          </p:cNvPr>
          <p:cNvSpPr/>
          <p:nvPr/>
        </p:nvSpPr>
        <p:spPr>
          <a:xfrm>
            <a:off x="685800" y="3764480"/>
            <a:ext cx="330000" cy="3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17865"/>
                </a:solidFill>
                <a:effectLst/>
                <a:latin typeface="Calibri" panose="020F0502020204030204" pitchFamily="34" charset="0"/>
              </a:rPr>
              <a:t>4</a:t>
            </a:r>
          </a:p>
          <a:p>
            <a:pPr algn="l">
              <a:buNone/>
            </a:pPr>
            <a:r>
              <a:rPr lang="en-US" sz="100">
                <a:effectLst/>
              </a:rPr>
              <a:t> </a:t>
            </a:r>
            <a:endParaRPr lang="en-US"/>
          </a:p>
        </p:txBody>
      </p:sp>
      <p:sp>
        <p:nvSpPr>
          <p:cNvPr id="44183" name="Rectangle 44182">
            <a:extLst>
              <a:ext uri="{FF2B5EF4-FFF2-40B4-BE49-F238E27FC236}">
                <a16:creationId xmlns:a16="http://schemas.microsoft.com/office/drawing/2014/main" id="{44EC9910-08C9-508E-1B7D-E065DA99F1D6}"/>
              </a:ext>
            </a:extLst>
          </p:cNvPr>
          <p:cNvSpPr/>
          <p:nvPr/>
        </p:nvSpPr>
        <p:spPr>
          <a:xfrm>
            <a:off x="1015800" y="3764480"/>
            <a:ext cx="4362800" cy="55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3D4F66"/>
                </a:solidFill>
                <a:effectLst/>
                <a:latin typeface="Calibri" panose="020F0502020204030204" pitchFamily="34" charset="0"/>
              </a:rPr>
              <a:t>Delete the Rayfin app, agents and semantic model; rotate the student key.</a:t>
            </a:r>
          </a:p>
          <a:p>
            <a:pPr algn="l">
              <a:buNone/>
            </a:pPr>
            <a:r>
              <a:rPr lang="en-US" sz="100">
                <a:effectLst/>
              </a:rPr>
              <a:t> </a:t>
            </a:r>
            <a:endParaRPr lang="en-US"/>
          </a:p>
        </p:txBody>
      </p:sp>
      <p:sp>
        <p:nvSpPr>
          <p:cNvPr id="44259" name="Rectangle 44258">
            <a:extLst>
              <a:ext uri="{FF2B5EF4-FFF2-40B4-BE49-F238E27FC236}">
                <a16:creationId xmlns:a16="http://schemas.microsoft.com/office/drawing/2014/main" id="{CB106436-F7F6-2D76-E8B1-CD90AE3766EA}"/>
              </a:ext>
            </a:extLst>
          </p:cNvPr>
          <p:cNvSpPr/>
          <p:nvPr/>
        </p:nvSpPr>
        <p:spPr>
          <a:xfrm>
            <a:off x="685800" y="4761320"/>
            <a:ext cx="4692800" cy="1048680"/>
          </a:xfrm>
          <a:prstGeom prst="rect">
            <a:avLst/>
          </a:prstGeom>
          <a:solidFill>
            <a:srgbClr val="FDF3D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B1F3A"/>
                </a:solidFill>
                <a:effectLst/>
                <a:latin typeface="Calibri" panose="020F0502020204030204" pitchFamily="34" charset="0"/>
              </a:rPr>
              <a:t>WATCH OUT</a:t>
            </a:r>
          </a:p>
          <a:p>
            <a:pPr algn="l">
              <a:buNone/>
            </a:pPr>
            <a:r>
              <a:rPr lang="en-US" sz="1300">
                <a:solidFill>
                  <a:srgbClr val="0B1F3A"/>
                </a:solidFill>
                <a:effectLst/>
                <a:latin typeface="Calibri" panose="020F0502020204030204" pitchFamily="34" charset="0"/>
              </a:rPr>
              <a:t>Classroom students delete only their own workspace and agent, never the shared Azure resources.</a:t>
            </a:r>
            <a:endParaRPr lang="en-US"/>
          </a:p>
        </p:txBody>
      </p:sp>
      <p:sp>
        <p:nvSpPr>
          <p:cNvPr id="44336" name="Rectangle 44335">
            <a:extLst>
              <a:ext uri="{FF2B5EF4-FFF2-40B4-BE49-F238E27FC236}">
                <a16:creationId xmlns:a16="http://schemas.microsoft.com/office/drawing/2014/main" id="{2680BE81-6011-481F-DE8A-A94A39314D36}"/>
              </a:ext>
            </a:extLst>
          </p:cNvPr>
          <p:cNvSpPr/>
          <p:nvPr/>
        </p:nvSpPr>
        <p:spPr>
          <a:xfrm>
            <a:off x="457200" y="6060000"/>
            <a:ext cx="11277600" cy="34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In the repo: docs/labs/12-cleanup.md · scripts/cleanup.sh</a:t>
            </a:r>
          </a:p>
          <a:p>
            <a:pPr algn="l">
              <a:buNone/>
            </a:pPr>
            <a:r>
              <a:rPr lang="en-US" sz="100">
                <a:effectLst/>
              </a:rPr>
              <a:t> </a:t>
            </a:r>
            <a:endParaRPr lang="en-US"/>
          </a:p>
        </p:txBody>
      </p:sp>
      <p:sp>
        <p:nvSpPr>
          <p:cNvPr id="44414" name="Rectangle 44413">
            <a:extLst>
              <a:ext uri="{FF2B5EF4-FFF2-40B4-BE49-F238E27FC236}">
                <a16:creationId xmlns:a16="http://schemas.microsoft.com/office/drawing/2014/main" id="{6156983C-9B84-D1DC-63B4-71DDD822954B}"/>
              </a:ext>
            </a:extLst>
          </p:cNvPr>
          <p:cNvSpPr/>
          <p:nvPr/>
        </p:nvSpPr>
        <p:spPr>
          <a:xfrm>
            <a:off x="5900000" y="1400000"/>
            <a:ext cx="58348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17865"/>
                </a:solidFill>
                <a:effectLst/>
                <a:latin typeface="Calibri" panose="020F0502020204030204" pitchFamily="34" charset="0"/>
              </a:rPr>
              <a:t>THE CONCEPT</a:t>
            </a:r>
          </a:p>
          <a:p>
            <a:pPr algn="l">
              <a:buNone/>
            </a:pPr>
            <a:r>
              <a:rPr lang="en-US" sz="100">
                <a:effectLst/>
              </a:rPr>
              <a:t> </a:t>
            </a:r>
            <a:endParaRPr lang="en-US"/>
          </a:p>
        </p:txBody>
      </p:sp>
      <p:sp>
        <p:nvSpPr>
          <p:cNvPr id="44493" name="Rectangle 44492">
            <a:extLst>
              <a:ext uri="{FF2B5EF4-FFF2-40B4-BE49-F238E27FC236}">
                <a16:creationId xmlns:a16="http://schemas.microsoft.com/office/drawing/2014/main" id="{91A4BCE8-538F-846A-90E2-13096201D291}"/>
              </a:ext>
            </a:extLst>
          </p:cNvPr>
          <p:cNvSpPr/>
          <p:nvPr/>
        </p:nvSpPr>
        <p:spPr>
          <a:xfrm>
            <a:off x="5900000" y="1670000"/>
            <a:ext cx="5834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B1F3A"/>
                </a:solidFill>
                <a:effectLst/>
                <a:latin typeface="Calibri" panose="020F0502020204030204" pitchFamily="34" charset="0"/>
              </a:rPr>
              <a:t>What keeps costing money</a:t>
            </a:r>
          </a:p>
          <a:p>
            <a:pPr algn="l">
              <a:buNone/>
            </a:pPr>
            <a:r>
              <a:rPr lang="en-US" sz="100">
                <a:effectLst/>
              </a:rPr>
              <a:t> </a:t>
            </a:r>
            <a:endParaRPr lang="en-US"/>
          </a:p>
        </p:txBody>
      </p:sp>
      <p:sp>
        <p:nvSpPr>
          <p:cNvPr id="44573" name="Rectangle 44572">
            <a:extLst>
              <a:ext uri="{FF2B5EF4-FFF2-40B4-BE49-F238E27FC236}">
                <a16:creationId xmlns:a16="http://schemas.microsoft.com/office/drawing/2014/main" id="{39428E7D-D295-7DA2-CABF-DF80EFF0B56E}"/>
              </a:ext>
            </a:extLst>
          </p:cNvPr>
          <p:cNvSpPr/>
          <p:nvPr/>
        </p:nvSpPr>
        <p:spPr>
          <a:xfrm>
            <a:off x="5900000" y="226000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Fabric capacity</a:t>
            </a:r>
          </a:p>
          <a:p>
            <a:pPr algn="l">
              <a:buNone/>
            </a:pPr>
            <a:r>
              <a:rPr lang="en-US" sz="1200">
                <a:solidFill>
                  <a:srgbClr val="3D4F66"/>
                </a:solidFill>
                <a:effectLst/>
                <a:latin typeface="Calibri" panose="020F0502020204030204" pitchFamily="34" charset="0"/>
              </a:rPr>
              <a:t>Billed while it runs; always-on Eventstreams keep it busy.</a:t>
            </a:r>
            <a:endParaRPr lang="en-US"/>
          </a:p>
        </p:txBody>
      </p:sp>
      <p:sp>
        <p:nvSpPr>
          <p:cNvPr id="44654" name="Rectangle 44653">
            <a:extLst>
              <a:ext uri="{FF2B5EF4-FFF2-40B4-BE49-F238E27FC236}">
                <a16:creationId xmlns:a16="http://schemas.microsoft.com/office/drawing/2014/main" id="{BEB7C892-6D32-F305-3F70-F3F57AA85446}"/>
              </a:ext>
            </a:extLst>
          </p:cNvPr>
          <p:cNvSpPr/>
          <p:nvPr/>
        </p:nvSpPr>
        <p:spPr>
          <a:xfrm>
            <a:off x="5900000" y="310768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Container App bridge</a:t>
            </a:r>
          </a:p>
          <a:p>
            <a:pPr algn="l">
              <a:buNone/>
            </a:pPr>
            <a:r>
              <a:rPr lang="en-US" sz="1200">
                <a:solidFill>
                  <a:srgbClr val="3D4F66"/>
                </a:solidFill>
                <a:effectLst/>
                <a:latin typeface="Calibri" panose="020F0502020204030204" pitchFamily="34" charset="0"/>
              </a:rPr>
              <a:t>About $14 a month per app.</a:t>
            </a:r>
            <a:endParaRPr lang="en-US"/>
          </a:p>
        </p:txBody>
      </p:sp>
      <p:sp>
        <p:nvSpPr>
          <p:cNvPr id="44736" name="Rectangle 44735">
            <a:extLst>
              <a:ext uri="{FF2B5EF4-FFF2-40B4-BE49-F238E27FC236}">
                <a16:creationId xmlns:a16="http://schemas.microsoft.com/office/drawing/2014/main" id="{F3155F1C-EF73-B32E-8331-4FF814327D32}"/>
              </a:ext>
            </a:extLst>
          </p:cNvPr>
          <p:cNvSpPr/>
          <p:nvPr/>
        </p:nvSpPr>
        <p:spPr>
          <a:xfrm>
            <a:off x="5900000" y="395536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Event Hubs Standard</a:t>
            </a:r>
          </a:p>
          <a:p>
            <a:pPr algn="l">
              <a:buNone/>
            </a:pPr>
            <a:r>
              <a:rPr lang="en-US" sz="1200">
                <a:solidFill>
                  <a:srgbClr val="3D4F66"/>
                </a:solidFill>
                <a:effectLst/>
                <a:latin typeface="Calibri" panose="020F0502020204030204" pitchFamily="34" charset="0"/>
              </a:rPr>
              <a:t>About $22 a month for 1 TU, plus ingress.</a:t>
            </a:r>
            <a:endParaRPr lang="en-US"/>
          </a:p>
        </p:txBody>
      </p:sp>
      <p:sp>
        <p:nvSpPr>
          <p:cNvPr id="44819" name="Rectangle 44818">
            <a:extLst>
              <a:ext uri="{FF2B5EF4-FFF2-40B4-BE49-F238E27FC236}">
                <a16:creationId xmlns:a16="http://schemas.microsoft.com/office/drawing/2014/main" id="{2252DF5D-47BF-A148-568C-00B6E18928BA}"/>
              </a:ext>
            </a:extLst>
          </p:cNvPr>
          <p:cNvSpPr/>
          <p:nvPr/>
        </p:nvSpPr>
        <p:spPr>
          <a:xfrm>
            <a:off x="5900000" y="4803040"/>
            <a:ext cx="5834800" cy="687680"/>
          </a:xfrm>
          <a:prstGeom prst="rect">
            <a:avLst/>
          </a:prstGeom>
          <a:solidFill>
            <a:srgbClr val="FFFFFF"/>
          </a:solidFill>
          <a:ln>
            <a:solidFill>
              <a:srgbClr val="FFFFFF">
                <a:alpha val="0"/>
              </a:srgbClr>
            </a:solidFill>
          </a:ln>
          <a:effectLst>
            <a:outerShdw blurRad="101600" dist="25400" dir="5400000" algn="ctr" rotWithShape="0">
              <a:srgbClr val="0B1F3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Calibri" panose="020F0502020204030204" pitchFamily="34" charset="0"/>
              </a:rPr>
              <a:t>Azure Maps Gen2</a:t>
            </a:r>
          </a:p>
          <a:p>
            <a:pPr algn="l">
              <a:buNone/>
            </a:pPr>
            <a:r>
              <a:rPr lang="en-US" sz="1200">
                <a:solidFill>
                  <a:srgbClr val="3D4F66"/>
                </a:solidFill>
                <a:effectLst/>
                <a:latin typeface="Calibri" panose="020F0502020204030204" pitchFamily="34" charset="0"/>
              </a:rPr>
              <a:t>Per transaction after the monthly free allowance.</a:t>
            </a:r>
            <a:endParaRPr lang="en-US"/>
          </a:p>
        </p:txBody>
      </p:sp>
      <p:sp>
        <p:nvSpPr>
          <p:cNvPr id="44903" name="Rectangle 44902">
            <a:extLst>
              <a:ext uri="{FF2B5EF4-FFF2-40B4-BE49-F238E27FC236}">
                <a16:creationId xmlns:a16="http://schemas.microsoft.com/office/drawing/2014/main" id="{917CD899-E7A5-02B7-2AB2-4738E31127D4}"/>
              </a:ext>
            </a:extLst>
          </p:cNvPr>
          <p:cNvSpPr/>
          <p:nvPr/>
        </p:nvSpPr>
        <p:spPr>
          <a:xfrm>
            <a:off x="5900000" y="5650720"/>
            <a:ext cx="5834800" cy="409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B7A90"/>
                </a:solidFill>
                <a:effectLst/>
                <a:latin typeface="Calibri" panose="020F0502020204030204" pitchFamily="34" charset="0"/>
              </a:rPr>
              <a:t>List-price estimates from the repo docs. Check current pricing.</a:t>
            </a:r>
          </a:p>
          <a:p>
            <a:pPr algn="l">
              <a:buNone/>
            </a:pPr>
            <a:r>
              <a:rPr lang="en-US" sz="100">
                <a:effectLst/>
              </a:rPr>
              <a:t> </a:t>
            </a:r>
            <a:endParaRPr lang="en-US"/>
          </a:p>
        </p:txBody>
      </p:sp>
    </p:spTree>
    <p:extLst>
      <p:ext uri="{BB962C8B-B14F-4D97-AF65-F5344CB8AC3E}">
        <p14:creationId xmlns:p14="http://schemas.microsoft.com/office/powerpoint/2010/main" val="3947012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pic>
        <p:nvPicPr>
          <p:cNvPr id="41333" name="Picture 41332" descr="A railway junction at dusk with glowing teal tracks and signal lights.">
            <a:extLst>
              <a:ext uri="{FF2B5EF4-FFF2-40B4-BE49-F238E27FC236}">
                <a16:creationId xmlns:a16="http://schemas.microsoft.com/office/drawing/2014/main" id="{5B9980DC-10B6-1993-7B61-792DF56D9603}"/>
              </a:ext>
            </a:extLst>
          </p:cNvPr>
          <p:cNvPicPr>
            <a:picLocks noChangeAspect="1"/>
          </p:cNvPicPr>
          <p:nvPr/>
        </p:nvPicPr>
        <p:blipFill>
          <a:blip r:embed="rId2"/>
          <a:stretch>
            <a:fillRect/>
          </a:stretch>
        </p:blipFill>
        <p:spPr>
          <a:xfrm>
            <a:off x="6550682" y="0"/>
            <a:ext cx="5640636" cy="6858000"/>
          </a:xfrm>
          <a:prstGeom prst="rect">
            <a:avLst/>
          </a:prstGeom>
        </p:spPr>
      </p:pic>
      <p:sp>
        <p:nvSpPr>
          <p:cNvPr id="44988" name="Rectangle 44987">
            <a:extLst>
              <a:ext uri="{FF2B5EF4-FFF2-40B4-BE49-F238E27FC236}">
                <a16:creationId xmlns:a16="http://schemas.microsoft.com/office/drawing/2014/main" id="{352BB93A-8482-9BB6-E3DF-B6D9D6C5E6D0}"/>
              </a:ext>
            </a:extLst>
          </p:cNvPr>
          <p:cNvSpPr/>
          <p:nvPr/>
        </p:nvSpPr>
        <p:spPr>
          <a:xfrm>
            <a:off x="640080" y="1480000"/>
            <a:ext cx="56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5FD3C0"/>
                </a:solidFill>
                <a:effectLst/>
                <a:latin typeface="Calibri" panose="020F0502020204030204" pitchFamily="34" charset="0"/>
              </a:rPr>
              <a:t>GET STARTED</a:t>
            </a:r>
          </a:p>
          <a:p>
            <a:pPr algn="l">
              <a:buNone/>
            </a:pPr>
            <a:r>
              <a:rPr lang="en-US" sz="100">
                <a:effectLst/>
              </a:rPr>
              <a:t> </a:t>
            </a:r>
            <a:endParaRPr lang="en-US"/>
          </a:p>
        </p:txBody>
      </p:sp>
      <p:sp>
        <p:nvSpPr>
          <p:cNvPr id="45074" name="Rectangle 45073">
            <a:extLst>
              <a:ext uri="{FF2B5EF4-FFF2-40B4-BE49-F238E27FC236}">
                <a16:creationId xmlns:a16="http://schemas.microsoft.com/office/drawing/2014/main" id="{E0E7EFCF-DE76-D4ED-D33C-2563CEACD503}"/>
              </a:ext>
            </a:extLst>
          </p:cNvPr>
          <p:cNvSpPr/>
          <p:nvPr/>
        </p:nvSpPr>
        <p:spPr>
          <a:xfrm>
            <a:off x="640080" y="1950000"/>
            <a:ext cx="5600000" cy="1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600" b="1">
                <a:solidFill>
                  <a:srgbClr val="FFFFFF"/>
                </a:solidFill>
                <a:effectLst/>
                <a:latin typeface="Calibri" panose="020F0502020204030204" pitchFamily="34" charset="0"/>
              </a:rPr>
              <a:t>Clone the repo and choose your path</a:t>
            </a:r>
          </a:p>
          <a:p>
            <a:pPr algn="l">
              <a:buNone/>
            </a:pPr>
            <a:r>
              <a:rPr lang="en-US" sz="100">
                <a:effectLst/>
              </a:rPr>
              <a:t> </a:t>
            </a:r>
            <a:endParaRPr lang="en-US"/>
          </a:p>
        </p:txBody>
      </p:sp>
      <p:sp>
        <p:nvSpPr>
          <p:cNvPr id="45161" name="Rectangle 45160">
            <a:extLst>
              <a:ext uri="{FF2B5EF4-FFF2-40B4-BE49-F238E27FC236}">
                <a16:creationId xmlns:a16="http://schemas.microsoft.com/office/drawing/2014/main" id="{2E629042-AD56-6556-164F-0C39D4787A53}"/>
              </a:ext>
            </a:extLst>
          </p:cNvPr>
          <p:cNvSpPr/>
          <p:nvPr/>
        </p:nvSpPr>
        <p:spPr>
          <a:xfrm>
            <a:off x="640080" y="3500000"/>
            <a:ext cx="5600000" cy="39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C9D6E3"/>
                </a:solidFill>
                <a:effectLst/>
                <a:latin typeface="Calibri" panose="020F0502020204030204" pitchFamily="34" charset="0"/>
              </a:rPr>
              <a:t>README: Choose your path</a:t>
            </a:r>
          </a:p>
          <a:p>
            <a:pPr algn="l">
              <a:buNone/>
            </a:pPr>
            <a:r>
              <a:rPr lang="en-US" sz="100">
                <a:effectLst/>
              </a:rPr>
              <a:t> </a:t>
            </a:r>
            <a:endParaRPr lang="en-US"/>
          </a:p>
        </p:txBody>
      </p:sp>
      <p:sp>
        <p:nvSpPr>
          <p:cNvPr id="45249" name="Rectangle 45248">
            <a:extLst>
              <a:ext uri="{FF2B5EF4-FFF2-40B4-BE49-F238E27FC236}">
                <a16:creationId xmlns:a16="http://schemas.microsoft.com/office/drawing/2014/main" id="{9FF21958-E7F1-F024-3DE6-2963A3800A39}"/>
              </a:ext>
            </a:extLst>
          </p:cNvPr>
          <p:cNvSpPr/>
          <p:nvPr/>
        </p:nvSpPr>
        <p:spPr>
          <a:xfrm>
            <a:off x="640080" y="3915280"/>
            <a:ext cx="5600000" cy="63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C9D6E3"/>
                </a:solidFill>
                <a:effectLst/>
                <a:latin typeface="Calibri" panose="020F0502020204030204" pitchFamily="34" charset="0"/>
              </a:rPr>
              <a:t>Solo: Lab 00 · Instructor: instructor guide · Student: student guide</a:t>
            </a:r>
          </a:p>
          <a:p>
            <a:pPr algn="l">
              <a:buNone/>
            </a:pPr>
            <a:r>
              <a:rPr lang="en-US" sz="100">
                <a:effectLst/>
              </a:rPr>
              <a:t> </a:t>
            </a:r>
            <a:endParaRPr lang="en-US"/>
          </a:p>
        </p:txBody>
      </p:sp>
      <p:sp>
        <p:nvSpPr>
          <p:cNvPr id="45338" name="Rectangle 45337">
            <a:extLst>
              <a:ext uri="{FF2B5EF4-FFF2-40B4-BE49-F238E27FC236}">
                <a16:creationId xmlns:a16="http://schemas.microsoft.com/office/drawing/2014/main" id="{A307CB54-5386-459A-4230-9EB70C960992}"/>
              </a:ext>
            </a:extLst>
          </p:cNvPr>
          <p:cNvSpPr/>
          <p:nvPr/>
        </p:nvSpPr>
        <p:spPr>
          <a:xfrm>
            <a:off x="640080" y="4574400"/>
            <a:ext cx="5600000" cy="39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C9D6E3"/>
                </a:solidFill>
                <a:effectLst/>
                <a:latin typeface="Calibri" panose="020F0502020204030204" pitchFamily="34" charset="0"/>
              </a:rPr>
              <a:t>This deck: docs/presentation/ in the repo</a:t>
            </a:r>
          </a:p>
          <a:p>
            <a:pPr algn="l">
              <a:buNone/>
            </a:pPr>
            <a:r>
              <a:rPr lang="en-US" sz="100">
                <a:effectLst/>
              </a:rPr>
              <a:t> </a:t>
            </a:r>
            <a:endParaRPr lang="en-US"/>
          </a:p>
        </p:txBody>
      </p:sp>
      <p:sp>
        <p:nvSpPr>
          <p:cNvPr id="45428" name="Rectangle 45427">
            <a:extLst>
              <a:ext uri="{FF2B5EF4-FFF2-40B4-BE49-F238E27FC236}">
                <a16:creationId xmlns:a16="http://schemas.microsoft.com/office/drawing/2014/main" id="{1E3EAEA6-81A6-96D3-066E-3BCF93C0AF46}"/>
              </a:ext>
            </a:extLst>
          </p:cNvPr>
          <p:cNvSpPr/>
          <p:nvPr/>
        </p:nvSpPr>
        <p:spPr>
          <a:xfrm>
            <a:off x="640080" y="5700000"/>
            <a:ext cx="5600000" cy="51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9FB0C2"/>
                </a:solidFill>
                <a:effectLst/>
                <a:latin typeface="Calibri" panose="020F0502020204030204" pitchFamily="34" charset="0"/>
              </a:rPr>
              <a:t>Contains data from Network Rail Open Data / Rail Data Marketplace. Not an official service.</a:t>
            </a:r>
          </a:p>
          <a:p>
            <a:pPr algn="l">
              <a:buNone/>
            </a:pPr>
            <a:r>
              <a:rPr lang="en-US" sz="100">
                <a:effectLst/>
              </a:rPr>
              <a:t> </a:t>
            </a:r>
            <a:endParaRPr lang="en-US"/>
          </a:p>
        </p:txBody>
      </p:sp>
    </p:spTree>
    <p:extLst>
      <p:ext uri="{BB962C8B-B14F-4D97-AF65-F5344CB8AC3E}">
        <p14:creationId xmlns:p14="http://schemas.microsoft.com/office/powerpoint/2010/main" val="3116576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13</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19</cp:revision>
  <dcterms:created xsi:type="dcterms:W3CDTF">2026-10-05T08:48:11Z</dcterms:created>
  <dcterms:modified xsi:type="dcterms:W3CDTF">2026-10-27T14:03:10Z</dcterms:modified>
  <cp:category/>
</cp:coreProperties>
</file>